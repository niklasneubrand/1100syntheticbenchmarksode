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52" r:id="rId1"/>
  </p:sldMasterIdLst>
  <p:notesMasterIdLst>
    <p:notesMasterId r:id="rId18"/>
  </p:notesMasterIdLst>
  <p:sldIdLst>
    <p:sldId id="256" r:id="rId2"/>
    <p:sldId id="264" r:id="rId3"/>
    <p:sldId id="280" r:id="rId4"/>
    <p:sldId id="278" r:id="rId5"/>
    <p:sldId id="284" r:id="rId6"/>
    <p:sldId id="288" r:id="rId7"/>
    <p:sldId id="276" r:id="rId8"/>
    <p:sldId id="289" r:id="rId9"/>
    <p:sldId id="263" r:id="rId10"/>
    <p:sldId id="291" r:id="rId11"/>
    <p:sldId id="290" r:id="rId12"/>
    <p:sldId id="270" r:id="rId13"/>
    <p:sldId id="281" r:id="rId14"/>
    <p:sldId id="274" r:id="rId15"/>
    <p:sldId id="282" r:id="rId16"/>
    <p:sldId id="285" r:id="rId17"/>
  </p:sldIdLst>
  <p:sldSz cx="24384000" cy="137160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Presentation" id="{4D5A30F9-2A6D-41D9-8E0B-05811C1A5373}">
          <p14:sldIdLst>
            <p14:sldId id="256"/>
            <p14:sldId id="264"/>
            <p14:sldId id="280"/>
            <p14:sldId id="278"/>
            <p14:sldId id="284"/>
            <p14:sldId id="288"/>
            <p14:sldId id="276"/>
            <p14:sldId id="289"/>
            <p14:sldId id="263"/>
            <p14:sldId id="291"/>
            <p14:sldId id="290"/>
          </p14:sldIdLst>
        </p14:section>
        <p14:section name="Slide Variations" id="{1A94B92B-90B7-4E0B-B9C7-BCDB5F8E3786}">
          <p14:sldIdLst>
            <p14:sldId id="270"/>
            <p14:sldId id="281"/>
            <p14:sldId id="274"/>
            <p14:sldId id="282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klas Neubrand" initials="NN" lastIdx="2" clrIdx="0">
    <p:extLst>
      <p:ext uri="{19B8F6BF-5375-455C-9EA6-DF929625EA0E}">
        <p15:presenceInfo xmlns:p15="http://schemas.microsoft.com/office/powerpoint/2012/main" userId="Niklas Neubran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46" autoAdjust="0"/>
    <p:restoredTop sz="92752" autoAdjust="0"/>
  </p:normalViewPr>
  <p:slideViewPr>
    <p:cSldViewPr snapToGrid="0">
      <p:cViewPr varScale="1">
        <p:scale>
          <a:sx n="41" d="100"/>
          <a:sy n="41" d="100"/>
        </p:scale>
        <p:origin x="4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6-18T18:15:35.622" idx="1">
    <p:pos x="10" y="10"/>
    <p:text>Comment from Carola:
Are we interested in a method to assess similarity between the real data and the simulations?</p:text>
    <p:extLst>
      <p:ext uri="{C676402C-5697-4E1C-873F-D02D1690AC5C}">
        <p15:threadingInfo xmlns:p15="http://schemas.microsoft.com/office/powerpoint/2012/main" timeZoneBias="-120"/>
      </p:ext>
    </p:extLst>
  </p:cm>
  <p:cm authorId="1" dt="2024-06-18T18:16:24.789" idx="2">
    <p:pos x="146" y="146"/>
    <p:text>Comment from Clemens:
Can we do this also for PDE?</p:text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de-DE" sz="1800" b="0" strike="noStrike" spc="-1">
                <a:solidFill>
                  <a:schemeClr val="dk1"/>
                </a:solidFill>
                <a:latin typeface="Helvetica Neue Medium"/>
              </a:rPr>
              <a:t>Click to move the slide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Click to edit the notes format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&lt;header&gt;</a:t>
            </a:r>
          </a:p>
        </p:txBody>
      </p:sp>
      <p:sp>
        <p:nvSpPr>
          <p:cNvPr id="22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&lt;date/time&gt;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Calibri"/>
              </a:rPr>
              <a:t>&lt;footer&gt;</a:t>
            </a:r>
          </a:p>
        </p:txBody>
      </p:sp>
      <p:sp>
        <p:nvSpPr>
          <p:cNvPr id="24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buNone/>
            </a:pPr>
            <a:fld id="{478AE182-218F-49DC-8813-632A193265C3}" type="slidenum">
              <a:rPr lang="en-US" sz="1400" b="0" strike="noStrike" spc="-1">
                <a:solidFill>
                  <a:srgbClr val="000000"/>
                </a:solidFill>
                <a:latin typeface="Calibri"/>
              </a:rPr>
              <a:t>‹Nr.›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indent="0" algn="r">
              <a:buNone/>
            </a:pPr>
            <a:fld id="{478AE182-218F-49DC-8813-632A193265C3}" type="slidenum">
              <a:rPr lang="en-US" sz="1400" b="0" strike="noStrike" spc="-1" smtClean="0">
                <a:solidFill>
                  <a:srgbClr val="000000"/>
                </a:solidFill>
                <a:latin typeface="Calibri"/>
              </a:rPr>
              <a:t>1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6170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Num" idx="10"/>
          </p:nvPr>
        </p:nvSpPr>
        <p:spPr>
          <a:xfrm>
            <a:off x="4278960" y="10157400"/>
            <a:ext cx="3277440" cy="53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0" strike="noStrike" spc="-1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B2596F-C915-471C-A6AC-C200D06D07DA}" type="slidenum">
              <a:rPr lang="de-DE" sz="1400" b="0" strike="noStrike" spc="-1">
                <a:solidFill>
                  <a:srgbClr val="000000"/>
                </a:solidFill>
                <a:latin typeface="Times New Roman"/>
                <a:ea typeface="Segoe UI"/>
              </a:rPr>
              <a:t>5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1525" cy="4005263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4400" cy="48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4571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Num" idx="11"/>
          </p:nvPr>
        </p:nvSpPr>
        <p:spPr>
          <a:xfrm>
            <a:off x="4278960" y="10157400"/>
            <a:ext cx="3277440" cy="53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0" strike="noStrike" spc="-1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E76ADB3-7159-449D-A32A-8272190F1EB4}" type="slidenum">
              <a:rPr lang="de-DE" sz="1400" b="0" strike="noStrike" spc="-1">
                <a:solidFill>
                  <a:srgbClr val="000000"/>
                </a:solidFill>
                <a:latin typeface="Times New Roman"/>
                <a:ea typeface="Segoe UI"/>
              </a:rPr>
              <a:t>9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4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1525" cy="4005263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4400" cy="48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Num" idx="10"/>
          </p:nvPr>
        </p:nvSpPr>
        <p:spPr>
          <a:xfrm>
            <a:off x="4278960" y="10157400"/>
            <a:ext cx="3277440" cy="53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0" strike="noStrike" spc="-1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B2596F-C915-471C-A6AC-C200D06D07DA}" type="slidenum">
              <a:rPr lang="de-DE" sz="1400" b="0" strike="noStrike" spc="-1">
                <a:solidFill>
                  <a:srgbClr val="000000"/>
                </a:solidFill>
                <a:latin typeface="Times New Roman"/>
                <a:ea typeface="Segoe UI"/>
              </a:rPr>
              <a:t>13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1525" cy="4005263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4400" cy="48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394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Num" idx="10"/>
          </p:nvPr>
        </p:nvSpPr>
        <p:spPr>
          <a:xfrm>
            <a:off x="4278960" y="10157400"/>
            <a:ext cx="3277440" cy="53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0" strike="noStrike" spc="-1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B2596F-C915-471C-A6AC-C200D06D07DA}" type="slidenum">
              <a:rPr lang="de-DE" sz="1400" b="0" strike="noStrike" spc="-1">
                <a:solidFill>
                  <a:srgbClr val="000000"/>
                </a:solidFill>
                <a:latin typeface="Times New Roman"/>
                <a:ea typeface="Segoe UI"/>
              </a:rPr>
              <a:t>14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1525" cy="4005263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4400" cy="48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3975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Num" idx="10"/>
          </p:nvPr>
        </p:nvSpPr>
        <p:spPr>
          <a:xfrm>
            <a:off x="4278960" y="10157400"/>
            <a:ext cx="3277440" cy="53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0" strike="noStrike" spc="-1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B2596F-C915-471C-A6AC-C200D06D07DA}" type="slidenum">
              <a:rPr lang="de-DE" sz="1400" b="0" strike="noStrike" spc="-1">
                <a:solidFill>
                  <a:srgbClr val="000000"/>
                </a:solidFill>
                <a:latin typeface="Times New Roman"/>
                <a:ea typeface="Segoe UI"/>
              </a:rPr>
              <a:t>15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1525" cy="4005263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4400" cy="48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1349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Num" idx="10"/>
          </p:nvPr>
        </p:nvSpPr>
        <p:spPr>
          <a:xfrm>
            <a:off x="4278960" y="10157400"/>
            <a:ext cx="3277440" cy="53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de-DE" sz="1400" b="0" strike="noStrike" spc="-1">
                <a:solidFill>
                  <a:srgbClr val="000000"/>
                </a:solidFill>
                <a:latin typeface="Times New Roman"/>
                <a:ea typeface="Segoe U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B2596F-C915-471C-A6AC-C200D06D07DA}" type="slidenum">
              <a:rPr lang="de-DE" sz="1400" b="0" strike="noStrike" spc="-1">
                <a:solidFill>
                  <a:srgbClr val="000000"/>
                </a:solidFill>
                <a:latin typeface="Times New Roman"/>
                <a:ea typeface="Segoe UI"/>
              </a:rPr>
              <a:t>16</a:t>
            </a:fld>
            <a:endParaRPr lang="en-US" sz="1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1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1525" cy="4005263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4400" cy="480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7698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>
          <a:xfrm>
            <a:off x="281879" y="12994560"/>
            <a:ext cx="817715" cy="485640"/>
          </a:xfrm>
        </p:spPr>
        <p:txBody>
          <a:bodyPr/>
          <a:lstStyle/>
          <a:p>
            <a:fld id="{41BFDFA1-13E1-47F7-AAEB-46EC02612569}" type="slidenum"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 &amp;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2360" cy="228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de-DE" sz="1800" b="0" strike="noStrike" spc="-1">
              <a:solidFill>
                <a:schemeClr val="dk1"/>
              </a:solidFill>
              <a:latin typeface="Helvetica Neue Medium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95200" y="1405800"/>
            <a:ext cx="21253680" cy="1108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>
          <a:xfrm>
            <a:off x="281880" y="12994560"/>
            <a:ext cx="937080" cy="485640"/>
          </a:xfrm>
        </p:spPr>
        <p:txBody>
          <a:bodyPr/>
          <a:lstStyle/>
          <a:p>
            <a:fld id="{FAF61575-0A2D-421F-B121-972706BF345B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4094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&amp; Pun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2360" cy="2287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de-DE" sz="1800" b="0" strike="noStrike" spc="-1">
              <a:solidFill>
                <a:schemeClr val="dk1"/>
              </a:solidFill>
              <a:latin typeface="Helvetica Neue Medium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295200" y="1405800"/>
            <a:ext cx="21253680" cy="1108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de-DE" sz="2000" b="0" strike="noStrike" spc="-1">
              <a:solidFill>
                <a:schemeClr val="dk1"/>
              </a:solidFill>
              <a:latin typeface="Helvetica Neue Medium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7D215F6F-84DC-4F82-996E-3DE65E68D473}" type="slidenum"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7660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asted-image.pdf" descr="pasted-image.pdf"/>
          <p:cNvPicPr/>
          <p:nvPr/>
        </p:nvPicPr>
        <p:blipFill>
          <a:blip r:embed="rId5"/>
          <a:stretch/>
        </p:blipFill>
        <p:spPr>
          <a:xfrm>
            <a:off x="21552120" y="12390840"/>
            <a:ext cx="2465640" cy="897120"/>
          </a:xfrm>
          <a:prstGeom prst="rect">
            <a:avLst/>
          </a:prstGeom>
          <a:ln w="12700">
            <a:noFill/>
          </a:ln>
        </p:spPr>
      </p:pic>
      <p:pic>
        <p:nvPicPr>
          <p:cNvPr id="15" name="pasted-image.pdf" descr="pasted-image.pdf"/>
          <p:cNvPicPr/>
          <p:nvPr/>
        </p:nvPicPr>
        <p:blipFill>
          <a:blip r:embed="rId6"/>
          <a:stretch/>
        </p:blipFill>
        <p:spPr>
          <a:xfrm>
            <a:off x="23338800" y="267840"/>
            <a:ext cx="765000" cy="979560"/>
          </a:xfrm>
          <a:prstGeom prst="rect">
            <a:avLst/>
          </a:prstGeom>
          <a:ln w="1270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sldNum" idx="3"/>
          </p:nvPr>
        </p:nvSpPr>
        <p:spPr>
          <a:xfrm>
            <a:off x="281880" y="12994560"/>
            <a:ext cx="937080" cy="485640"/>
          </a:xfrm>
          <a:prstGeom prst="rect">
            <a:avLst/>
          </a:prstGeom>
          <a:noFill/>
          <a:ln w="12600">
            <a:noFill/>
          </a:ln>
        </p:spPr>
        <p:txBody>
          <a:bodyPr lIns="71280" tIns="71280" rIns="71280" bIns="7128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0" strike="noStrike" spc="-1">
                <a:solidFill>
                  <a:srgbClr val="000000"/>
                </a:solidFill>
                <a:latin typeface="+mn-lt"/>
                <a:ea typeface="Helvetica Neue Medium"/>
              </a:defRPr>
            </a:lvl1pPr>
          </a:lstStyle>
          <a:p>
            <a:fld id="{7EE8509A-DAB7-4D4C-8C03-16D4F814ACA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de-DE" sz="1800" b="0" strike="noStrike" spc="-1" dirty="0">
                <a:solidFill>
                  <a:schemeClr val="dk1"/>
                </a:solidFill>
                <a:latin typeface="Helvetica Neue Medium"/>
              </a:rPr>
              <a:t>Click </a:t>
            </a:r>
            <a:r>
              <a:rPr lang="de-DE" sz="1800" b="0" strike="noStrike" spc="-1" dirty="0" err="1">
                <a:solidFill>
                  <a:schemeClr val="dk1"/>
                </a:solidFill>
                <a:latin typeface="Helvetica Neue Medium"/>
              </a:rPr>
              <a:t>to</a:t>
            </a:r>
            <a:r>
              <a:rPr lang="de-DE" sz="1800" b="0" strike="noStrike" spc="-1" dirty="0">
                <a:solidFill>
                  <a:schemeClr val="dk1"/>
                </a:solidFill>
                <a:latin typeface="Helvetica Neue Medium"/>
              </a:rPr>
              <a:t> </a:t>
            </a:r>
            <a:r>
              <a:rPr lang="de-DE" sz="1800" b="0" strike="noStrike" spc="-1" dirty="0" err="1">
                <a:solidFill>
                  <a:schemeClr val="dk1"/>
                </a:solidFill>
                <a:latin typeface="Helvetica Neue Medium"/>
              </a:rPr>
              <a:t>edit</a:t>
            </a:r>
            <a:r>
              <a:rPr lang="de-DE" sz="1800" b="0" strike="noStrike" spc="-1" dirty="0">
                <a:solidFill>
                  <a:schemeClr val="dk1"/>
                </a:solidFill>
                <a:latin typeface="Helvetica Neue Medium"/>
              </a:rPr>
              <a:t> </a:t>
            </a:r>
            <a:r>
              <a:rPr lang="de-DE" sz="1800" b="0" strike="noStrike" spc="-1" dirty="0" err="1">
                <a:solidFill>
                  <a:schemeClr val="dk1"/>
                </a:solidFill>
                <a:latin typeface="Helvetica Neue Medium"/>
              </a:rPr>
              <a:t>the</a:t>
            </a:r>
            <a:r>
              <a:rPr lang="de-DE" sz="1800" b="0" strike="noStrike" spc="-1" dirty="0">
                <a:solidFill>
                  <a:schemeClr val="dk1"/>
                </a:solidFill>
                <a:latin typeface="Helvetica Neue Medium"/>
              </a:rPr>
              <a:t> title </a:t>
            </a:r>
            <a:r>
              <a:rPr lang="de-DE" sz="1800" b="0" strike="noStrike" spc="-1" dirty="0" err="1">
                <a:solidFill>
                  <a:schemeClr val="dk1"/>
                </a:solidFill>
                <a:latin typeface="Helvetica Neue Medium"/>
              </a:rPr>
              <a:t>text</a:t>
            </a:r>
            <a:r>
              <a:rPr lang="de-DE" sz="1800" b="0" strike="noStrike" spc="-1" dirty="0">
                <a:solidFill>
                  <a:schemeClr val="dk1"/>
                </a:solidFill>
                <a:latin typeface="Helvetica Neue Medium"/>
              </a:rPr>
              <a:t> </a:t>
            </a:r>
            <a:r>
              <a:rPr lang="de-DE" sz="1800" b="0" strike="noStrike" spc="-1" dirty="0" err="1">
                <a:solidFill>
                  <a:schemeClr val="dk1"/>
                </a:solidFill>
                <a:latin typeface="Helvetica Neue Medium"/>
              </a:rPr>
              <a:t>format</a:t>
            </a:r>
            <a:endParaRPr lang="de-DE" sz="1800" b="0" strike="noStrike" spc="-1" dirty="0">
              <a:solidFill>
                <a:schemeClr val="dk1"/>
              </a:solidFill>
              <a:latin typeface="Helvetica Neue Medium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 dirty="0">
                <a:solidFill>
                  <a:schemeClr val="dk1"/>
                </a:solidFill>
                <a:latin typeface="Helvetica Neue Medium"/>
              </a:rPr>
              <a:t>Click </a:t>
            </a:r>
            <a:r>
              <a:rPr lang="de-DE" sz="2000" b="0" strike="noStrike" spc="-1" dirty="0" err="1">
                <a:solidFill>
                  <a:schemeClr val="dk1"/>
                </a:solidFill>
                <a:latin typeface="Helvetica Neue Medium"/>
              </a:rPr>
              <a:t>to</a:t>
            </a:r>
            <a:r>
              <a:rPr lang="de-DE" sz="2000" b="0" strike="noStrike" spc="-1" dirty="0">
                <a:solidFill>
                  <a:schemeClr val="dk1"/>
                </a:solidFill>
                <a:latin typeface="Helvetica Neue Medium"/>
              </a:rPr>
              <a:t> </a:t>
            </a:r>
            <a:r>
              <a:rPr lang="de-DE" sz="2000" b="0" strike="noStrike" spc="-1" dirty="0" err="1">
                <a:solidFill>
                  <a:schemeClr val="dk1"/>
                </a:solidFill>
                <a:latin typeface="Helvetica Neue Medium"/>
              </a:rPr>
              <a:t>edit</a:t>
            </a:r>
            <a:r>
              <a:rPr lang="de-DE" sz="2000" b="0" strike="noStrike" spc="-1" dirty="0">
                <a:solidFill>
                  <a:schemeClr val="dk1"/>
                </a:solidFill>
                <a:latin typeface="Helvetica Neue Medium"/>
              </a:rPr>
              <a:t> </a:t>
            </a:r>
            <a:r>
              <a:rPr lang="de-DE" sz="2000" b="0" strike="noStrike" spc="-1" dirty="0" err="1">
                <a:solidFill>
                  <a:schemeClr val="dk1"/>
                </a:solidFill>
                <a:latin typeface="Helvetica Neue Medium"/>
              </a:rPr>
              <a:t>the</a:t>
            </a:r>
            <a:r>
              <a:rPr lang="de-DE" sz="2000" b="0" strike="noStrike" spc="-1" dirty="0">
                <a:solidFill>
                  <a:schemeClr val="dk1"/>
                </a:solidFill>
                <a:latin typeface="Helvetica Neue Medium"/>
              </a:rPr>
              <a:t> </a:t>
            </a:r>
            <a:r>
              <a:rPr lang="de-DE" sz="2000" b="0" strike="noStrike" spc="-1" dirty="0" err="1">
                <a:solidFill>
                  <a:schemeClr val="dk1"/>
                </a:solidFill>
                <a:latin typeface="Helvetica Neue Medium"/>
              </a:rPr>
              <a:t>outline</a:t>
            </a:r>
            <a:r>
              <a:rPr lang="de-DE" sz="2000" b="0" strike="noStrike" spc="-1" dirty="0">
                <a:solidFill>
                  <a:schemeClr val="dk1"/>
                </a:solidFill>
                <a:latin typeface="Helvetica Neue Medium"/>
              </a:rPr>
              <a:t> </a:t>
            </a:r>
            <a:r>
              <a:rPr lang="de-DE" sz="2000" b="0" strike="noStrike" spc="-1" dirty="0" err="1">
                <a:solidFill>
                  <a:schemeClr val="dk1"/>
                </a:solidFill>
                <a:latin typeface="Helvetica Neue Medium"/>
              </a:rPr>
              <a:t>text</a:t>
            </a:r>
            <a:r>
              <a:rPr lang="de-DE" sz="2000" b="0" strike="noStrike" spc="-1" dirty="0">
                <a:solidFill>
                  <a:schemeClr val="dk1"/>
                </a:solidFill>
                <a:latin typeface="Helvetica Neue Medium"/>
              </a:rPr>
              <a:t> </a:t>
            </a:r>
            <a:r>
              <a:rPr lang="de-DE" sz="2000" b="0" strike="noStrike" spc="-1" dirty="0" err="1">
                <a:solidFill>
                  <a:schemeClr val="dk1"/>
                </a:solidFill>
                <a:latin typeface="Helvetica Neue Medium"/>
              </a:rPr>
              <a:t>format</a:t>
            </a:r>
            <a:endParaRPr lang="de-DE" sz="2000" b="0" strike="noStrike" spc="-1" dirty="0">
              <a:solidFill>
                <a:schemeClr val="dk1"/>
              </a:solidFill>
              <a:latin typeface="Helvetica Neue Medium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strike="noStrike" spc="-1" dirty="0">
                <a:solidFill>
                  <a:schemeClr val="dk1"/>
                </a:solidFill>
                <a:latin typeface="Helvetica Neue Medium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 dirty="0">
                <a:solidFill>
                  <a:schemeClr val="dk1"/>
                </a:solidFill>
                <a:latin typeface="Helvetica Neue Medium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strike="noStrike" spc="-1" dirty="0" err="1">
                <a:solidFill>
                  <a:schemeClr val="dk1"/>
                </a:solidFill>
                <a:latin typeface="Helvetica Neue Medium"/>
              </a:rPr>
              <a:t>Fourth</a:t>
            </a:r>
            <a:r>
              <a:rPr lang="de-DE" sz="2000" b="0" strike="noStrike" spc="-1" dirty="0">
                <a:solidFill>
                  <a:schemeClr val="dk1"/>
                </a:solidFill>
                <a:latin typeface="Helvetica Neue Medium"/>
              </a:rPr>
              <a:t>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 dirty="0" err="1">
                <a:solidFill>
                  <a:schemeClr val="dk1"/>
                </a:solidFill>
                <a:latin typeface="Helvetica Neue Medium"/>
              </a:rPr>
              <a:t>Fifth</a:t>
            </a:r>
            <a:r>
              <a:rPr lang="de-DE" sz="2000" b="0" strike="noStrike" spc="-1" dirty="0">
                <a:solidFill>
                  <a:schemeClr val="dk1"/>
                </a:solidFill>
                <a:latin typeface="Helvetica Neue Medium"/>
              </a:rPr>
              <a:t>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 dirty="0" err="1">
                <a:solidFill>
                  <a:schemeClr val="dk1"/>
                </a:solidFill>
                <a:latin typeface="Helvetica Neue Medium"/>
              </a:rPr>
              <a:t>Sixth</a:t>
            </a:r>
            <a:r>
              <a:rPr lang="de-DE" sz="2000" b="0" strike="noStrike" spc="-1" dirty="0">
                <a:solidFill>
                  <a:schemeClr val="dk1"/>
                </a:solidFill>
                <a:latin typeface="Helvetica Neue Medium"/>
              </a:rPr>
              <a:t>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 dirty="0" err="1">
                <a:solidFill>
                  <a:schemeClr val="dk1"/>
                </a:solidFill>
                <a:latin typeface="Helvetica Neue Medium"/>
              </a:rPr>
              <a:t>Seventh</a:t>
            </a:r>
            <a:r>
              <a:rPr lang="de-DE" sz="2000" b="0" strike="noStrike" spc="-1" dirty="0">
                <a:solidFill>
                  <a:schemeClr val="dk1"/>
                </a:solidFill>
                <a:latin typeface="Helvetica Neue Medium"/>
              </a:rPr>
              <a:t>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5" r:id="rId2"/>
    <p:sldLayoutId id="2147483656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7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093/bioinformatics/btz020" TargetMode="External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hyperlink" Target="https://doi.org/10.3934/mbe.2023467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.jp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30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230922" y="1266092"/>
            <a:ext cx="22807717" cy="7745788"/>
          </a:xfrm>
          <a:prstGeom prst="rect">
            <a:avLst/>
          </a:prstGeom>
          <a:noFill/>
          <a:ln w="12600">
            <a:noFill/>
          </a:ln>
        </p:spPr>
        <p:txBody>
          <a:bodyPr lIns="71280" tIns="71280" rIns="71280" bIns="71280" anchor="t">
            <a:noAutofit/>
          </a:bodyPr>
          <a:lstStyle/>
          <a:p>
            <a:pPr indent="0" defTabSz="8215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8800" b="1" spc="-1" dirty="0" smtClean="0">
                <a:solidFill>
                  <a:schemeClr val="dk1"/>
                </a:solidFill>
                <a:latin typeface="Agency FB" panose="020B0503020202020204" pitchFamily="34" charset="0"/>
              </a:rPr>
              <a:t>Generating </a:t>
            </a:r>
            <a:r>
              <a:rPr lang="de-DE" sz="8800" b="1" spc="-1" dirty="0" err="1" smtClean="0">
                <a:solidFill>
                  <a:schemeClr val="dk1"/>
                </a:solidFill>
                <a:latin typeface="Agency FB" panose="020B0503020202020204" pitchFamily="34" charset="0"/>
              </a:rPr>
              <a:t>Realistic</a:t>
            </a:r>
            <a:r>
              <a:rPr lang="de-DE" sz="8800" b="1" spc="-1" dirty="0" smtClean="0">
                <a:solidFill>
                  <a:schemeClr val="dk1"/>
                </a:solidFill>
                <a:latin typeface="Agency FB" panose="020B0503020202020204" pitchFamily="34" charset="0"/>
              </a:rPr>
              <a:t> </a:t>
            </a:r>
            <a:r>
              <a:rPr lang="de-DE" sz="8800" b="1" spc="-1" dirty="0" err="1" smtClean="0">
                <a:solidFill>
                  <a:schemeClr val="dk1"/>
                </a:solidFill>
                <a:latin typeface="Agency FB" panose="020B0503020202020204" pitchFamily="34" charset="0"/>
              </a:rPr>
              <a:t>Synthetic</a:t>
            </a:r>
            <a:r>
              <a:rPr lang="de-DE" sz="8800" b="1" spc="-1" dirty="0" smtClean="0">
                <a:solidFill>
                  <a:schemeClr val="dk1"/>
                </a:solidFill>
                <a:latin typeface="Agency FB" panose="020B0503020202020204" pitchFamily="34" charset="0"/>
              </a:rPr>
              <a:t> Data</a:t>
            </a:r>
            <a:br>
              <a:rPr lang="de-DE" sz="8800" b="1" spc="-1" dirty="0" smtClean="0">
                <a:solidFill>
                  <a:schemeClr val="dk1"/>
                </a:solidFill>
                <a:latin typeface="Agency FB" panose="020B0503020202020204" pitchFamily="34" charset="0"/>
              </a:rPr>
            </a:br>
            <a:r>
              <a:rPr lang="de-DE" sz="8800" b="1" spc="-1" dirty="0" err="1" smtClean="0">
                <a:solidFill>
                  <a:schemeClr val="dk1"/>
                </a:solidFill>
                <a:latin typeface="Agency FB" panose="020B0503020202020204" pitchFamily="34" charset="0"/>
              </a:rPr>
              <a:t>for</a:t>
            </a:r>
            <a:r>
              <a:rPr lang="de-DE" sz="8800" b="1" spc="-1" dirty="0" smtClean="0">
                <a:solidFill>
                  <a:schemeClr val="dk1"/>
                </a:solidFill>
                <a:latin typeface="Agency FB" panose="020B0503020202020204" pitchFamily="34" charset="0"/>
              </a:rPr>
              <a:t> ODE Models </a:t>
            </a:r>
            <a:r>
              <a:rPr lang="de-DE" sz="8800" b="1" spc="-1" dirty="0" err="1" smtClean="0">
                <a:solidFill>
                  <a:schemeClr val="dk1"/>
                </a:solidFill>
                <a:latin typeface="Agency FB" panose="020B0503020202020204" pitchFamily="34" charset="0"/>
              </a:rPr>
              <a:t>of</a:t>
            </a:r>
            <a:r>
              <a:rPr lang="de-DE" sz="8800" b="1" spc="-1" dirty="0" smtClean="0">
                <a:solidFill>
                  <a:schemeClr val="dk1"/>
                </a:solidFill>
                <a:latin typeface="Agency FB" panose="020B0503020202020204" pitchFamily="34" charset="0"/>
              </a:rPr>
              <a:t> </a:t>
            </a:r>
            <a:r>
              <a:rPr lang="de-DE" sz="8800" b="1" spc="-1" dirty="0" err="1" smtClean="0">
                <a:solidFill>
                  <a:schemeClr val="dk1"/>
                </a:solidFill>
                <a:latin typeface="Agency FB" panose="020B0503020202020204" pitchFamily="34" charset="0"/>
              </a:rPr>
              <a:t>Signaling</a:t>
            </a:r>
            <a:r>
              <a:rPr lang="de-DE" sz="8800" b="1" spc="-1" dirty="0" smtClean="0">
                <a:solidFill>
                  <a:schemeClr val="dk1"/>
                </a:solidFill>
                <a:latin typeface="Agency FB" panose="020B0503020202020204" pitchFamily="34" charset="0"/>
              </a:rPr>
              <a:t> </a:t>
            </a:r>
            <a:r>
              <a:rPr lang="de-DE" sz="8800" b="1" spc="-1" dirty="0" err="1" smtClean="0">
                <a:solidFill>
                  <a:schemeClr val="dk1"/>
                </a:solidFill>
                <a:latin typeface="Agency FB" panose="020B0503020202020204" pitchFamily="34" charset="0"/>
              </a:rPr>
              <a:t>Pathways</a:t>
            </a:r>
            <a:endParaRPr lang="de-DE" sz="8800" b="1" strike="noStrike" spc="-1" dirty="0">
              <a:solidFill>
                <a:schemeClr val="dk1"/>
              </a:solidFill>
              <a:latin typeface="Agency FB" panose="020B0503020202020204" pitchFamily="34" charset="0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ubTitle"/>
          </p:nvPr>
        </p:nvSpPr>
        <p:spPr>
          <a:xfrm>
            <a:off x="1230922" y="10322169"/>
            <a:ext cx="18316358" cy="2215661"/>
          </a:xfrm>
          <a:prstGeom prst="rect">
            <a:avLst/>
          </a:prstGeom>
          <a:noFill/>
          <a:ln w="12600">
            <a:noFill/>
          </a:ln>
        </p:spPr>
        <p:txBody>
          <a:bodyPr lIns="71280" tIns="71280" rIns="71280" bIns="71280" anchor="t">
            <a:noAutofit/>
          </a:bodyPr>
          <a:lstStyle/>
          <a:p>
            <a:pPr marL="0" indent="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None/>
              <a:tabLst>
                <a:tab pos="0" algn="l"/>
              </a:tabLst>
            </a:pPr>
            <a:r>
              <a:rPr lang="en-US" sz="4000" spc="-1" dirty="0" smtClean="0">
                <a:solidFill>
                  <a:srgbClr val="000000"/>
                </a:solidFill>
                <a:latin typeface="Arial"/>
                <a:ea typeface="Microsoft YaHei"/>
              </a:rPr>
              <a:t>SMART Progress Seminar</a:t>
            </a:r>
          </a:p>
          <a:p>
            <a:pPr marL="0" indent="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None/>
              <a:tabLst>
                <a:tab pos="0" algn="l"/>
              </a:tabLst>
            </a:pPr>
            <a:r>
              <a:rPr lang="en-US" sz="4000" spc="-1" dirty="0" smtClean="0">
                <a:solidFill>
                  <a:srgbClr val="000000"/>
                </a:solidFill>
                <a:latin typeface="Arial"/>
                <a:ea typeface="Microsoft YaHei"/>
              </a:rPr>
              <a:t>18</a:t>
            </a:r>
            <a:r>
              <a:rPr lang="en-US" sz="4000" spc="-1" baseline="30000" dirty="0" smtClean="0">
                <a:solidFill>
                  <a:srgbClr val="000000"/>
                </a:solidFill>
                <a:latin typeface="Arial"/>
                <a:ea typeface="Microsoft YaHei"/>
              </a:rPr>
              <a:t>th</a:t>
            </a:r>
            <a:r>
              <a:rPr lang="en-US" sz="4000" spc="-1" dirty="0" smtClean="0">
                <a:solidFill>
                  <a:srgbClr val="000000"/>
                </a:solidFill>
                <a:latin typeface="Arial"/>
                <a:ea typeface="Microsoft YaHei"/>
              </a:rPr>
              <a:t> of June, 2024</a:t>
            </a:r>
            <a:endParaRPr lang="en-US" sz="4000" b="0" strike="noStrike" spc="-1" dirty="0" smtClean="0">
              <a:solidFill>
                <a:srgbClr val="000000"/>
              </a:solidFill>
              <a:latin typeface="Arial"/>
              <a:ea typeface="Microsoft YaHei"/>
            </a:endParaRPr>
          </a:p>
          <a:p>
            <a:pPr marL="0" indent="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None/>
              <a:tabLst>
                <a:tab pos="0" algn="l"/>
              </a:tabLst>
            </a:pPr>
            <a:r>
              <a:rPr lang="en-US" sz="4000" b="0" strike="noStrike" spc="-1" dirty="0" smtClean="0">
                <a:solidFill>
                  <a:srgbClr val="000000"/>
                </a:solidFill>
                <a:latin typeface="Arial"/>
                <a:ea typeface="Microsoft YaHei"/>
              </a:rPr>
              <a:t>Niklas Neubrand</a:t>
            </a:r>
            <a:endParaRPr lang="en-US" sz="4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" name="Gruppieren 4"/>
          <p:cNvGrpSpPr/>
          <p:nvPr/>
        </p:nvGrpSpPr>
        <p:grpSpPr>
          <a:xfrm>
            <a:off x="1230922" y="4691879"/>
            <a:ext cx="17405443" cy="5040458"/>
            <a:chOff x="1230922" y="4691879"/>
            <a:chExt cx="17405443" cy="5040458"/>
          </a:xfrm>
        </p:grpSpPr>
        <p:pic>
          <p:nvPicPr>
            <p:cNvPr id="2" name="Grafik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0922" y="4691880"/>
              <a:ext cx="9311525" cy="5040000"/>
            </a:xfrm>
            <a:prstGeom prst="rect">
              <a:avLst/>
            </a:prstGeom>
          </p:spPr>
        </p:pic>
        <p:pic>
          <p:nvPicPr>
            <p:cNvPr id="4" name="Grafik 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79938" y="4692337"/>
              <a:ext cx="7056427" cy="5040000"/>
            </a:xfrm>
            <a:prstGeom prst="rect">
              <a:avLst/>
            </a:prstGeom>
          </p:spPr>
        </p:pic>
        <p:sp>
          <p:nvSpPr>
            <p:cNvPr id="6" name="Abgerundetes Rechteck 5"/>
            <p:cNvSpPr/>
            <p:nvPr/>
          </p:nvSpPr>
          <p:spPr>
            <a:xfrm>
              <a:off x="4114800" y="5781675"/>
              <a:ext cx="2415540" cy="344805"/>
            </a:xfrm>
            <a:prstGeom prst="roundRect">
              <a:avLst/>
            </a:prstGeom>
            <a:noFill/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Abgerundetes Rechteck 8"/>
            <p:cNvSpPr/>
            <p:nvPr/>
          </p:nvSpPr>
          <p:spPr>
            <a:xfrm>
              <a:off x="5684520" y="5425440"/>
              <a:ext cx="845820" cy="356235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Abgerundetes Rechteck 9"/>
            <p:cNvSpPr/>
            <p:nvPr/>
          </p:nvSpPr>
          <p:spPr>
            <a:xfrm>
              <a:off x="11684000" y="7211880"/>
              <a:ext cx="6357257" cy="2520000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Abgerundetes Rechteck 11"/>
            <p:cNvSpPr/>
            <p:nvPr/>
          </p:nvSpPr>
          <p:spPr>
            <a:xfrm>
              <a:off x="11683999" y="4691879"/>
              <a:ext cx="6357257" cy="2469711"/>
            </a:xfrm>
            <a:prstGeom prst="roundRect">
              <a:avLst/>
            </a:prstGeom>
            <a:noFill/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" name="Gerader Verbinder 7"/>
            <p:cNvCxnSpPr>
              <a:stCxn id="9" idx="3"/>
              <a:endCxn id="10" idx="1"/>
            </p:cNvCxnSpPr>
            <p:nvPr/>
          </p:nvCxnSpPr>
          <p:spPr>
            <a:xfrm>
              <a:off x="6530340" y="5603558"/>
              <a:ext cx="5153660" cy="2868322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r Verbinder 13"/>
            <p:cNvCxnSpPr>
              <a:stCxn id="6" idx="3"/>
              <a:endCxn id="12" idx="1"/>
            </p:cNvCxnSpPr>
            <p:nvPr/>
          </p:nvCxnSpPr>
          <p:spPr>
            <a:xfrm flipV="1">
              <a:off x="6530340" y="5926735"/>
              <a:ext cx="5153659" cy="27343"/>
            </a:xfrm>
            <a:prstGeom prst="line">
              <a:avLst/>
            </a:prstGeom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Abgerundetes Rechteck 12"/>
            <p:cNvSpPr/>
            <p:nvPr/>
          </p:nvSpPr>
          <p:spPr>
            <a:xfrm>
              <a:off x="11684000" y="4691880"/>
              <a:ext cx="6357257" cy="2469711"/>
            </a:xfrm>
            <a:prstGeom prst="roundRect">
              <a:avLst/>
            </a:prstGeom>
            <a:noFill/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 txBox="1">
            <a:spLocks/>
          </p:cNvSpPr>
          <p:nvPr/>
        </p:nvSpPr>
        <p:spPr>
          <a:xfrm>
            <a:off x="295200" y="321840"/>
            <a:ext cx="15606360" cy="986760"/>
          </a:xfrm>
          <a:prstGeom prst="rect">
            <a:avLst/>
          </a:prstGeom>
          <a:noFill/>
          <a:ln w="12600">
            <a:noFill/>
          </a:ln>
        </p:spPr>
        <p:txBody>
          <a:bodyPr lIns="71280" tIns="71280" rIns="71280" bIns="7128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21520">
              <a:lnSpc>
                <a:spcPct val="100000"/>
              </a:lnSpc>
              <a:tabLst>
                <a:tab pos="0" algn="l"/>
              </a:tabLst>
            </a:pPr>
            <a:r>
              <a:rPr lang="en-US" sz="5000" spc="-1" dirty="0" smtClean="0">
                <a:solidFill>
                  <a:srgbClr val="000000"/>
                </a:solidFill>
                <a:latin typeface="Impact"/>
              </a:rPr>
              <a:t>Outline</a:t>
            </a:r>
            <a:endParaRPr lang="de-DE" sz="5000" spc="-1" dirty="0">
              <a:solidFill>
                <a:schemeClr val="dk1"/>
              </a:solidFill>
              <a:latin typeface="Helvetica Neue Medium"/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/>
          </p:nvPr>
        </p:nvSpPr>
        <p:spPr>
          <a:xfrm>
            <a:off x="1218960" y="2834640"/>
            <a:ext cx="20329920" cy="9655200"/>
          </a:xfrm>
        </p:spPr>
        <p:txBody>
          <a:bodyPr anchor="t"/>
          <a:lstStyle/>
          <a:p>
            <a:pPr marL="914400" indent="-914400">
              <a:lnSpc>
                <a:spcPct val="300000"/>
              </a:lnSpc>
              <a:buFont typeface="+mj-lt"/>
              <a:buAutoNum type="arabicPeriod"/>
            </a:pPr>
            <a:r>
              <a:rPr lang="de-DE" sz="4800" dirty="0" err="1" smtClean="0"/>
              <a:t>Why</a:t>
            </a:r>
            <a:r>
              <a:rPr lang="de-DE" sz="4800" dirty="0" smtClean="0"/>
              <a:t> </a:t>
            </a:r>
            <a:r>
              <a:rPr lang="de-DE" sz="4800" dirty="0" err="1" smtClean="0"/>
              <a:t>we</a:t>
            </a:r>
            <a:r>
              <a:rPr lang="de-DE" sz="4800" dirty="0" smtClean="0"/>
              <a:t> </a:t>
            </a:r>
            <a:r>
              <a:rPr lang="de-DE" sz="4800" dirty="0" err="1" smtClean="0"/>
              <a:t>need</a:t>
            </a:r>
            <a:r>
              <a:rPr lang="de-DE" sz="4800" dirty="0" smtClean="0"/>
              <a:t> </a:t>
            </a:r>
            <a:r>
              <a:rPr lang="de-DE" sz="4800" dirty="0" err="1" smtClean="0"/>
              <a:t>synthetic</a:t>
            </a:r>
            <a:r>
              <a:rPr lang="de-DE" sz="4800" dirty="0" smtClean="0"/>
              <a:t> </a:t>
            </a:r>
            <a:r>
              <a:rPr lang="de-DE" sz="4800" dirty="0" err="1" smtClean="0"/>
              <a:t>data</a:t>
            </a:r>
            <a:r>
              <a:rPr lang="de-DE" sz="4800" dirty="0" smtClean="0"/>
              <a:t> in C03?</a:t>
            </a:r>
          </a:p>
          <a:p>
            <a:pPr marL="914400" indent="-914400">
              <a:lnSpc>
                <a:spcPct val="300000"/>
              </a:lnSpc>
              <a:buFont typeface="+mj-lt"/>
              <a:buAutoNum type="arabicPeriod"/>
            </a:pPr>
            <a:r>
              <a:rPr lang="de-DE" sz="4800" dirty="0" err="1" smtClean="0"/>
              <a:t>Existing</a:t>
            </a:r>
            <a:r>
              <a:rPr lang="de-DE" sz="4800" dirty="0" smtClean="0"/>
              <a:t> </a:t>
            </a:r>
            <a:r>
              <a:rPr lang="de-DE" sz="4800" dirty="0" err="1" smtClean="0"/>
              <a:t>benchmark</a:t>
            </a:r>
            <a:r>
              <a:rPr lang="de-DE" sz="4800" dirty="0" smtClean="0"/>
              <a:t> </a:t>
            </a:r>
            <a:r>
              <a:rPr lang="de-DE" sz="4800" dirty="0" err="1" smtClean="0"/>
              <a:t>problems</a:t>
            </a:r>
            <a:r>
              <a:rPr lang="de-DE" sz="4800" dirty="0" smtClean="0"/>
              <a:t> </a:t>
            </a:r>
            <a:r>
              <a:rPr lang="de-DE" sz="4800" dirty="0" err="1" smtClean="0"/>
              <a:t>and</a:t>
            </a:r>
            <a:r>
              <a:rPr lang="de-DE" sz="4800" dirty="0" smtClean="0"/>
              <a:t> </a:t>
            </a:r>
            <a:r>
              <a:rPr lang="de-DE" sz="4800" dirty="0" err="1" smtClean="0"/>
              <a:t>simulation</a:t>
            </a:r>
            <a:r>
              <a:rPr lang="de-DE" sz="4800" dirty="0" smtClean="0"/>
              <a:t> </a:t>
            </a:r>
            <a:r>
              <a:rPr lang="de-DE" sz="4800" dirty="0" err="1" smtClean="0"/>
              <a:t>tools</a:t>
            </a:r>
            <a:endParaRPr lang="de-DE" sz="4800" dirty="0" smtClean="0"/>
          </a:p>
          <a:p>
            <a:pPr marL="914400" indent="-914400">
              <a:lnSpc>
                <a:spcPct val="300000"/>
              </a:lnSpc>
              <a:buFont typeface="+mj-lt"/>
              <a:buAutoNum type="arabicPeriod"/>
            </a:pPr>
            <a:r>
              <a:rPr lang="de-DE" sz="4800" dirty="0" err="1" smtClean="0"/>
              <a:t>My</a:t>
            </a:r>
            <a:r>
              <a:rPr lang="de-DE" sz="4800" dirty="0"/>
              <a:t> </a:t>
            </a:r>
            <a:r>
              <a:rPr lang="de-DE" sz="4800" dirty="0" err="1" smtClean="0"/>
              <a:t>work</a:t>
            </a:r>
            <a:r>
              <a:rPr lang="de-DE" sz="4800" dirty="0" smtClean="0"/>
              <a:t>: </a:t>
            </a:r>
            <a:r>
              <a:rPr lang="de-DE" sz="4800" dirty="0" err="1" smtClean="0"/>
              <a:t>realistic</a:t>
            </a:r>
            <a:r>
              <a:rPr lang="de-DE" sz="4800" dirty="0" smtClean="0"/>
              <a:t> </a:t>
            </a:r>
            <a:r>
              <a:rPr lang="de-DE" sz="4800" dirty="0" err="1" smtClean="0"/>
              <a:t>simulations</a:t>
            </a:r>
            <a:r>
              <a:rPr lang="de-DE" sz="4800" dirty="0" smtClean="0"/>
              <a:t> </a:t>
            </a:r>
            <a:r>
              <a:rPr lang="de-DE" sz="4800" dirty="0" err="1" smtClean="0"/>
              <a:t>for</a:t>
            </a:r>
            <a:r>
              <a:rPr lang="de-DE" sz="4800" dirty="0" smtClean="0"/>
              <a:t> </a:t>
            </a:r>
            <a:r>
              <a:rPr lang="de-DE" sz="4800" dirty="0" err="1" smtClean="0"/>
              <a:t>benchmarking</a:t>
            </a:r>
            <a:r>
              <a:rPr lang="de-DE" sz="4800" dirty="0" smtClean="0"/>
              <a:t> </a:t>
            </a:r>
            <a:r>
              <a:rPr lang="de-DE" sz="4800" dirty="0" err="1" smtClean="0"/>
              <a:t>problems</a:t>
            </a:r>
            <a:endParaRPr lang="de-DE" sz="4800" dirty="0" smtClean="0"/>
          </a:p>
          <a:p>
            <a:pPr marL="914400" indent="-914400">
              <a:lnSpc>
                <a:spcPct val="300000"/>
              </a:lnSpc>
              <a:buFont typeface="+mj-lt"/>
              <a:buAutoNum type="arabicPeriod"/>
            </a:pPr>
            <a:r>
              <a:rPr lang="de-DE" sz="4800" dirty="0" smtClean="0"/>
              <a:t>Outlook </a:t>
            </a:r>
            <a:r>
              <a:rPr lang="de-DE" sz="4800" dirty="0" err="1" smtClean="0"/>
              <a:t>and</a:t>
            </a:r>
            <a:r>
              <a:rPr lang="de-DE" sz="4800" dirty="0" smtClean="0"/>
              <a:t> </a:t>
            </a:r>
            <a:r>
              <a:rPr lang="de-DE" sz="4800" dirty="0" err="1"/>
              <a:t>t</a:t>
            </a:r>
            <a:r>
              <a:rPr lang="de-DE" sz="4800" dirty="0" err="1" smtClean="0"/>
              <a:t>akeaway</a:t>
            </a:r>
            <a:endParaRPr lang="de-DE" sz="480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idx="1"/>
          </p:nvPr>
        </p:nvSpPr>
        <p:spPr>
          <a:prstGeom prst="rect">
            <a:avLst/>
          </a:prstGeom>
        </p:spPr>
        <p:txBody>
          <a:bodyPr/>
          <a:lstStyle/>
          <a:p>
            <a:fld id="{41BFDFA1-13E1-47F7-AAEB-46EC02612569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93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feld 52"/>
          <p:cNvSpPr txBox="1"/>
          <p:nvPr/>
        </p:nvSpPr>
        <p:spPr>
          <a:xfrm>
            <a:off x="569520" y="1092554"/>
            <a:ext cx="93410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i="1" dirty="0" err="1" smtClean="0"/>
              <a:t>Improving</a:t>
            </a:r>
            <a:r>
              <a:rPr lang="de-DE" sz="3200" i="1" dirty="0" smtClean="0"/>
              <a:t> Parameter </a:t>
            </a:r>
            <a:r>
              <a:rPr lang="de-DE" sz="3200" i="1" dirty="0" err="1" smtClean="0"/>
              <a:t>Estimation</a:t>
            </a:r>
            <a:r>
              <a:rPr lang="de-DE" sz="3200" i="1" dirty="0" smtClean="0"/>
              <a:t> in ODE </a:t>
            </a:r>
            <a:r>
              <a:rPr lang="de-DE" sz="3200" i="1" dirty="0" err="1" smtClean="0"/>
              <a:t>Modelling</a:t>
            </a:r>
            <a:endParaRPr lang="de-DE" sz="3200" i="1" dirty="0"/>
          </a:p>
        </p:txBody>
      </p:sp>
      <p:sp>
        <p:nvSpPr>
          <p:cNvPr id="69" name="PlaceHolder 1"/>
          <p:cNvSpPr>
            <a:spLocks noGrp="1"/>
          </p:cNvSpPr>
          <p:nvPr>
            <p:ph/>
          </p:nvPr>
        </p:nvSpPr>
        <p:spPr>
          <a:xfrm>
            <a:off x="295200" y="321840"/>
            <a:ext cx="15606360" cy="986760"/>
          </a:xfrm>
          <a:prstGeom prst="rect">
            <a:avLst/>
          </a:prstGeom>
          <a:noFill/>
          <a:ln w="12600">
            <a:noFill/>
          </a:ln>
        </p:spPr>
        <p:txBody>
          <a:bodyPr lIns="71280" tIns="71280" rIns="71280" bIns="71280" anchor="t">
            <a:noAutofit/>
          </a:bodyPr>
          <a:lstStyle/>
          <a:p>
            <a:pPr indent="0" defTabSz="8215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spc="-1" dirty="0" smtClean="0">
                <a:solidFill>
                  <a:srgbClr val="000000"/>
                </a:solidFill>
                <a:latin typeface="Impact"/>
              </a:rPr>
              <a:t>Our Challenge in Project C03</a:t>
            </a:r>
            <a:endParaRPr lang="de-DE" sz="5000" b="0" strike="noStrike" spc="-1" dirty="0">
              <a:solidFill>
                <a:schemeClr val="dk1"/>
              </a:solidFill>
              <a:latin typeface="Helvetica Neue Medium"/>
            </a:endParaRPr>
          </a:p>
        </p:txBody>
      </p:sp>
      <p:sp>
        <p:nvSpPr>
          <p:cNvPr id="86" name="Foliennummernplatzhalter 3"/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41BFDFA1-13E1-47F7-AAEB-46EC02612569}" type="slidenum">
              <a:rPr lang="de-DE" smtClean="0"/>
              <a:t>3</a:t>
            </a:fld>
            <a:endParaRPr lang="de-DE" dirty="0"/>
          </a:p>
        </p:txBody>
      </p:sp>
      <p:grpSp>
        <p:nvGrpSpPr>
          <p:cNvPr id="8" name="Gruppieren 7"/>
          <p:cNvGrpSpPr/>
          <p:nvPr/>
        </p:nvGrpSpPr>
        <p:grpSpPr>
          <a:xfrm>
            <a:off x="1354287" y="1891747"/>
            <a:ext cx="19346322" cy="5040696"/>
            <a:chOff x="653247" y="2079315"/>
            <a:chExt cx="19346322" cy="50406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feld 54"/>
                <p:cNvSpPr txBox="1"/>
                <p:nvPr/>
              </p:nvSpPr>
              <p:spPr>
                <a:xfrm>
                  <a:off x="702412" y="2178804"/>
                  <a:ext cx="6259598" cy="452502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2400"/>
                    </a:spcBef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j-lt"/>
                      <a:ea typeface="Cambria" panose="02040503050406030204" pitchFamily="18" charset="0"/>
                    </a:rPr>
                    <a:t>The</a:t>
                  </a:r>
                  <a:r>
                    <a:rPr kumimoji="0" lang="en-US" sz="2800" b="1" i="0" u="none" strike="noStrike" kern="1200" cap="none" spc="0" normalizeH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j-lt"/>
                      <a:ea typeface="Cambria" panose="02040503050406030204" pitchFamily="18" charset="0"/>
                    </a:rPr>
                    <a:t> Setting: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2400"/>
                    </a:spcBef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1" i="0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+mj-lt"/>
                      <a:ea typeface="Cambria" panose="02040503050406030204" pitchFamily="18" charset="0"/>
                    </a:rPr>
                    <a:t>ODE Model for System Dynamics</a:t>
                  </a:r>
                  <a:endParaRPr kumimoji="0" lang="de-DE" sz="2000" b="0" i="1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j-lt"/>
                    <a:ea typeface="Cambria" panose="02040503050406030204" pitchFamily="18" charset="0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2400"/>
                    </a:spcBef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de-DE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kumimoji="0" lang="de-DE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0" lang="de-DE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kumimoji="0" lang="de-DE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kumimoji="0" lang="de-DE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de-DE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kumimoji="0" lang="de-DE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kumimoji="0" lang="de-DE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de-DE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de-DE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kumimoji="0" lang="de-DE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kumimoji="0" lang="de-DE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kumimoji="0" lang="de-DE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d>
                              <m:dPr>
                                <m:ctrlP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kumimoji="0" lang="de-DE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0" lang="de-DE" sz="20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</m:oMath>
                      <m:oMath xmlns:m="http://schemas.openxmlformats.org/officeDocument/2006/math">
                        <m:r>
                          <a:rPr kumimoji="0" lang="de-DE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⋮</m:t>
                        </m:r>
                      </m:oMath>
                      <m:oMath xmlns:m="http://schemas.openxmlformats.org/officeDocument/2006/math">
                        <m:sSub>
                          <m:sSubPr>
                            <m:ctrlPr>
                              <a:rPr kumimoji="0" lang="de-DE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kumimoji="0" lang="de-DE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0" lang="de-DE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kumimoji="0" lang="de-DE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kumimoji="0" lang="de-DE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de-DE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kumimoji="0" lang="de-DE" sz="20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kumimoji="0" lang="de-DE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de-DE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0" lang="de-DE" sz="20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kumimoji="0" lang="de-DE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kumimoji="0" lang="de-DE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kumimoji="0" lang="de-DE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d>
                              <m:dPr>
                                <m:ctrlP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kumimoji="0" lang="de-DE" sz="20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0" lang="de-DE" sz="20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endParaRPr lang="en-US" sz="2000" dirty="0" smtClean="0">
                    <a:solidFill>
                      <a:srgbClr val="000000"/>
                    </a:solidFill>
                    <a:latin typeface="Segoe UI"/>
                    <a:cs typeface="Arial" panose="020B0604020202020204" pitchFamily="34" charset="0"/>
                  </a:endParaRPr>
                </a:p>
                <a:p>
                  <a:pPr lvl="0">
                    <a:spcBef>
                      <a:spcPts val="2400"/>
                    </a:spcBef>
                    <a:defRPr/>
                  </a:pPr>
                  <a:r>
                    <a:rPr lang="en-US" sz="2000" b="1" dirty="0" smtClean="0">
                      <a:solidFill>
                        <a:srgbClr val="000000"/>
                      </a:solidFill>
                      <a:latin typeface="+mj-lt"/>
                      <a:ea typeface="Cambria" panose="02040503050406030204" pitchFamily="18" charset="0"/>
                    </a:rPr>
                    <a:t>Observable </a:t>
                  </a:r>
                  <a:r>
                    <a:rPr lang="en-US" sz="2000" b="1" dirty="0">
                      <a:solidFill>
                        <a:srgbClr val="000000"/>
                      </a:solidFill>
                      <a:latin typeface="+mj-lt"/>
                      <a:ea typeface="Cambria" panose="02040503050406030204" pitchFamily="18" charset="0"/>
                    </a:rPr>
                    <a:t>functions</a:t>
                  </a:r>
                  <a:endParaRPr lang="de-DE" sz="2000" i="1" dirty="0">
                    <a:solidFill>
                      <a:srgbClr val="000000"/>
                    </a:solidFill>
                    <a:latin typeface="+mj-lt"/>
                    <a:ea typeface="Cambria" panose="02040503050406030204" pitchFamily="18" charset="0"/>
                  </a:endParaRPr>
                </a:p>
                <a:p>
                  <a:pPr lvl="0">
                    <a:spcBef>
                      <a:spcPts val="2400"/>
                    </a:spcBef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𝑡</m:t>
                            </m:r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  <m:r>
                          <a:rPr lang="de-DE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</m:oMath>
                      <m:oMath xmlns:m="http://schemas.openxmlformats.org/officeDocument/2006/math">
                        <m:r>
                          <a:rPr lang="de-DE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⋮</m:t>
                        </m:r>
                      </m:oMath>
                      <m:oMath xmlns:m="http://schemas.openxmlformats.org/officeDocument/2006/math">
                        <m:sSub>
                          <m:sSubPr>
                            <m:ctrlP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de-DE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(</m:t>
                        </m:r>
                        <m:r>
                          <a:rPr lang="de-DE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𝑡</m:t>
                        </m:r>
                        <m:r>
                          <a:rPr lang="de-DE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de-DE" sz="20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de-DE" sz="200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de-DE" sz="2000" i="1" dirty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</m:d>
                      </m:oMath>
                    </m:oMathPara>
                  </a14:m>
                  <a:r>
                    <a:rPr lang="de-DE" sz="2000" i="1" dirty="0">
                      <a:solidFill>
                        <a:srgbClr val="000000"/>
                      </a:solidFill>
                      <a:latin typeface="Cambria Math" panose="02040503050406030204" pitchFamily="18" charset="0"/>
                      <a:ea typeface="Cambria" panose="02040503050406030204" pitchFamily="18" charset="0"/>
                    </a:rPr>
                    <a:t/>
                  </a:r>
                  <a:br>
                    <a:rPr lang="de-DE" sz="2000" i="1" dirty="0">
                      <a:solidFill>
                        <a:srgbClr val="000000"/>
                      </a:solidFill>
                      <a:latin typeface="Cambria Math" panose="02040503050406030204" pitchFamily="18" charset="0"/>
                      <a:ea typeface="Cambria" panose="02040503050406030204" pitchFamily="18" charset="0"/>
                    </a:rPr>
                  </a:br>
                  <a:endParaRPr lang="de-DE" sz="2000" i="1" dirty="0" smtClean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" panose="02040503050406030204" pitchFamily="18" charset="0"/>
                  </a:endParaRPr>
                </a:p>
                <a:p>
                  <a:pPr lvl="0">
                    <a:spcBef>
                      <a:spcPts val="2400"/>
                    </a:spcBef>
                  </a:pPr>
                  <a:r>
                    <a:rPr lang="en-US" sz="2000" dirty="0" smtClean="0">
                      <a:solidFill>
                        <a:srgbClr val="000000"/>
                      </a:solidFill>
                      <a:latin typeface="+mj-lt"/>
                      <a:cs typeface="Arial" panose="020B0604020202020204" pitchFamily="34" charset="0"/>
                    </a:rPr>
                    <a:t>states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de-D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acc>
                    </m:oMath>
                  </a14:m>
                  <a:r>
                    <a:rPr lang="de-DE" sz="2000" dirty="0">
                      <a:solidFill>
                        <a:srgbClr val="000000"/>
                      </a:solidFill>
                      <a:latin typeface="+mj-lt"/>
                      <a:cs typeface="Arial" panose="020B0604020202020204" pitchFamily="34" charset="0"/>
                    </a:rPr>
                    <a:t>, </a:t>
                  </a:r>
                  <a:r>
                    <a:rPr lang="de-DE" sz="2000" dirty="0" err="1">
                      <a:solidFill>
                        <a:srgbClr val="000000"/>
                      </a:solidFill>
                      <a:latin typeface="+mj-lt"/>
                      <a:cs typeface="Arial" panose="020B0604020202020204" pitchFamily="34" charset="0"/>
                    </a:rPr>
                    <a:t>inputs</a:t>
                  </a:r>
                  <a:r>
                    <a:rPr lang="de-DE" sz="2000" dirty="0">
                      <a:solidFill>
                        <a:srgbClr val="000000"/>
                      </a:solidFill>
                      <a:latin typeface="+mj-lt"/>
                      <a:cs typeface="Arial" panose="020B0604020202020204" pitchFamily="34" charset="0"/>
                    </a:rPr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de-D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𝑢</m:t>
                          </m:r>
                        </m:e>
                      </m:acc>
                    </m:oMath>
                  </a14:m>
                  <a:r>
                    <a:rPr lang="en-US" sz="2000" dirty="0">
                      <a:solidFill>
                        <a:srgbClr val="000000"/>
                      </a:solidFill>
                      <a:latin typeface="+mj-lt"/>
                      <a:cs typeface="Arial" panose="020B0604020202020204" pitchFamily="34" charset="0"/>
                    </a:rPr>
                    <a:t>, parameters 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de-D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de-DE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𝜃</m:t>
                          </m:r>
                        </m:e>
                      </m:acc>
                    </m:oMath>
                  </a14:m>
                  <a:endParaRPr lang="en-US" sz="2000" dirty="0">
                    <a:solidFill>
                      <a:srgbClr val="000000"/>
                    </a:solidFill>
                    <a:latin typeface="+mj-lt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55" name="Textfeld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412" y="2178804"/>
                  <a:ext cx="6259598" cy="4525021"/>
                </a:xfrm>
                <a:prstGeom prst="rect">
                  <a:avLst/>
                </a:prstGeom>
                <a:blipFill>
                  <a:blip r:embed="rId4"/>
                  <a:stretch>
                    <a:fillRect l="-1947" t="-1482" b="-161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Gruppieren 21"/>
            <p:cNvGrpSpPr/>
            <p:nvPr/>
          </p:nvGrpSpPr>
          <p:grpSpPr>
            <a:xfrm>
              <a:off x="6486151" y="2586452"/>
              <a:ext cx="13513418" cy="4380763"/>
              <a:chOff x="1230922" y="4691879"/>
              <a:chExt cx="15178097" cy="5040458"/>
            </a:xfrm>
          </p:grpSpPr>
          <p:pic>
            <p:nvPicPr>
              <p:cNvPr id="23" name="Grafik 22"/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30922" y="4691880"/>
                <a:ext cx="9311525" cy="5040000"/>
              </a:xfrm>
              <a:prstGeom prst="rect">
                <a:avLst/>
              </a:prstGeom>
            </p:spPr>
          </p:pic>
          <p:pic>
            <p:nvPicPr>
              <p:cNvPr id="24" name="Grafik 2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712437" y="4692337"/>
                <a:ext cx="5696582" cy="5040000"/>
              </a:xfrm>
              <a:prstGeom prst="rect">
                <a:avLst/>
              </a:prstGeom>
            </p:spPr>
          </p:pic>
          <p:sp>
            <p:nvSpPr>
              <p:cNvPr id="25" name="Abgerundetes Rechteck 24"/>
              <p:cNvSpPr/>
              <p:nvPr/>
            </p:nvSpPr>
            <p:spPr>
              <a:xfrm>
                <a:off x="4114800" y="5781675"/>
                <a:ext cx="2415540" cy="344805"/>
              </a:xfrm>
              <a:prstGeom prst="round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" name="Abgerundetes Rechteck 25"/>
              <p:cNvSpPr/>
              <p:nvPr/>
            </p:nvSpPr>
            <p:spPr>
              <a:xfrm>
                <a:off x="5684520" y="5425440"/>
                <a:ext cx="845820" cy="356235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" name="Abgerundetes Rechteck 26"/>
              <p:cNvSpPr/>
              <p:nvPr/>
            </p:nvSpPr>
            <p:spPr>
              <a:xfrm>
                <a:off x="10816498" y="7211880"/>
                <a:ext cx="5217381" cy="2520000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" name="Abgerundetes Rechteck 27"/>
              <p:cNvSpPr/>
              <p:nvPr/>
            </p:nvSpPr>
            <p:spPr>
              <a:xfrm>
                <a:off x="10816497" y="4691879"/>
                <a:ext cx="5217381" cy="2469711"/>
              </a:xfrm>
              <a:prstGeom prst="roundRect">
                <a:avLst/>
              </a:prstGeom>
              <a:noFill/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29" name="Gerader Verbinder 28"/>
              <p:cNvCxnSpPr>
                <a:stCxn id="26" idx="3"/>
                <a:endCxn id="27" idx="1"/>
              </p:cNvCxnSpPr>
              <p:nvPr/>
            </p:nvCxnSpPr>
            <p:spPr>
              <a:xfrm>
                <a:off x="6530340" y="5603558"/>
                <a:ext cx="4286158" cy="2868322"/>
              </a:xfrm>
              <a:prstGeom prst="line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Gerader Verbinder 31"/>
              <p:cNvCxnSpPr>
                <a:stCxn id="25" idx="3"/>
                <a:endCxn id="28" idx="1"/>
              </p:cNvCxnSpPr>
              <p:nvPr/>
            </p:nvCxnSpPr>
            <p:spPr>
              <a:xfrm flipV="1">
                <a:off x="6530340" y="5926735"/>
                <a:ext cx="4286157" cy="27343"/>
              </a:xfrm>
              <a:prstGeom prst="line">
                <a:avLst/>
              </a:prstGeom>
              <a:ln w="381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Rechteck 6"/>
            <p:cNvSpPr/>
            <p:nvPr/>
          </p:nvSpPr>
          <p:spPr>
            <a:xfrm>
              <a:off x="653247" y="2079315"/>
              <a:ext cx="19346322" cy="504069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" name="Gruppieren 1"/>
          <p:cNvGrpSpPr/>
          <p:nvPr/>
        </p:nvGrpSpPr>
        <p:grpSpPr>
          <a:xfrm>
            <a:off x="1354286" y="7112035"/>
            <a:ext cx="11398077" cy="5548888"/>
            <a:chOff x="1354286" y="7112035"/>
            <a:chExt cx="11398077" cy="5548888"/>
          </a:xfrm>
        </p:grpSpPr>
        <p:grpSp>
          <p:nvGrpSpPr>
            <p:cNvPr id="20" name="Gruppieren 19"/>
            <p:cNvGrpSpPr/>
            <p:nvPr/>
          </p:nvGrpSpPr>
          <p:grpSpPr>
            <a:xfrm>
              <a:off x="1354286" y="7203392"/>
              <a:ext cx="11225770" cy="5268120"/>
              <a:chOff x="653246" y="7600146"/>
              <a:chExt cx="11225770" cy="526812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feld 18"/>
                  <p:cNvSpPr txBox="1"/>
                  <p:nvPr/>
                </p:nvSpPr>
                <p:spPr>
                  <a:xfrm>
                    <a:off x="702412" y="7600146"/>
                    <a:ext cx="11127438" cy="161999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>
                      <a:spcAft>
                        <a:spcPts val="2400"/>
                      </a:spcAft>
                    </a:pPr>
                    <a:r>
                      <a:rPr lang="de-DE" sz="2800" b="1" dirty="0" smtClean="0"/>
                      <a:t>The </a:t>
                    </a:r>
                    <a:r>
                      <a:rPr lang="de-DE" sz="2800" b="1" dirty="0" err="1" smtClean="0"/>
                      <a:t>Issue</a:t>
                    </a:r>
                    <a:r>
                      <a:rPr lang="de-DE" sz="2800" b="1" dirty="0" smtClean="0"/>
                      <a:t>:</a:t>
                    </a:r>
                  </a:p>
                  <a:p>
                    <a:pPr>
                      <a:spcAft>
                        <a:spcPts val="2400"/>
                      </a:spcAft>
                    </a:pPr>
                    <a:r>
                      <a:rPr lang="de-DE" sz="2400" b="1" dirty="0" err="1" smtClean="0"/>
                      <a:t>Estimating</a:t>
                    </a:r>
                    <a:r>
                      <a:rPr lang="de-DE" sz="2400" b="1" dirty="0" smtClean="0"/>
                      <a:t> </a:t>
                    </a:r>
                    <a:r>
                      <a:rPr lang="de-DE" sz="2400" b="1" dirty="0" err="1" smtClean="0"/>
                      <a:t>model</a:t>
                    </a:r>
                    <a:r>
                      <a:rPr lang="de-DE" sz="2400" b="1" dirty="0" smtClean="0"/>
                      <a:t> </a:t>
                    </a:r>
                    <a:r>
                      <a:rPr lang="de-DE" sz="2400" b="1" dirty="0" err="1" smtClean="0"/>
                      <a:t>parameters</a:t>
                    </a:r>
                    <a:r>
                      <a:rPr lang="de-DE" sz="2400" b="1" dirty="0" smtClean="0"/>
                      <a:t> </a:t>
                    </a:r>
                    <a14:m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de-DE" sz="24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DE" sz="2400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acc>
                      </m:oMath>
                    </a14:m>
                    <a:r>
                      <a:rPr lang="de-DE" sz="2400" b="1" dirty="0" smtClean="0"/>
                      <a:t> </a:t>
                    </a:r>
                    <a:r>
                      <a:rPr lang="de-DE" sz="2400" b="1" dirty="0" err="1" smtClean="0"/>
                      <a:t>is</a:t>
                    </a:r>
                    <a:r>
                      <a:rPr lang="de-DE" sz="2400" b="1" dirty="0" smtClean="0"/>
                      <a:t> a </a:t>
                    </a:r>
                    <a:r>
                      <a:rPr lang="de-DE" sz="2400" b="1" dirty="0" err="1" smtClean="0"/>
                      <a:t>bottleneck</a:t>
                    </a:r>
                    <a:r>
                      <a:rPr lang="de-DE" sz="2400" b="1" dirty="0" smtClean="0"/>
                      <a:t/>
                    </a:r>
                    <a:br>
                      <a:rPr lang="de-DE" sz="2400" b="1" dirty="0" smtClean="0"/>
                    </a:br>
                    <a:r>
                      <a:rPr lang="de-DE" sz="2400" b="1" dirty="0" err="1" smtClean="0"/>
                      <a:t>It</a:t>
                    </a:r>
                    <a:r>
                      <a:rPr lang="de-DE" sz="2400" b="1" dirty="0" smtClean="0"/>
                      <a:t> </a:t>
                    </a:r>
                    <a:r>
                      <a:rPr lang="de-DE" sz="2400" b="1" dirty="0" err="1" smtClean="0"/>
                      <a:t>requires</a:t>
                    </a:r>
                    <a:r>
                      <a:rPr lang="de-DE" sz="2400" b="1" dirty="0" smtClean="0"/>
                      <a:t> </a:t>
                    </a:r>
                    <a:r>
                      <a:rPr lang="de-DE" sz="2400" b="1" dirty="0" err="1" smtClean="0"/>
                      <a:t>manual</a:t>
                    </a:r>
                    <a:r>
                      <a:rPr lang="de-DE" sz="2400" b="1" dirty="0" smtClean="0"/>
                      <a:t> </a:t>
                    </a:r>
                    <a:r>
                      <a:rPr lang="de-DE" sz="2400" b="1" dirty="0" err="1" smtClean="0"/>
                      <a:t>selection</a:t>
                    </a:r>
                    <a:r>
                      <a:rPr lang="de-DE" sz="2400" b="1" dirty="0" smtClean="0"/>
                      <a:t> </a:t>
                    </a:r>
                    <a:r>
                      <a:rPr lang="de-DE" sz="2400" b="1" dirty="0" err="1" smtClean="0"/>
                      <a:t>of</a:t>
                    </a:r>
                    <a:r>
                      <a:rPr lang="de-DE" sz="2400" b="1" dirty="0" smtClean="0"/>
                      <a:t> </a:t>
                    </a:r>
                    <a:r>
                      <a:rPr lang="de-DE" sz="2400" b="1" dirty="0" err="1" smtClean="0"/>
                      <a:t>optimization</a:t>
                    </a:r>
                    <a:r>
                      <a:rPr lang="de-DE" sz="2400" b="1" dirty="0" smtClean="0"/>
                      <a:t> </a:t>
                    </a:r>
                    <a:r>
                      <a:rPr lang="de-DE" sz="2400" b="1" dirty="0" err="1" smtClean="0"/>
                      <a:t>algorithm</a:t>
                    </a:r>
                    <a:r>
                      <a:rPr lang="de-DE" sz="2400" b="1" dirty="0" smtClean="0"/>
                      <a:t> </a:t>
                    </a:r>
                    <a:r>
                      <a:rPr lang="de-DE" sz="2400" b="1" dirty="0" err="1" smtClean="0"/>
                      <a:t>and</a:t>
                    </a:r>
                    <a:r>
                      <a:rPr lang="de-DE" sz="2400" b="1" dirty="0" smtClean="0"/>
                      <a:t> </a:t>
                    </a:r>
                    <a:r>
                      <a:rPr lang="de-DE" sz="2400" b="1" dirty="0" err="1" smtClean="0"/>
                      <a:t>hyperparameters</a:t>
                    </a:r>
                    <a:endParaRPr lang="de-DE" sz="2400" b="1" dirty="0"/>
                  </a:p>
                </p:txBody>
              </p:sp>
            </mc:Choice>
            <mc:Fallback xmlns="">
              <p:sp>
                <p:nvSpPr>
                  <p:cNvPr id="19" name="Textfeld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2412" y="7600146"/>
                    <a:ext cx="11127438" cy="161999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095" t="-4151" r="-712" b="-8302"/>
                    </a:stretch>
                  </a:blipFill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71" name="Grafik 10"/>
              <p:cNvPicPr/>
              <p:nvPr/>
            </p:nvPicPr>
            <p:blipFill>
              <a:blip r:embed="rId7"/>
              <a:stretch/>
            </p:blipFill>
            <p:spPr>
              <a:xfrm>
                <a:off x="653246" y="9234826"/>
                <a:ext cx="11225770" cy="363344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38" name="Rechteck 37"/>
            <p:cNvSpPr/>
            <p:nvPr/>
          </p:nvSpPr>
          <p:spPr>
            <a:xfrm>
              <a:off x="1354287" y="7112035"/>
              <a:ext cx="11398076" cy="554888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85" name="Gruppieren 84"/>
          <p:cNvGrpSpPr/>
          <p:nvPr/>
        </p:nvGrpSpPr>
        <p:grpSpPr>
          <a:xfrm>
            <a:off x="12923195" y="7102217"/>
            <a:ext cx="7777414" cy="5548888"/>
            <a:chOff x="12923195" y="7102217"/>
            <a:chExt cx="7777414" cy="5548888"/>
          </a:xfrm>
        </p:grpSpPr>
        <p:sp>
          <p:nvSpPr>
            <p:cNvPr id="3" name="Rechteck 2"/>
            <p:cNvSpPr/>
            <p:nvPr/>
          </p:nvSpPr>
          <p:spPr>
            <a:xfrm>
              <a:off x="12923195" y="7203392"/>
              <a:ext cx="7777413" cy="26776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de-DE" sz="2800" b="1" spc="-1" dirty="0" err="1"/>
                <a:t>Our</a:t>
              </a:r>
              <a:r>
                <a:rPr lang="de-DE" sz="2800" b="1" spc="-1" dirty="0"/>
                <a:t> </a:t>
              </a:r>
              <a:r>
                <a:rPr lang="de-DE" sz="2800" b="1" spc="-1" dirty="0" smtClean="0"/>
                <a:t>Approach:</a:t>
              </a:r>
              <a:endParaRPr lang="de-DE" sz="2800" b="1" spc="-1" dirty="0"/>
            </a:p>
            <a:p>
              <a:r>
                <a:rPr lang="de-DE" sz="2800" b="1" spc="-1" dirty="0" smtClean="0"/>
                <a:t>	</a:t>
              </a:r>
              <a:endParaRPr lang="de-DE" sz="2800" b="1" spc="-1" dirty="0"/>
            </a:p>
            <a:p>
              <a:pPr lvl="1"/>
              <a:r>
                <a:rPr lang="de-DE" sz="2800" b="1" spc="-1" dirty="0" err="1"/>
                <a:t>Automatic</a:t>
              </a:r>
              <a:r>
                <a:rPr lang="de-DE" sz="2800" b="1" spc="-1" dirty="0"/>
                <a:t> </a:t>
              </a:r>
              <a:r>
                <a:rPr lang="de-DE" sz="2800" b="1" spc="-1" dirty="0" err="1"/>
                <a:t>and</a:t>
              </a:r>
              <a:r>
                <a:rPr lang="de-DE" sz="2800" b="1" spc="-1" dirty="0"/>
                <a:t> </a:t>
              </a:r>
              <a:r>
                <a:rPr lang="de-DE" sz="2800" b="1" spc="-1" dirty="0" smtClean="0"/>
                <a:t>adaptive </a:t>
              </a:r>
              <a:r>
                <a:rPr lang="de-DE" sz="2800" b="1" spc="-1" dirty="0" err="1" smtClean="0"/>
                <a:t>hyperparameter</a:t>
              </a:r>
              <a:r>
                <a:rPr lang="de-DE" sz="2800" b="1" spc="-1" dirty="0" smtClean="0"/>
                <a:t> </a:t>
              </a:r>
              <a:r>
                <a:rPr lang="de-DE" sz="2800" b="1" spc="-1" dirty="0" err="1" smtClean="0"/>
                <a:t>tuning</a:t>
              </a:r>
              <a:r>
                <a:rPr lang="de-DE" sz="2800" b="1" spc="-1" dirty="0" smtClean="0"/>
                <a:t> </a:t>
              </a:r>
              <a:r>
                <a:rPr lang="de-DE" sz="2800" b="1" spc="-1" dirty="0" err="1" smtClean="0"/>
                <a:t>by</a:t>
              </a:r>
              <a:r>
                <a:rPr lang="de-DE" sz="2800" b="1" spc="-1" dirty="0" smtClean="0"/>
                <a:t> </a:t>
              </a:r>
              <a:r>
                <a:rPr lang="de-DE" sz="2800" b="1" spc="-1" dirty="0" err="1"/>
                <a:t>reinforcement</a:t>
              </a:r>
              <a:r>
                <a:rPr lang="de-DE" sz="2800" b="1" spc="-1" dirty="0"/>
                <a:t> </a:t>
              </a:r>
              <a:r>
                <a:rPr lang="de-DE" sz="2800" b="1" spc="-1" dirty="0" err="1"/>
                <a:t>learning</a:t>
              </a:r>
              <a:endParaRPr lang="en-US" sz="2800" spc="-1" dirty="0"/>
            </a:p>
            <a:p>
              <a:endParaRPr lang="de-DE" sz="2800" b="1" spc="-1" dirty="0" smtClean="0"/>
            </a:p>
            <a:p>
              <a:endParaRPr lang="de-DE" sz="2800" b="1" spc="-1" dirty="0"/>
            </a:p>
          </p:txBody>
        </p:sp>
        <p:sp>
          <p:nvSpPr>
            <p:cNvPr id="42" name="Rechteck 41"/>
            <p:cNvSpPr/>
            <p:nvPr/>
          </p:nvSpPr>
          <p:spPr>
            <a:xfrm>
              <a:off x="12923196" y="7102217"/>
              <a:ext cx="7777413" cy="554888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73" name="Gruppieren 72"/>
            <p:cNvGrpSpPr/>
            <p:nvPr/>
          </p:nvGrpSpPr>
          <p:grpSpPr>
            <a:xfrm>
              <a:off x="13415193" y="9554767"/>
              <a:ext cx="6793415" cy="2428127"/>
              <a:chOff x="12872157" y="9876660"/>
              <a:chExt cx="6793415" cy="2428127"/>
            </a:xfrm>
          </p:grpSpPr>
          <p:sp>
            <p:nvSpPr>
              <p:cNvPr id="43" name="Abgerundetes Rechteck 87"/>
              <p:cNvSpPr/>
              <p:nvPr/>
            </p:nvSpPr>
            <p:spPr>
              <a:xfrm>
                <a:off x="16665190" y="9876660"/>
                <a:ext cx="3000382" cy="2421777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horzOverflow="overflow" lIns="50760" tIns="50760" rIns="50760" bIns="50760" numCol="1" spcCol="38160" anchor="ctr">
                <a:noAutofit/>
              </a:bodyPr>
              <a:lstStyle/>
              <a:p>
                <a:pPr algn="ctr" defTabSz="58428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1" strike="noStrike" spc="-1" dirty="0" smtClean="0">
                  <a:solidFill>
                    <a:srgbClr val="FFFFFF"/>
                  </a:solidFill>
                  <a:latin typeface="Calibri"/>
                </a:endParaRPr>
              </a:p>
              <a:p>
                <a:pPr algn="ctr" defTabSz="58428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400" b="1" strike="noStrike" spc="-1" dirty="0">
                  <a:solidFill>
                    <a:srgbClr val="FFFFFF"/>
                  </a:solidFill>
                  <a:latin typeface="Calibri"/>
                </a:endParaRPr>
              </a:p>
              <a:p>
                <a:pPr algn="ctr" defTabSz="584280">
                  <a:lnSpc>
                    <a:spcPct val="100000"/>
                  </a:lnSpc>
                  <a:tabLst>
                    <a:tab pos="0" algn="l"/>
                  </a:tabLst>
                </a:pPr>
                <a:endParaRPr lang="de-DE" sz="2400" b="1" spc="-1" dirty="0" smtClean="0">
                  <a:solidFill>
                    <a:srgbClr val="FFFFFF"/>
                  </a:solidFill>
                  <a:latin typeface="Helvetica Neue Medium"/>
                  <a:ea typeface="Helvetica Neue Medium"/>
                </a:endParaRPr>
              </a:p>
              <a:p>
                <a:pPr algn="ctr" defTabSz="58428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de-DE" sz="2400" b="1" spc="-1" dirty="0">
                    <a:solidFill>
                      <a:srgbClr val="FFFFFF"/>
                    </a:solidFill>
                    <a:latin typeface="Helvetica Neue Medium"/>
                    <a:ea typeface="Helvetica Neue Medium"/>
                  </a:rPr>
                  <a:t>R</a:t>
                </a:r>
                <a:r>
                  <a:rPr lang="de-DE" sz="2400" b="1" spc="-1" dirty="0" smtClean="0">
                    <a:solidFill>
                      <a:srgbClr val="FFFFFF"/>
                    </a:solidFill>
                    <a:latin typeface="Helvetica Neue Medium"/>
                    <a:ea typeface="Helvetica Neue Medium"/>
                  </a:rPr>
                  <a:t>einforcement</a:t>
                </a:r>
                <a:br>
                  <a:rPr lang="de-DE" sz="2400" b="1" spc="-1" dirty="0" smtClean="0">
                    <a:solidFill>
                      <a:srgbClr val="FFFFFF"/>
                    </a:solidFill>
                    <a:latin typeface="Helvetica Neue Medium"/>
                    <a:ea typeface="Helvetica Neue Medium"/>
                  </a:rPr>
                </a:br>
                <a:r>
                  <a:rPr lang="de-DE" sz="2400" b="1" spc="-1" dirty="0">
                    <a:solidFill>
                      <a:srgbClr val="FFFFFF"/>
                    </a:solidFill>
                    <a:latin typeface="Helvetica Neue Medium"/>
                    <a:ea typeface="Helvetica Neue Medium"/>
                  </a:rPr>
                  <a:t>L</a:t>
                </a:r>
                <a:r>
                  <a:rPr lang="de-DE" sz="2400" b="1" spc="-1" dirty="0" smtClean="0">
                    <a:solidFill>
                      <a:srgbClr val="FFFFFF"/>
                    </a:solidFill>
                    <a:latin typeface="Helvetica Neue Medium"/>
                    <a:ea typeface="Helvetica Neue Medium"/>
                  </a:rPr>
                  <a:t>earning</a:t>
                </a:r>
                <a:r>
                  <a:rPr lang="de-DE" sz="2400" b="1" strike="noStrike" spc="-1" dirty="0" smtClean="0">
                    <a:solidFill>
                      <a:srgbClr val="FFFFFF"/>
                    </a:solidFill>
                    <a:latin typeface="Helvetica Neue Medium"/>
                    <a:ea typeface="Helvetica Neue Medium"/>
                  </a:rPr>
                  <a:t> Agent</a:t>
                </a:r>
                <a:endParaRPr lang="en-US" sz="2400" b="1" strike="noStrike" spc="-1" dirty="0">
                  <a:solidFill>
                    <a:srgbClr val="FFFFFF"/>
                  </a:solidFill>
                  <a:latin typeface="Calibri"/>
                </a:endParaRPr>
              </a:p>
            </p:txBody>
          </p:sp>
          <p:pic>
            <p:nvPicPr>
              <p:cNvPr id="44" name="Grafik 4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502459" y="9897011"/>
                <a:ext cx="1325843" cy="1355615"/>
              </a:xfrm>
              <a:prstGeom prst="rect">
                <a:avLst/>
              </a:prstGeom>
            </p:spPr>
          </p:pic>
          <p:grpSp>
            <p:nvGrpSpPr>
              <p:cNvPr id="13" name="Gruppieren 12"/>
              <p:cNvGrpSpPr/>
              <p:nvPr/>
            </p:nvGrpSpPr>
            <p:grpSpPr>
              <a:xfrm>
                <a:off x="12872157" y="9876661"/>
                <a:ext cx="2624178" cy="2421776"/>
                <a:chOff x="17264591" y="8794918"/>
                <a:chExt cx="3637980" cy="4127135"/>
              </a:xfrm>
            </p:grpSpPr>
            <p:sp>
              <p:nvSpPr>
                <p:cNvPr id="45" name="Rechteck 97"/>
                <p:cNvSpPr/>
                <p:nvPr/>
              </p:nvSpPr>
              <p:spPr>
                <a:xfrm>
                  <a:off x="17264591" y="8794918"/>
                  <a:ext cx="3637980" cy="4127135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horzOverflow="overflow" lIns="180000" tIns="72000" rIns="180000" bIns="72000" numCol="1" spcCol="38160" anchor="t">
                  <a:noAutofit/>
                </a:bodyPr>
                <a:lstStyle/>
                <a:p>
                  <a:pPr algn="ctr" defTabSz="58428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2400" b="1" spc="-1" dirty="0" smtClean="0">
                      <a:solidFill>
                        <a:srgbClr val="000000"/>
                      </a:solidFill>
                      <a:latin typeface="+mj-lt"/>
                    </a:rPr>
                    <a:t>Parameter</a:t>
                  </a:r>
                  <a:br>
                    <a:rPr lang="en-US" sz="2400" b="1" spc="-1" dirty="0" smtClean="0">
                      <a:solidFill>
                        <a:srgbClr val="000000"/>
                      </a:solidFill>
                      <a:latin typeface="+mj-lt"/>
                    </a:rPr>
                  </a:br>
                  <a:r>
                    <a:rPr lang="en-US" sz="2400" b="1" spc="-1" dirty="0" smtClean="0">
                      <a:solidFill>
                        <a:srgbClr val="000000"/>
                      </a:solidFill>
                      <a:latin typeface="+mj-lt"/>
                    </a:rPr>
                    <a:t>Estimation</a:t>
                  </a:r>
                  <a:endParaRPr lang="en-US" sz="2400" b="1" spc="-1" dirty="0">
                    <a:solidFill>
                      <a:srgbClr val="000000"/>
                    </a:solidFill>
                    <a:latin typeface="+mj-lt"/>
                  </a:endParaRPr>
                </a:p>
              </p:txBody>
            </p:sp>
            <p:pic>
              <p:nvPicPr>
                <p:cNvPr id="46" name="Grafik 93"/>
                <p:cNvPicPr/>
                <p:nvPr/>
              </p:nvPicPr>
              <p:blipFill rotWithShape="1">
                <a:blip r:embed="rId9"/>
                <a:srcRect l="16006" t="3059" r="2664" b="2991"/>
                <a:stretch/>
              </p:blipFill>
              <p:spPr>
                <a:xfrm rot="10800000">
                  <a:off x="17487333" y="10290497"/>
                  <a:ext cx="3157688" cy="2454015"/>
                </a:xfrm>
                <a:prstGeom prst="rect">
                  <a:avLst/>
                </a:prstGeom>
                <a:ln w="0">
                  <a:solidFill>
                    <a:schemeClr val="tx1"/>
                  </a:solidFill>
                </a:ln>
              </p:spPr>
            </p:pic>
          </p:grpSp>
          <p:cxnSp>
            <p:nvCxnSpPr>
              <p:cNvPr id="47" name="Gewinkelter Verbinder 46"/>
              <p:cNvCxnSpPr>
                <a:stCxn id="44" idx="0"/>
                <a:endCxn id="45" idx="0"/>
              </p:cNvCxnSpPr>
              <p:nvPr/>
            </p:nvCxnSpPr>
            <p:spPr>
              <a:xfrm rot="16200000" flipV="1">
                <a:off x="16164639" y="7896268"/>
                <a:ext cx="20350" cy="3981135"/>
              </a:xfrm>
              <a:prstGeom prst="bentConnector3">
                <a:avLst>
                  <a:gd name="adj1" fmla="val 2019627"/>
                </a:avLst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Gewinkelter Verbinder 47"/>
              <p:cNvCxnSpPr>
                <a:stCxn id="45" idx="2"/>
                <a:endCxn id="43" idx="2"/>
              </p:cNvCxnSpPr>
              <p:nvPr/>
            </p:nvCxnSpPr>
            <p:spPr>
              <a:xfrm rot="16200000" flipH="1">
                <a:off x="16174813" y="10307869"/>
                <a:ext cx="12700" cy="3981135"/>
              </a:xfrm>
              <a:prstGeom prst="bentConnector3">
                <a:avLst>
                  <a:gd name="adj1" fmla="val 3075969"/>
                </a:avLst>
              </a:prstGeom>
              <a:ln w="762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93547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/>
          <p:cNvGrpSpPr/>
          <p:nvPr/>
        </p:nvGrpSpPr>
        <p:grpSpPr>
          <a:xfrm>
            <a:off x="1292492" y="2448675"/>
            <a:ext cx="10440000" cy="8373565"/>
            <a:chOff x="2160000" y="1604614"/>
            <a:chExt cx="10440000" cy="8373565"/>
          </a:xfrm>
        </p:grpSpPr>
        <p:sp>
          <p:nvSpPr>
            <p:cNvPr id="115" name="Rechteck 119"/>
            <p:cNvSpPr/>
            <p:nvPr/>
          </p:nvSpPr>
          <p:spPr>
            <a:xfrm>
              <a:off x="7248992" y="9456413"/>
              <a:ext cx="1698776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de-DE" sz="2800" b="1" spc="-1" dirty="0" smtClean="0">
                  <a:solidFill>
                    <a:schemeClr val="dk1"/>
                  </a:solidFill>
                  <a:latin typeface="Helvetica Neue Medium"/>
                </a:rPr>
                <a:t>Learning</a:t>
              </a:r>
              <a:endParaRPr lang="en-US" sz="2800" b="1" strike="noStrike" spc="-1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22" name="Rechteck 134"/>
            <p:cNvSpPr/>
            <p:nvPr/>
          </p:nvSpPr>
          <p:spPr>
            <a:xfrm>
              <a:off x="4711172" y="1604614"/>
              <a:ext cx="6031949" cy="13835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de-DE" sz="2800" b="1" spc="-1" dirty="0" smtClean="0">
                  <a:solidFill>
                    <a:schemeClr val="dk1"/>
                  </a:solidFill>
                  <a:latin typeface="Helvetica Neue Medium"/>
                  <a:ea typeface="Helvetica Neue Medium"/>
                </a:rPr>
                <a:t>D</a:t>
              </a:r>
              <a:r>
                <a:rPr lang="de-DE" sz="2800" b="1" strike="noStrike" spc="-1" dirty="0" smtClean="0">
                  <a:solidFill>
                    <a:schemeClr val="dk1"/>
                  </a:solidFill>
                  <a:latin typeface="Helvetica Neue Medium"/>
                  <a:ea typeface="Helvetica Neue Medium"/>
                </a:rPr>
                <a:t>ynamic Hyperparameter </a:t>
              </a:r>
              <a:r>
                <a:rPr lang="de-DE" sz="2800" b="1" spc="-1" dirty="0">
                  <a:solidFill>
                    <a:schemeClr val="dk1"/>
                  </a:solidFill>
                  <a:latin typeface="Helvetica Neue Medium"/>
                  <a:ea typeface="Helvetica Neue Medium"/>
                </a:rPr>
                <a:t>C</a:t>
              </a:r>
              <a:r>
                <a:rPr lang="de-DE" sz="2800" b="1" strike="noStrike" spc="-1" dirty="0" smtClean="0">
                  <a:solidFill>
                    <a:schemeClr val="dk1"/>
                  </a:solidFill>
                  <a:latin typeface="Helvetica Neue Medium"/>
                  <a:ea typeface="Helvetica Neue Medium"/>
                </a:rPr>
                <a:t>ontrol:</a:t>
              </a:r>
            </a:p>
            <a:p>
              <a:pPr marL="342900" indent="-342900" defTabSz="91440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de-DE" sz="2800" spc="-1" dirty="0" err="1" smtClean="0">
                  <a:solidFill>
                    <a:schemeClr val="dk1"/>
                  </a:solidFill>
                  <a:latin typeface="Helvetica Neue Medium"/>
                </a:rPr>
                <a:t>optimization</a:t>
              </a:r>
              <a:r>
                <a:rPr lang="de-DE" sz="2800" spc="-1" dirty="0" smtClean="0">
                  <a:solidFill>
                    <a:schemeClr val="dk1"/>
                  </a:solidFill>
                  <a:latin typeface="Helvetica Neue Medium"/>
                </a:rPr>
                <a:t> </a:t>
              </a:r>
              <a:r>
                <a:rPr lang="de-DE" sz="2800" spc="-1" dirty="0" err="1" smtClean="0">
                  <a:solidFill>
                    <a:schemeClr val="dk1"/>
                  </a:solidFill>
                  <a:latin typeface="Helvetica Neue Medium"/>
                </a:rPr>
                <a:t>algorithm</a:t>
              </a:r>
              <a:endParaRPr lang="de-DE" sz="2800" spc="-1" dirty="0" smtClean="0">
                <a:solidFill>
                  <a:schemeClr val="dk1"/>
                </a:solidFill>
                <a:latin typeface="Helvetica Neue Medium"/>
              </a:endParaRPr>
            </a:p>
            <a:p>
              <a:pPr marL="342900" indent="-342900" defTabSz="914400">
                <a:lnSpc>
                  <a:spcPct val="100000"/>
                </a:lnSpc>
                <a:buFont typeface="Arial" panose="020B0604020202020204" pitchFamily="34" charset="0"/>
                <a:buChar char="•"/>
              </a:pPr>
              <a:r>
                <a:rPr lang="de-DE" sz="2800" b="0" strike="noStrike" spc="-1" dirty="0" smtClean="0">
                  <a:solidFill>
                    <a:schemeClr val="dk1"/>
                  </a:solidFill>
                  <a:latin typeface="Helvetica Neue Medium"/>
                </a:rPr>
                <a:t>ODE </a:t>
              </a:r>
              <a:r>
                <a:rPr lang="de-DE" sz="2800" b="0" strike="noStrike" spc="-1" dirty="0" err="1" smtClean="0">
                  <a:solidFill>
                    <a:schemeClr val="dk1"/>
                  </a:solidFill>
                  <a:latin typeface="Helvetica Neue Medium"/>
                </a:rPr>
                <a:t>integration</a:t>
              </a:r>
              <a:endParaRPr lang="en-US" sz="2800" b="0" strike="noStrike" spc="-1" dirty="0">
                <a:solidFill>
                  <a:srgbClr val="000000"/>
                </a:solidFill>
                <a:latin typeface="Calibri"/>
              </a:endParaRPr>
            </a:p>
          </p:txBody>
        </p:sp>
        <p:grpSp>
          <p:nvGrpSpPr>
            <p:cNvPr id="15" name="Gruppieren 14"/>
            <p:cNvGrpSpPr/>
            <p:nvPr/>
          </p:nvGrpSpPr>
          <p:grpSpPr>
            <a:xfrm>
              <a:off x="9000000" y="3787570"/>
              <a:ext cx="3600000" cy="5040000"/>
              <a:chOff x="9372575" y="3807815"/>
              <a:chExt cx="3489340" cy="4777793"/>
            </a:xfrm>
          </p:grpSpPr>
          <p:sp>
            <p:nvSpPr>
              <p:cNvPr id="83" name="Abgerundetes Rechteck 87"/>
              <p:cNvSpPr/>
              <p:nvPr/>
            </p:nvSpPr>
            <p:spPr>
              <a:xfrm>
                <a:off x="9372575" y="3807815"/>
                <a:ext cx="3489340" cy="4777793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 w="1270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horzOverflow="overflow" lIns="50760" tIns="50760" rIns="50760" bIns="50760" numCol="1" spcCol="38160" anchor="ctr">
                <a:noAutofit/>
              </a:bodyPr>
              <a:lstStyle/>
              <a:p>
                <a:pPr algn="ctr" defTabSz="58428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800" b="1" strike="noStrike" spc="-1" dirty="0" smtClean="0">
                  <a:solidFill>
                    <a:srgbClr val="FFFFFF"/>
                  </a:solidFill>
                  <a:latin typeface="Calibri"/>
                </a:endParaRPr>
              </a:p>
              <a:p>
                <a:pPr algn="ctr" defTabSz="58428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2800" b="1" strike="noStrike" spc="-1" dirty="0">
                  <a:solidFill>
                    <a:srgbClr val="FFFFFF"/>
                  </a:solidFill>
                  <a:latin typeface="Calibri"/>
                </a:endParaRPr>
              </a:p>
              <a:p>
                <a:pPr algn="ctr" defTabSz="584280">
                  <a:lnSpc>
                    <a:spcPct val="100000"/>
                  </a:lnSpc>
                  <a:tabLst>
                    <a:tab pos="0" algn="l"/>
                  </a:tabLst>
                </a:pPr>
                <a:endParaRPr lang="de-DE" sz="2800" b="1" spc="-1" dirty="0" smtClean="0">
                  <a:solidFill>
                    <a:srgbClr val="FFFFFF"/>
                  </a:solidFill>
                  <a:latin typeface="Helvetica Neue Medium"/>
                  <a:ea typeface="Helvetica Neue Medium"/>
                </a:endParaRPr>
              </a:p>
              <a:p>
                <a:pPr algn="ctr" defTabSz="58428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de-DE" sz="2800" b="1" spc="-1" dirty="0">
                    <a:solidFill>
                      <a:srgbClr val="FFFFFF"/>
                    </a:solidFill>
                    <a:latin typeface="Helvetica Neue Medium"/>
                    <a:ea typeface="Helvetica Neue Medium"/>
                  </a:rPr>
                  <a:t>R</a:t>
                </a:r>
                <a:r>
                  <a:rPr lang="de-DE" sz="2800" b="1" spc="-1" dirty="0" smtClean="0">
                    <a:solidFill>
                      <a:srgbClr val="FFFFFF"/>
                    </a:solidFill>
                    <a:latin typeface="Helvetica Neue Medium"/>
                    <a:ea typeface="Helvetica Neue Medium"/>
                  </a:rPr>
                  <a:t>einforcement</a:t>
                </a:r>
                <a:br>
                  <a:rPr lang="de-DE" sz="2800" b="1" spc="-1" dirty="0" smtClean="0">
                    <a:solidFill>
                      <a:srgbClr val="FFFFFF"/>
                    </a:solidFill>
                    <a:latin typeface="Helvetica Neue Medium"/>
                    <a:ea typeface="Helvetica Neue Medium"/>
                  </a:rPr>
                </a:br>
                <a:r>
                  <a:rPr lang="de-DE" sz="2800" b="1" spc="-1" dirty="0">
                    <a:solidFill>
                      <a:srgbClr val="FFFFFF"/>
                    </a:solidFill>
                    <a:latin typeface="Helvetica Neue Medium"/>
                    <a:ea typeface="Helvetica Neue Medium"/>
                  </a:rPr>
                  <a:t>L</a:t>
                </a:r>
                <a:r>
                  <a:rPr lang="de-DE" sz="2800" b="1" spc="-1" dirty="0" smtClean="0">
                    <a:solidFill>
                      <a:srgbClr val="FFFFFF"/>
                    </a:solidFill>
                    <a:latin typeface="Helvetica Neue Medium"/>
                    <a:ea typeface="Helvetica Neue Medium"/>
                  </a:rPr>
                  <a:t>earning</a:t>
                </a:r>
                <a:r>
                  <a:rPr lang="de-DE" sz="2800" b="1" strike="noStrike" spc="-1" dirty="0" smtClean="0">
                    <a:solidFill>
                      <a:srgbClr val="FFFFFF"/>
                    </a:solidFill>
                    <a:latin typeface="Helvetica Neue Medium"/>
                    <a:ea typeface="Helvetica Neue Medium"/>
                  </a:rPr>
                  <a:t> Agent</a:t>
                </a:r>
                <a:endParaRPr lang="en-US" sz="2800" b="1" strike="noStrike" spc="-1" dirty="0">
                  <a:solidFill>
                    <a:srgbClr val="FFFFFF"/>
                  </a:solidFill>
                  <a:latin typeface="Calibri"/>
                </a:endParaRPr>
              </a:p>
            </p:txBody>
          </p:sp>
          <p:pic>
            <p:nvPicPr>
              <p:cNvPr id="10" name="Grafik 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264067" y="4583472"/>
                <a:ext cx="1706354" cy="1706355"/>
              </a:xfrm>
              <a:prstGeom prst="rect">
                <a:avLst/>
              </a:prstGeom>
            </p:spPr>
          </p:pic>
        </p:grpSp>
        <p:grpSp>
          <p:nvGrpSpPr>
            <p:cNvPr id="18" name="Gruppieren 17"/>
            <p:cNvGrpSpPr/>
            <p:nvPr/>
          </p:nvGrpSpPr>
          <p:grpSpPr>
            <a:xfrm>
              <a:off x="2160000" y="3787570"/>
              <a:ext cx="5040000" cy="5040000"/>
              <a:chOff x="2481942" y="3723863"/>
              <a:chExt cx="5040000" cy="5040000"/>
            </a:xfrm>
          </p:grpSpPr>
          <p:sp>
            <p:nvSpPr>
              <p:cNvPr id="93" name="Rechteck 97"/>
              <p:cNvSpPr/>
              <p:nvPr/>
            </p:nvSpPr>
            <p:spPr>
              <a:xfrm>
                <a:off x="2481942" y="3723863"/>
                <a:ext cx="5040000" cy="504000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horzOverflow="overflow" lIns="180000" tIns="72000" rIns="180000" bIns="72000" numCol="1" spcCol="38160" anchor="t">
                <a:noAutofit/>
              </a:bodyPr>
              <a:lstStyle/>
              <a:p>
                <a:pPr algn="ctr" defTabSz="58428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de-DE" sz="2800" b="1" spc="-1" dirty="0">
                    <a:solidFill>
                      <a:srgbClr val="000000"/>
                    </a:solidFill>
                  </a:rPr>
                  <a:t>Parameter </a:t>
                </a:r>
                <a:r>
                  <a:rPr lang="de-DE" sz="2800" b="1" spc="-1" dirty="0" err="1" smtClean="0">
                    <a:solidFill>
                      <a:srgbClr val="000000"/>
                    </a:solidFill>
                  </a:rPr>
                  <a:t>Estimation</a:t>
                </a:r>
                <a:r>
                  <a:rPr lang="de-DE" sz="2800" b="1" spc="-1" dirty="0">
                    <a:solidFill>
                      <a:srgbClr val="000000"/>
                    </a:solidFill>
                  </a:rPr>
                  <a:t/>
                </a:r>
                <a:br>
                  <a:rPr lang="de-DE" sz="2800" b="1" spc="-1" dirty="0">
                    <a:solidFill>
                      <a:srgbClr val="000000"/>
                    </a:solidFill>
                  </a:rPr>
                </a:br>
                <a:r>
                  <a:rPr lang="de-DE" sz="2800" b="1" spc="-1" dirty="0">
                    <a:solidFill>
                      <a:srgbClr val="000000"/>
                    </a:solidFill>
                  </a:rPr>
                  <a:t>in ODE </a:t>
                </a:r>
                <a:r>
                  <a:rPr lang="de-DE" sz="2800" b="1" spc="-1" dirty="0" smtClean="0">
                    <a:solidFill>
                      <a:srgbClr val="000000"/>
                    </a:solidFill>
                  </a:rPr>
                  <a:t>Models</a:t>
                </a:r>
                <a:endParaRPr lang="en-US" sz="2800" b="1" spc="-1" dirty="0">
                  <a:solidFill>
                    <a:srgbClr val="000000"/>
                  </a:solidFill>
                  <a:latin typeface="Calibri"/>
                </a:endParaRPr>
              </a:p>
            </p:txBody>
          </p:sp>
          <p:grpSp>
            <p:nvGrpSpPr>
              <p:cNvPr id="14" name="Gruppieren 13"/>
              <p:cNvGrpSpPr/>
              <p:nvPr/>
            </p:nvGrpSpPr>
            <p:grpSpPr>
              <a:xfrm>
                <a:off x="2939575" y="4762256"/>
                <a:ext cx="3878704" cy="3510536"/>
                <a:chOff x="2913896" y="4877148"/>
                <a:chExt cx="3878704" cy="351053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" name="Textfeld 109"/>
                    <p:cNvSpPr/>
                    <p:nvPr/>
                  </p:nvSpPr>
                  <p:spPr>
                    <a:xfrm>
                      <a:off x="4263635" y="7989029"/>
                      <a:ext cx="1635810" cy="398655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2000" b="0" strike="noStrike" spc="-1" dirty="0" smtClean="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</a:rPr>
                        <a:t>parameter</a:t>
                      </a:r>
                      <a:r>
                        <a:rPr lang="de-DE" sz="2000" b="0" strike="noStrike" spc="-1" dirty="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</a:rPr>
                        <a:t>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b="0" i="1" strike="noStrike" spc="-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Helvetica Neue Medium"/>
                                </a:rPr>
                              </m:ctrlPr>
                            </m:sSubPr>
                            <m:e>
                              <m:r>
                                <a:rPr lang="de-DE" sz="2000" b="0" i="1" strike="noStrike" spc="-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Helvetica Neue Medium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e-DE" sz="2000" b="0" i="1" strike="noStrike" spc="-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Helvetica Neue Medium"/>
                                </a:rPr>
                                <m:t>𝑖</m:t>
                              </m:r>
                            </m:sub>
                          </m:sSub>
                        </m:oMath>
                      </a14:m>
                      <a:endParaRPr lang="en-US" sz="2000" b="0" strike="noStrike" spc="-1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105" name="Textfeld 10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63635" y="7989029"/>
                      <a:ext cx="1635810" cy="398655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4104" t="-10769" b="-24615"/>
                      </a:stretch>
                    </a:blipFill>
                    <a:ln w="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7" name="Textfeld 111"/>
                    <p:cNvSpPr/>
                    <p:nvPr/>
                  </p:nvSpPr>
                  <p:spPr>
                    <a:xfrm rot="16200000">
                      <a:off x="2272652" y="6225598"/>
                      <a:ext cx="1705829" cy="423342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wrap="none" lIns="90000" tIns="45000" rIns="90000" bIns="45000" anchor="t">
                      <a:spAutoFit/>
                    </a:bodyPr>
                    <a:lstStyle/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de-DE" sz="2000" b="0" strike="noStrike" spc="-1" dirty="0" smtClean="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</a:rPr>
                        <a:t>parameter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b="0" i="1" strike="noStrike" spc="-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Helvetica Neue Medium"/>
                                </a:rPr>
                              </m:ctrlPr>
                            </m:sSubPr>
                            <m:e>
                              <m:r>
                                <a:rPr lang="de-DE" sz="2000" b="0" i="1" strike="noStrike" spc="-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Helvetica Neue Medium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de-DE" sz="2000" b="0" i="1" strike="noStrike" spc="-1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Helvetica Neue Medium"/>
                                </a:rPr>
                                <m:t>𝑗</m:t>
                              </m:r>
                            </m:sub>
                          </m:sSub>
                        </m:oMath>
                      </a14:m>
                      <a:r>
                        <a:rPr lang="de-DE" sz="2000" b="0" strike="noStrike" spc="-1" dirty="0" smtClean="0">
                          <a:solidFill>
                            <a:schemeClr val="dk1"/>
                          </a:solidFill>
                          <a:latin typeface="Helvetica Neue Medium"/>
                          <a:ea typeface="Helvetica Neue Medium"/>
                        </a:rPr>
                        <a:t> </a:t>
                      </a:r>
                      <a:endParaRPr lang="en-US" sz="2000" b="0" strike="noStrike" spc="-1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p:txBody>
                </p:sp>
              </mc:Choice>
              <mc:Fallback xmlns="">
                <p:sp>
                  <p:nvSpPr>
                    <p:cNvPr id="107" name="Textfeld 11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6200000">
                      <a:off x="2272652" y="6225598"/>
                      <a:ext cx="1705829" cy="42334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8571" r="-18571" b="-3929"/>
                      </a:stretch>
                    </a:blipFill>
                    <a:ln w="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de-DE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13" name="Gruppieren 12"/>
                <p:cNvGrpSpPr/>
                <p:nvPr/>
              </p:nvGrpSpPr>
              <p:grpSpPr>
                <a:xfrm>
                  <a:off x="3338162" y="4877148"/>
                  <a:ext cx="3454438" cy="3111880"/>
                  <a:chOff x="3338162" y="4877148"/>
                  <a:chExt cx="3454438" cy="3111880"/>
                </a:xfrm>
              </p:grpSpPr>
              <p:pic>
                <p:nvPicPr>
                  <p:cNvPr id="64" name="Grafik 93"/>
                  <p:cNvPicPr/>
                  <p:nvPr/>
                </p:nvPicPr>
                <p:blipFill rotWithShape="1">
                  <a:blip r:embed="rId6"/>
                  <a:srcRect l="16006" t="3059" r="2664" b="2991"/>
                  <a:stretch/>
                </p:blipFill>
                <p:spPr>
                  <a:xfrm rot="10800000">
                    <a:off x="3338162" y="4877148"/>
                    <a:ext cx="3454438" cy="3111880"/>
                  </a:xfrm>
                  <a:prstGeom prst="rect">
                    <a:avLst/>
                  </a:prstGeom>
                  <a:ln w="0">
                    <a:solidFill>
                      <a:schemeClr val="tx1"/>
                    </a:solidFill>
                  </a:ln>
                </p:spPr>
              </p:pic>
              <p:sp>
                <p:nvSpPr>
                  <p:cNvPr id="95" name="Textfeld 99"/>
                  <p:cNvSpPr/>
                  <p:nvPr/>
                </p:nvSpPr>
                <p:spPr>
                  <a:xfrm>
                    <a:off x="3875557" y="7314558"/>
                    <a:ext cx="382005" cy="521766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 defTabSz="914400">
                      <a:lnSpc>
                        <a:spcPct val="100000"/>
                      </a:lnSpc>
                    </a:pPr>
                    <a:r>
                      <a:rPr lang="de-DE" sz="2800" b="1" strike="noStrike" spc="-1" dirty="0">
                        <a:solidFill>
                          <a:schemeClr val="dk1"/>
                        </a:solidFill>
                        <a:latin typeface="Helvetica Neue Medium"/>
                        <a:ea typeface="Helvetica Neue Medium"/>
                      </a:rPr>
                      <a:t>x</a:t>
                    </a:r>
                    <a:endParaRPr lang="en-US" sz="2800" b="1" strike="noStrike" spc="-1" dirty="0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104" name="Textfeld 108"/>
                  <p:cNvSpPr/>
                  <p:nvPr/>
                </p:nvSpPr>
                <p:spPr>
                  <a:xfrm>
                    <a:off x="6123131" y="5277660"/>
                    <a:ext cx="270265" cy="521766"/>
                  </a:xfrm>
                  <a:prstGeom prst="rect">
                    <a:avLst/>
                  </a:prstGeom>
                  <a:noFill/>
                  <a:ln w="3810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>
                    <a:spAutoFit/>
                  </a:bodyPr>
                  <a:lstStyle/>
                  <a:p>
                    <a:pPr defTabSz="914400">
                      <a:lnSpc>
                        <a:spcPct val="100000"/>
                      </a:lnSpc>
                    </a:pPr>
                    <a:r>
                      <a:rPr lang="de-DE" sz="2800" b="1" strike="noStrike" spc="-1" dirty="0">
                        <a:solidFill>
                          <a:srgbClr val="FF0000"/>
                        </a:solidFill>
                        <a:latin typeface="Helvetica Neue Medium"/>
                        <a:ea typeface="Helvetica Neue Medium"/>
                      </a:rPr>
                      <a:t>x</a:t>
                    </a:r>
                    <a:endParaRPr lang="en-US" sz="2800" b="1" strike="noStrike" spc="-1" dirty="0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  <p:grpSp>
                <p:nvGrpSpPr>
                  <p:cNvPr id="12" name="Gruppieren 11"/>
                  <p:cNvGrpSpPr/>
                  <p:nvPr/>
                </p:nvGrpSpPr>
                <p:grpSpPr>
                  <a:xfrm>
                    <a:off x="3679442" y="5593550"/>
                    <a:ext cx="2829464" cy="1847761"/>
                    <a:chOff x="3679442" y="5593550"/>
                    <a:chExt cx="2829464" cy="1847761"/>
                  </a:xfrm>
                </p:grpSpPr>
                <p:cxnSp>
                  <p:nvCxnSpPr>
                    <p:cNvPr id="96" name="Gerade Verbindung mit Pfeil 100"/>
                    <p:cNvCxnSpPr/>
                    <p:nvPr/>
                  </p:nvCxnSpPr>
                  <p:spPr>
                    <a:xfrm>
                      <a:off x="4059892" y="5604684"/>
                      <a:ext cx="328475" cy="113478"/>
                    </a:xfrm>
                    <a:prstGeom prst="straightConnector1">
                      <a:avLst/>
                    </a:prstGeom>
                    <a:ln w="38100">
                      <a:solidFill>
                        <a:srgbClr val="000000"/>
                      </a:solidFill>
                      <a:round/>
                      <a:tailEnd type="triangle" w="med" len="med"/>
                    </a:ln>
                  </p:spPr>
                </p:cxnSp>
                <p:cxnSp>
                  <p:nvCxnSpPr>
                    <p:cNvPr id="97" name="Gerade Verbindung mit Pfeil 101"/>
                    <p:cNvCxnSpPr/>
                    <p:nvPr/>
                  </p:nvCxnSpPr>
                  <p:spPr>
                    <a:xfrm>
                      <a:off x="4393564" y="5724585"/>
                      <a:ext cx="176711" cy="146879"/>
                    </a:xfrm>
                    <a:prstGeom prst="straightConnector1">
                      <a:avLst/>
                    </a:prstGeom>
                    <a:ln w="38100">
                      <a:solidFill>
                        <a:srgbClr val="000000"/>
                      </a:solidFill>
                      <a:round/>
                      <a:tailEnd type="triangle" w="med" len="med"/>
                    </a:ln>
                  </p:spPr>
                </p:cxnSp>
                <p:cxnSp>
                  <p:nvCxnSpPr>
                    <p:cNvPr id="98" name="Gerade Verbindung mit Pfeil 102"/>
                    <p:cNvCxnSpPr/>
                    <p:nvPr/>
                  </p:nvCxnSpPr>
                  <p:spPr>
                    <a:xfrm>
                      <a:off x="4569929" y="5877887"/>
                      <a:ext cx="176711" cy="147307"/>
                    </a:xfrm>
                    <a:prstGeom prst="straightConnector1">
                      <a:avLst/>
                    </a:prstGeom>
                    <a:ln w="38100">
                      <a:solidFill>
                        <a:srgbClr val="000000"/>
                      </a:solidFill>
                      <a:round/>
                      <a:tailEnd type="triangle" w="med" len="med"/>
                    </a:ln>
                  </p:spPr>
                </p:cxnSp>
                <p:cxnSp>
                  <p:nvCxnSpPr>
                    <p:cNvPr id="99" name="Gerade Verbindung mit Pfeil 103"/>
                    <p:cNvCxnSpPr/>
                    <p:nvPr/>
                  </p:nvCxnSpPr>
                  <p:spPr>
                    <a:xfrm>
                      <a:off x="5124665" y="6112122"/>
                      <a:ext cx="657298" cy="428"/>
                    </a:xfrm>
                    <a:prstGeom prst="straightConnector1">
                      <a:avLst/>
                    </a:prstGeom>
                    <a:ln w="38100">
                      <a:solidFill>
                        <a:srgbClr val="000000"/>
                      </a:solidFill>
                      <a:round/>
                      <a:tailEnd type="triangle" w="med" len="med"/>
                    </a:ln>
                  </p:spPr>
                </p:cxnSp>
                <p:cxnSp>
                  <p:nvCxnSpPr>
                    <p:cNvPr id="100" name="Gerade Verbindung mit Pfeil 104"/>
                    <p:cNvCxnSpPr/>
                    <p:nvPr/>
                  </p:nvCxnSpPr>
                  <p:spPr>
                    <a:xfrm flipV="1">
                      <a:off x="5783696" y="6028620"/>
                      <a:ext cx="603591" cy="83931"/>
                    </a:xfrm>
                    <a:prstGeom prst="straightConnector1">
                      <a:avLst/>
                    </a:prstGeom>
                    <a:ln w="38100">
                      <a:solidFill>
                        <a:srgbClr val="000000"/>
                      </a:solidFill>
                      <a:round/>
                      <a:tailEnd type="triangle" w="med" len="med"/>
                    </a:ln>
                  </p:spPr>
                </p:cxnSp>
                <p:cxnSp>
                  <p:nvCxnSpPr>
                    <p:cNvPr id="101" name="Gerade Verbindung mit Pfeil 105"/>
                    <p:cNvCxnSpPr/>
                    <p:nvPr/>
                  </p:nvCxnSpPr>
                  <p:spPr>
                    <a:xfrm flipV="1">
                      <a:off x="6397335" y="5722444"/>
                      <a:ext cx="111571" cy="295042"/>
                    </a:xfrm>
                    <a:prstGeom prst="straightConnector1">
                      <a:avLst/>
                    </a:prstGeom>
                    <a:ln w="38100">
                      <a:solidFill>
                        <a:srgbClr val="000000"/>
                      </a:solidFill>
                      <a:round/>
                      <a:tailEnd type="triangle" w="med" len="med"/>
                    </a:ln>
                  </p:spPr>
                </p:cxnSp>
                <p:cxnSp>
                  <p:nvCxnSpPr>
                    <p:cNvPr id="102" name="Gerade Verbindung mit Pfeil 106"/>
                    <p:cNvCxnSpPr/>
                    <p:nvPr/>
                  </p:nvCxnSpPr>
                  <p:spPr>
                    <a:xfrm flipH="1" flipV="1">
                      <a:off x="6442032" y="5593550"/>
                      <a:ext cx="50934" cy="128465"/>
                    </a:xfrm>
                    <a:prstGeom prst="straightConnector1">
                      <a:avLst/>
                    </a:prstGeom>
                    <a:ln w="38100">
                      <a:solidFill>
                        <a:srgbClr val="000000"/>
                      </a:solidFill>
                      <a:round/>
                      <a:tailEnd type="triangle" w="med" len="med"/>
                    </a:ln>
                  </p:spPr>
                </p:cxnSp>
                <p:cxnSp>
                  <p:nvCxnSpPr>
                    <p:cNvPr id="103" name="Gerade Verbindung mit Pfeil 107"/>
                    <p:cNvCxnSpPr/>
                    <p:nvPr/>
                  </p:nvCxnSpPr>
                  <p:spPr>
                    <a:xfrm>
                      <a:off x="4768123" y="6009778"/>
                      <a:ext cx="322931" cy="129750"/>
                    </a:xfrm>
                    <a:prstGeom prst="straightConnector1">
                      <a:avLst/>
                    </a:prstGeom>
                    <a:ln w="38100">
                      <a:solidFill>
                        <a:srgbClr val="000000"/>
                      </a:solidFill>
                      <a:round/>
                      <a:tailEnd type="triangle" w="med" len="med"/>
                    </a:ln>
                  </p:spPr>
                </p:cxnSp>
                <p:cxnSp>
                  <p:nvCxnSpPr>
                    <p:cNvPr id="109" name="Gerade Verbindung mit Pfeil 113"/>
                    <p:cNvCxnSpPr/>
                    <p:nvPr/>
                  </p:nvCxnSpPr>
                  <p:spPr>
                    <a:xfrm flipH="1" flipV="1">
                      <a:off x="3679442" y="6405452"/>
                      <a:ext cx="342335" cy="1035859"/>
                    </a:xfrm>
                    <a:prstGeom prst="straightConnector1">
                      <a:avLst/>
                    </a:prstGeom>
                    <a:ln w="38100">
                      <a:solidFill>
                        <a:srgbClr val="000000"/>
                      </a:solidFill>
                      <a:round/>
                      <a:tailEnd type="triangle" w="med" len="med"/>
                    </a:ln>
                  </p:spPr>
                </p:cxnSp>
                <p:cxnSp>
                  <p:nvCxnSpPr>
                    <p:cNvPr id="110" name="Gerade Verbindung mit Pfeil 114"/>
                    <p:cNvCxnSpPr/>
                    <p:nvPr/>
                  </p:nvCxnSpPr>
                  <p:spPr>
                    <a:xfrm flipV="1">
                      <a:off x="3685678" y="5835065"/>
                      <a:ext cx="13167" cy="568673"/>
                    </a:xfrm>
                    <a:prstGeom prst="straightConnector1">
                      <a:avLst/>
                    </a:prstGeom>
                    <a:ln w="38100">
                      <a:solidFill>
                        <a:srgbClr val="000000"/>
                      </a:solidFill>
                      <a:round/>
                      <a:tailEnd type="triangle" w="med" len="med"/>
                    </a:ln>
                  </p:spPr>
                </p:cxnSp>
                <p:cxnSp>
                  <p:nvCxnSpPr>
                    <p:cNvPr id="111" name="Gerade Verbindung mit Pfeil 115"/>
                    <p:cNvCxnSpPr/>
                    <p:nvPr/>
                  </p:nvCxnSpPr>
                  <p:spPr>
                    <a:xfrm flipV="1">
                      <a:off x="3698499" y="5594407"/>
                      <a:ext cx="315655" cy="231666"/>
                    </a:xfrm>
                    <a:prstGeom prst="straightConnector1">
                      <a:avLst/>
                    </a:prstGeom>
                    <a:ln w="38100">
                      <a:solidFill>
                        <a:srgbClr val="000000"/>
                      </a:solidFill>
                      <a:round/>
                      <a:tailEnd type="triangle" w="med" len="med"/>
                    </a:ln>
                  </p:spPr>
                </p:cxnSp>
              </p:grpSp>
            </p:grpSp>
          </p:grpSp>
        </p:grpSp>
        <p:cxnSp>
          <p:nvCxnSpPr>
            <p:cNvPr id="22" name="Gewinkelter Verbinder 21"/>
            <p:cNvCxnSpPr>
              <a:stCxn id="83" idx="0"/>
              <a:endCxn id="93" idx="0"/>
            </p:cNvCxnSpPr>
            <p:nvPr/>
          </p:nvCxnSpPr>
          <p:spPr>
            <a:xfrm rot="16200000" flipV="1">
              <a:off x="7739150" y="726720"/>
              <a:ext cx="14400" cy="6120000"/>
            </a:xfrm>
            <a:prstGeom prst="bentConnector3">
              <a:avLst>
                <a:gd name="adj1" fmla="val 4384622"/>
              </a:avLst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Gewinkelter Verbinder 105"/>
            <p:cNvCxnSpPr>
              <a:stCxn id="93" idx="2"/>
              <a:endCxn id="83" idx="2"/>
            </p:cNvCxnSpPr>
            <p:nvPr/>
          </p:nvCxnSpPr>
          <p:spPr>
            <a:xfrm rot="16200000" flipH="1">
              <a:off x="7740000" y="5767570"/>
              <a:ext cx="12700" cy="6120000"/>
            </a:xfrm>
            <a:prstGeom prst="bentConnector3">
              <a:avLst>
                <a:gd name="adj1" fmla="val 3646157"/>
              </a:avLst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uppieren 5"/>
          <p:cNvGrpSpPr/>
          <p:nvPr/>
        </p:nvGrpSpPr>
        <p:grpSpPr>
          <a:xfrm>
            <a:off x="11732492" y="3011631"/>
            <a:ext cx="10653784" cy="8280000"/>
            <a:chOff x="11732492" y="3011631"/>
            <a:chExt cx="10653784" cy="8280000"/>
          </a:xfrm>
        </p:grpSpPr>
        <p:sp>
          <p:nvSpPr>
            <p:cNvPr id="113" name="Rechteck 117"/>
            <p:cNvSpPr/>
            <p:nvPr/>
          </p:nvSpPr>
          <p:spPr>
            <a:xfrm>
              <a:off x="12144197" y="5912776"/>
              <a:ext cx="1910373" cy="107576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de-DE" sz="3200" b="1" strike="noStrike" spc="-1" dirty="0" err="1" smtClean="0">
                  <a:solidFill>
                    <a:schemeClr val="dk1"/>
                  </a:solidFill>
                  <a:latin typeface="Helvetica Neue Medium"/>
                  <a:ea typeface="Helvetica Neue Medium"/>
                </a:rPr>
                <a:t>Meta</a:t>
              </a:r>
              <a:r>
                <a:rPr lang="de-DE" sz="3200" b="1" spc="-1" dirty="0">
                  <a:solidFill>
                    <a:schemeClr val="dk1"/>
                  </a:solidFill>
                  <a:latin typeface="Helvetica Neue Medium"/>
                  <a:ea typeface="Helvetica Neue Medium"/>
                </a:rPr>
                <a:t/>
              </a:r>
              <a:br>
                <a:rPr lang="de-DE" sz="3200" b="1" spc="-1" dirty="0">
                  <a:solidFill>
                    <a:schemeClr val="dk1"/>
                  </a:solidFill>
                  <a:latin typeface="Helvetica Neue Medium"/>
                  <a:ea typeface="Helvetica Neue Medium"/>
                </a:rPr>
              </a:br>
              <a:r>
                <a:rPr lang="de-DE" sz="3200" b="1" spc="-1" dirty="0">
                  <a:solidFill>
                    <a:schemeClr val="dk1"/>
                  </a:solidFill>
                  <a:latin typeface="Helvetica Neue Medium"/>
                  <a:ea typeface="Helvetica Neue Medium"/>
                </a:rPr>
                <a:t>L</a:t>
              </a:r>
              <a:r>
                <a:rPr lang="de-DE" sz="3200" b="1" strike="noStrike" spc="-1" dirty="0" smtClean="0">
                  <a:solidFill>
                    <a:schemeClr val="dk1"/>
                  </a:solidFill>
                  <a:latin typeface="Helvetica Neue Medium"/>
                  <a:ea typeface="Helvetica Neue Medium"/>
                </a:rPr>
                <a:t>earning</a:t>
              </a:r>
              <a:endParaRPr lang="en-US" sz="3200" b="1" strike="noStrike" spc="-1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" name="Rechteck 16"/>
            <p:cNvSpPr/>
            <p:nvPr/>
          </p:nvSpPr>
          <p:spPr>
            <a:xfrm>
              <a:off x="14466276" y="3011631"/>
              <a:ext cx="7920000" cy="8280000"/>
            </a:xfrm>
            <a:prstGeom prst="rect">
              <a:avLst/>
            </a:prstGeom>
            <a:noFill/>
            <a:ln w="1016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72000" rIns="180000" bIns="72000" rtlCol="0" anchor="t"/>
            <a:lstStyle/>
            <a:p>
              <a:pPr algn="ctr"/>
              <a:r>
                <a:rPr lang="de-DE" sz="3200" b="1" dirty="0" err="1" smtClean="0">
                  <a:solidFill>
                    <a:schemeClr val="tx1"/>
                  </a:solidFill>
                </a:rPr>
                <a:t>Many</a:t>
              </a:r>
              <a:r>
                <a:rPr lang="de-DE" sz="3200" b="1" dirty="0" smtClean="0">
                  <a:solidFill>
                    <a:schemeClr val="tx1"/>
                  </a:solidFill>
                </a:rPr>
                <a:t> </a:t>
              </a:r>
              <a:r>
                <a:rPr lang="de-DE" sz="3200" b="1" dirty="0" err="1" smtClean="0">
                  <a:solidFill>
                    <a:schemeClr val="tx1"/>
                  </a:solidFill>
                </a:rPr>
                <a:t>Similar</a:t>
              </a:r>
              <a:r>
                <a:rPr lang="de-DE" sz="3200" b="1" dirty="0">
                  <a:solidFill>
                    <a:schemeClr val="tx1"/>
                  </a:solidFill>
                </a:rPr>
                <a:t/>
              </a:r>
              <a:br>
                <a:rPr lang="de-DE" sz="3200" b="1" dirty="0">
                  <a:solidFill>
                    <a:schemeClr val="tx1"/>
                  </a:solidFill>
                </a:rPr>
              </a:br>
              <a:r>
                <a:rPr lang="de-DE" sz="3200" b="1" dirty="0" smtClean="0">
                  <a:solidFill>
                    <a:schemeClr val="tx1"/>
                  </a:solidFill>
                </a:rPr>
                <a:t>Parameter </a:t>
              </a:r>
              <a:r>
                <a:rPr lang="de-DE" sz="3200" b="1" dirty="0" err="1" smtClean="0">
                  <a:solidFill>
                    <a:schemeClr val="tx1"/>
                  </a:solidFill>
                </a:rPr>
                <a:t>Estimation</a:t>
              </a:r>
              <a:r>
                <a:rPr lang="de-DE" sz="3200" b="1" dirty="0">
                  <a:solidFill>
                    <a:schemeClr val="tx1"/>
                  </a:solidFill>
                </a:rPr>
                <a:t> </a:t>
              </a:r>
              <a:r>
                <a:rPr lang="de-DE" sz="3200" b="1" dirty="0" smtClean="0">
                  <a:solidFill>
                    <a:schemeClr val="tx1"/>
                  </a:solidFill>
                </a:rPr>
                <a:t>Problems</a:t>
              </a:r>
              <a:endParaRPr lang="de-DE" sz="3200" dirty="0">
                <a:solidFill>
                  <a:schemeClr val="tx1"/>
                </a:solidFill>
              </a:endParaRPr>
            </a:p>
            <a:p>
              <a:endParaRPr lang="de-DE" sz="3200" b="1" dirty="0" smtClean="0">
                <a:solidFill>
                  <a:schemeClr val="tx1"/>
                </a:solidFill>
              </a:endParaRPr>
            </a:p>
            <a:p>
              <a:endParaRPr lang="de-DE" sz="3200" b="1" dirty="0">
                <a:solidFill>
                  <a:schemeClr val="tx1"/>
                </a:solidFill>
              </a:endParaRPr>
            </a:p>
            <a:p>
              <a:endParaRPr lang="de-DE" sz="3200" b="1" dirty="0" smtClean="0">
                <a:solidFill>
                  <a:schemeClr val="tx1"/>
                </a:solidFill>
              </a:endParaRPr>
            </a:p>
            <a:p>
              <a:endParaRPr lang="de-DE" sz="3200" b="1" dirty="0">
                <a:solidFill>
                  <a:schemeClr val="tx1"/>
                </a:solidFill>
              </a:endParaRPr>
            </a:p>
            <a:p>
              <a:endParaRPr lang="de-DE" sz="3200" b="1" dirty="0" smtClean="0">
                <a:solidFill>
                  <a:schemeClr val="tx1"/>
                </a:solidFill>
              </a:endParaRPr>
            </a:p>
            <a:p>
              <a:endParaRPr lang="de-DE" sz="3200" b="1" dirty="0">
                <a:solidFill>
                  <a:schemeClr val="tx1"/>
                </a:solidFill>
              </a:endParaRPr>
            </a:p>
            <a:p>
              <a:endParaRPr lang="de-DE" sz="3200" b="1" dirty="0" smtClean="0">
                <a:solidFill>
                  <a:schemeClr val="tx1"/>
                </a:solidFill>
              </a:endParaRPr>
            </a:p>
            <a:p>
              <a:endParaRPr lang="de-DE" sz="3200" b="1" dirty="0" smtClean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de-DE" sz="3200" b="1" dirty="0">
                  <a:solidFill>
                    <a:schemeClr val="tx1"/>
                  </a:solidFill>
                </a:rPr>
                <a:t>Goal:</a:t>
              </a:r>
            </a:p>
            <a:p>
              <a:pPr>
                <a:lnSpc>
                  <a:spcPct val="150000"/>
                </a:lnSpc>
              </a:pPr>
              <a:r>
                <a:rPr lang="de-DE" sz="3200" b="1" dirty="0">
                  <a:solidFill>
                    <a:schemeClr val="tx1"/>
                  </a:solidFill>
                </a:rPr>
                <a:t>	20 </a:t>
              </a:r>
              <a:r>
                <a:rPr lang="de-DE" sz="3200" b="1" dirty="0" err="1">
                  <a:solidFill>
                    <a:schemeClr val="tx1"/>
                  </a:solidFill>
                </a:rPr>
                <a:t>existing</a:t>
              </a:r>
              <a:r>
                <a:rPr lang="de-DE" sz="3200" b="1" dirty="0">
                  <a:solidFill>
                    <a:schemeClr val="tx1"/>
                  </a:solidFill>
                </a:rPr>
                <a:t> ODE </a:t>
              </a:r>
              <a:r>
                <a:rPr lang="de-DE" sz="3200" b="1" dirty="0" err="1">
                  <a:solidFill>
                    <a:schemeClr val="tx1"/>
                  </a:solidFill>
                </a:rPr>
                <a:t>systems</a:t>
              </a:r>
              <a:endParaRPr lang="de-DE" sz="3200" b="1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de-DE" sz="3200" b="1" dirty="0">
                  <a:solidFill>
                    <a:schemeClr val="tx1"/>
                  </a:solidFill>
                </a:rPr>
                <a:t>x	50 </a:t>
              </a:r>
              <a:r>
                <a:rPr lang="de-DE" sz="3200" b="1" dirty="0" err="1">
                  <a:solidFill>
                    <a:schemeClr val="tx1"/>
                  </a:solidFill>
                </a:rPr>
                <a:t>realistic</a:t>
              </a:r>
              <a:r>
                <a:rPr lang="de-DE" sz="3200" b="1" dirty="0">
                  <a:solidFill>
                    <a:schemeClr val="tx1"/>
                  </a:solidFill>
                </a:rPr>
                <a:t> </a:t>
              </a:r>
              <a:r>
                <a:rPr lang="de-DE" sz="3200" b="1" dirty="0" err="1">
                  <a:solidFill>
                    <a:schemeClr val="tx1"/>
                  </a:solidFill>
                </a:rPr>
                <a:t>synthetic</a:t>
              </a:r>
              <a:r>
                <a:rPr lang="de-DE" sz="3200" b="1" dirty="0">
                  <a:solidFill>
                    <a:schemeClr val="tx1"/>
                  </a:solidFill>
                </a:rPr>
                <a:t> </a:t>
              </a:r>
              <a:r>
                <a:rPr lang="de-DE" sz="3200" b="1" dirty="0" err="1">
                  <a:solidFill>
                    <a:schemeClr val="tx1"/>
                  </a:solidFill>
                </a:rPr>
                <a:t>data</a:t>
              </a:r>
              <a:endParaRPr lang="de-DE" sz="3200" b="1" dirty="0">
                <a:solidFill>
                  <a:schemeClr val="tx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de-DE" sz="3200" b="1" dirty="0">
                  <a:solidFill>
                    <a:schemeClr val="tx1"/>
                  </a:solidFill>
                </a:rPr>
                <a:t>=	1000 </a:t>
              </a:r>
              <a:r>
                <a:rPr lang="de-DE" sz="3200" b="1" dirty="0" err="1">
                  <a:solidFill>
                    <a:schemeClr val="tx1"/>
                  </a:solidFill>
                </a:rPr>
                <a:t>new</a:t>
              </a:r>
              <a:r>
                <a:rPr lang="de-DE" sz="3200" b="1" dirty="0">
                  <a:solidFill>
                    <a:schemeClr val="tx1"/>
                  </a:solidFill>
                </a:rPr>
                <a:t> </a:t>
              </a:r>
              <a:r>
                <a:rPr lang="de-DE" sz="3200" b="1" dirty="0" err="1">
                  <a:solidFill>
                    <a:schemeClr val="tx1"/>
                  </a:solidFill>
                </a:rPr>
                <a:t>optimization</a:t>
              </a:r>
              <a:r>
                <a:rPr lang="de-DE" sz="3200" b="1" dirty="0">
                  <a:solidFill>
                    <a:schemeClr val="tx1"/>
                  </a:solidFill>
                </a:rPr>
                <a:t> </a:t>
              </a:r>
              <a:r>
                <a:rPr lang="de-DE" sz="3200" b="1" dirty="0" err="1">
                  <a:solidFill>
                    <a:schemeClr val="tx1"/>
                  </a:solidFill>
                </a:rPr>
                <a:t>problems</a:t>
              </a:r>
              <a:endParaRPr lang="de-DE" sz="3200" b="1" dirty="0">
                <a:solidFill>
                  <a:schemeClr val="tx1"/>
                </a:solidFill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de-DE" sz="3200" b="1" dirty="0" smtClean="0">
                <a:solidFill>
                  <a:schemeClr val="tx1"/>
                </a:solidFill>
              </a:endParaRPr>
            </a:p>
            <a:p>
              <a:pPr marL="457200" indent="-457200" algn="ctr">
                <a:buFont typeface="Arial" panose="020B0604020202020204" pitchFamily="34" charset="0"/>
                <a:buChar char="•"/>
              </a:pPr>
              <a:endParaRPr lang="de-DE" sz="3200" b="1" dirty="0" smtClean="0">
                <a:solidFill>
                  <a:schemeClr val="tx1"/>
                </a:solidFill>
              </a:endParaRPr>
            </a:p>
          </p:txBody>
        </p:sp>
        <p:grpSp>
          <p:nvGrpSpPr>
            <p:cNvPr id="16" name="Gruppieren 15"/>
            <p:cNvGrpSpPr/>
            <p:nvPr/>
          </p:nvGrpSpPr>
          <p:grpSpPr>
            <a:xfrm>
              <a:off x="16502790" y="4556544"/>
              <a:ext cx="3846972" cy="3159713"/>
              <a:chOff x="14405090" y="3723863"/>
              <a:chExt cx="3846972" cy="3159713"/>
            </a:xfrm>
          </p:grpSpPr>
          <p:pic>
            <p:nvPicPr>
              <p:cNvPr id="84" name="Grafik 88"/>
              <p:cNvPicPr/>
              <p:nvPr/>
            </p:nvPicPr>
            <p:blipFill>
              <a:blip r:embed="rId6"/>
              <a:stretch/>
            </p:blipFill>
            <p:spPr>
              <a:xfrm>
                <a:off x="14405090" y="3723863"/>
                <a:ext cx="2806416" cy="2319718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85" name="Grafik 89"/>
              <p:cNvPicPr/>
              <p:nvPr/>
            </p:nvPicPr>
            <p:blipFill>
              <a:blip r:embed="rId6"/>
              <a:stretch/>
            </p:blipFill>
            <p:spPr>
              <a:xfrm>
                <a:off x="14613275" y="3891768"/>
                <a:ext cx="2806416" cy="2319718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86" name="Grafik 90"/>
              <p:cNvPicPr/>
              <p:nvPr/>
            </p:nvPicPr>
            <p:blipFill>
              <a:blip r:embed="rId6"/>
              <a:stretch/>
            </p:blipFill>
            <p:spPr>
              <a:xfrm>
                <a:off x="14821461" y="4060142"/>
                <a:ext cx="2806416" cy="2319718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87" name="Grafik 91"/>
              <p:cNvPicPr/>
              <p:nvPr/>
            </p:nvPicPr>
            <p:blipFill>
              <a:blip r:embed="rId6"/>
              <a:stretch/>
            </p:blipFill>
            <p:spPr>
              <a:xfrm>
                <a:off x="15029274" y="4228047"/>
                <a:ext cx="2806416" cy="2319718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88" name="Grafik 92"/>
              <p:cNvPicPr/>
              <p:nvPr/>
            </p:nvPicPr>
            <p:blipFill>
              <a:blip r:embed="rId6"/>
              <a:stretch/>
            </p:blipFill>
            <p:spPr>
              <a:xfrm>
                <a:off x="15237461" y="4395952"/>
                <a:ext cx="2806416" cy="2319718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89" name="Grafik 93"/>
              <p:cNvPicPr/>
              <p:nvPr/>
            </p:nvPicPr>
            <p:blipFill>
              <a:blip r:embed="rId6"/>
              <a:stretch/>
            </p:blipFill>
            <p:spPr>
              <a:xfrm>
                <a:off x="15445646" y="4563858"/>
                <a:ext cx="2806416" cy="2319718"/>
              </a:xfrm>
              <a:prstGeom prst="rect">
                <a:avLst/>
              </a:prstGeom>
              <a:ln w="0">
                <a:noFill/>
              </a:ln>
            </p:spPr>
          </p:pic>
        </p:grpSp>
        <p:cxnSp>
          <p:nvCxnSpPr>
            <p:cNvPr id="35" name="Gerade Verbindung mit Pfeil 34"/>
            <p:cNvCxnSpPr>
              <a:stCxn id="17" idx="1"/>
              <a:endCxn id="83" idx="3"/>
            </p:cNvCxnSpPr>
            <p:nvPr/>
          </p:nvCxnSpPr>
          <p:spPr>
            <a:xfrm flipH="1">
              <a:off x="11732492" y="7151631"/>
              <a:ext cx="2733784" cy="0"/>
            </a:xfrm>
            <a:prstGeom prst="straightConnector1">
              <a:avLst/>
            </a:prstGeom>
            <a:ln w="1016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r Verbinder 51"/>
            <p:cNvCxnSpPr/>
            <p:nvPr/>
          </p:nvCxnSpPr>
          <p:spPr>
            <a:xfrm>
              <a:off x="14633193" y="10248996"/>
              <a:ext cx="7560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/>
          <p:cNvSpPr txBox="1"/>
          <p:nvPr/>
        </p:nvSpPr>
        <p:spPr>
          <a:xfrm>
            <a:off x="630480" y="1092554"/>
            <a:ext cx="55370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 i="1" dirty="0" err="1" smtClean="0"/>
              <a:t>Why</a:t>
            </a:r>
            <a:r>
              <a:rPr lang="de-DE" sz="3200" i="1" dirty="0" smtClean="0"/>
              <a:t> </a:t>
            </a:r>
            <a:r>
              <a:rPr lang="de-DE" sz="3200" i="1" dirty="0" err="1" smtClean="0"/>
              <a:t>we</a:t>
            </a:r>
            <a:r>
              <a:rPr lang="de-DE" sz="3200" i="1" dirty="0" smtClean="0"/>
              <a:t> </a:t>
            </a:r>
            <a:r>
              <a:rPr lang="de-DE" sz="3200" i="1" dirty="0" err="1" smtClean="0"/>
              <a:t>need</a:t>
            </a:r>
            <a:r>
              <a:rPr lang="de-DE" sz="3200" i="1" dirty="0" smtClean="0"/>
              <a:t> </a:t>
            </a:r>
            <a:r>
              <a:rPr lang="de-DE" sz="3200" i="1" dirty="0" err="1" smtClean="0"/>
              <a:t>synthetic</a:t>
            </a:r>
            <a:r>
              <a:rPr lang="de-DE" sz="3200" i="1" dirty="0" smtClean="0"/>
              <a:t> </a:t>
            </a:r>
            <a:r>
              <a:rPr lang="de-DE" sz="3200" i="1" dirty="0" err="1" smtClean="0"/>
              <a:t>data</a:t>
            </a:r>
            <a:r>
              <a:rPr lang="de-DE" sz="3200" i="1" dirty="0" smtClean="0"/>
              <a:t>?</a:t>
            </a:r>
            <a:endParaRPr lang="de-DE" sz="3200" i="1" dirty="0"/>
          </a:p>
        </p:txBody>
      </p:sp>
      <p:sp>
        <p:nvSpPr>
          <p:cNvPr id="69" name="PlaceHolder 1"/>
          <p:cNvSpPr>
            <a:spLocks noGrp="1"/>
          </p:cNvSpPr>
          <p:nvPr>
            <p:ph/>
          </p:nvPr>
        </p:nvSpPr>
        <p:spPr>
          <a:xfrm>
            <a:off x="295200" y="321840"/>
            <a:ext cx="15606360" cy="986760"/>
          </a:xfrm>
          <a:prstGeom prst="rect">
            <a:avLst/>
          </a:prstGeom>
          <a:noFill/>
          <a:ln w="12600">
            <a:noFill/>
          </a:ln>
        </p:spPr>
        <p:txBody>
          <a:bodyPr lIns="71280" tIns="71280" rIns="71280" bIns="71280" anchor="t">
            <a:noAutofit/>
          </a:bodyPr>
          <a:lstStyle/>
          <a:p>
            <a:pPr indent="0" defTabSz="8215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spc="-1" dirty="0" smtClean="0">
                <a:solidFill>
                  <a:srgbClr val="000000"/>
                </a:solidFill>
                <a:latin typeface="Impact"/>
              </a:rPr>
              <a:t>Our Approach in Project C03</a:t>
            </a:r>
            <a:endParaRPr lang="de-DE" sz="5000" b="0" strike="noStrike" spc="-1" dirty="0">
              <a:solidFill>
                <a:schemeClr val="dk1"/>
              </a:solidFill>
              <a:latin typeface="Helvetica Neue Medium"/>
            </a:endParaRPr>
          </a:p>
        </p:txBody>
      </p:sp>
      <p:sp>
        <p:nvSpPr>
          <p:cNvPr id="47" name="Foliennummernplatzhalter 3"/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41BFDFA1-13E1-47F7-AAEB-46EC02612569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093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oliennummernplatzhalt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FDFA1-13E1-47F7-AAEB-46EC02612569}" type="slidenum">
              <a:rPr lang="de-DE" smtClean="0"/>
              <a:t>5</a:t>
            </a:fld>
            <a:endParaRPr lang="de-DE" dirty="0"/>
          </a:p>
        </p:txBody>
      </p:sp>
      <p:sp>
        <p:nvSpPr>
          <p:cNvPr id="26" name="Rechteck 126"/>
          <p:cNvSpPr/>
          <p:nvPr/>
        </p:nvSpPr>
        <p:spPr>
          <a:xfrm>
            <a:off x="624840" y="1307160"/>
            <a:ext cx="10074899" cy="1112121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0000" tIns="180000" rIns="180000" bIns="180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+mj-lt"/>
                <a:ea typeface="Helvetica Neue Medium"/>
              </a:rPr>
              <a:t>20 published exp. benchmark </a:t>
            </a:r>
            <a:r>
              <a:rPr lang="en-US" sz="2800" b="1" strike="noStrike" spc="-1" dirty="0" smtClean="0">
                <a:solidFill>
                  <a:srgbClr val="000000"/>
                </a:solidFill>
                <a:latin typeface="+mj-lt"/>
                <a:ea typeface="Helvetica Neue Medium"/>
              </a:rPr>
              <a:t>problems</a:t>
            </a:r>
            <a:br>
              <a:rPr lang="en-US" sz="2800" b="1" strike="noStrike" spc="-1" dirty="0" smtClean="0">
                <a:solidFill>
                  <a:srgbClr val="000000"/>
                </a:solidFill>
                <a:latin typeface="+mj-lt"/>
                <a:ea typeface="Helvetica Neue Medium"/>
              </a:rPr>
            </a:br>
            <a:endParaRPr lang="en-US" sz="2800" b="1" spc="-1" dirty="0">
              <a:solidFill>
                <a:srgbClr val="000000"/>
              </a:solidFill>
              <a:latin typeface="+mj-lt"/>
            </a:endParaRPr>
          </a:p>
          <a:p>
            <a:pPr defTabSz="914400">
              <a:lnSpc>
                <a:spcPct val="100000"/>
              </a:lnSpc>
            </a:pPr>
            <a:endParaRPr lang="en-US" sz="2800" b="1" strike="noStrike" spc="-1" dirty="0" smtClean="0">
              <a:solidFill>
                <a:srgbClr val="000000"/>
              </a:solidFill>
              <a:latin typeface="+mj-lt"/>
            </a:endParaRPr>
          </a:p>
          <a:p>
            <a:pPr defTabSz="914400">
              <a:lnSpc>
                <a:spcPct val="100000"/>
              </a:lnSpc>
            </a:pPr>
            <a:endParaRPr lang="en-US" sz="2800" b="1" spc="-1" dirty="0">
              <a:solidFill>
                <a:srgbClr val="000000"/>
              </a:solidFill>
              <a:latin typeface="+mj-lt"/>
            </a:endParaRPr>
          </a:p>
          <a:p>
            <a:pPr defTabSz="914400">
              <a:lnSpc>
                <a:spcPct val="100000"/>
              </a:lnSpc>
            </a:pPr>
            <a:endParaRPr lang="en-US" sz="2800" b="1" strike="noStrike" spc="-1" dirty="0" smtClean="0">
              <a:solidFill>
                <a:srgbClr val="000000"/>
              </a:solidFill>
              <a:latin typeface="+mj-lt"/>
            </a:endParaRPr>
          </a:p>
          <a:p>
            <a:pPr defTabSz="914400">
              <a:lnSpc>
                <a:spcPct val="100000"/>
              </a:lnSpc>
            </a:pPr>
            <a:endParaRPr lang="en-US" sz="2800" b="1" spc="-1" dirty="0">
              <a:solidFill>
                <a:srgbClr val="000000"/>
              </a:solidFill>
              <a:latin typeface="+mj-lt"/>
            </a:endParaRPr>
          </a:p>
          <a:p>
            <a:pPr defTabSz="914400">
              <a:lnSpc>
                <a:spcPct val="100000"/>
              </a:lnSpc>
            </a:pPr>
            <a:endParaRPr lang="en-US" sz="2800" b="1" strike="noStrike" spc="-1" dirty="0" smtClean="0">
              <a:solidFill>
                <a:srgbClr val="000000"/>
              </a:solidFill>
              <a:latin typeface="+mj-lt"/>
            </a:endParaRPr>
          </a:p>
          <a:p>
            <a:pPr defTabSz="914400">
              <a:lnSpc>
                <a:spcPct val="100000"/>
              </a:lnSpc>
            </a:pPr>
            <a:endParaRPr lang="en-US" sz="2800" b="1" spc="-1" dirty="0">
              <a:solidFill>
                <a:srgbClr val="000000"/>
              </a:solidFill>
              <a:latin typeface="+mj-lt"/>
            </a:endParaRPr>
          </a:p>
          <a:p>
            <a:pPr defTabSz="914400">
              <a:lnSpc>
                <a:spcPct val="100000"/>
              </a:lnSpc>
            </a:pPr>
            <a:endParaRPr lang="en-US" sz="2800" b="1" strike="noStrike" spc="-1" dirty="0" smtClean="0">
              <a:solidFill>
                <a:srgbClr val="000000"/>
              </a:solidFill>
              <a:latin typeface="+mj-lt"/>
            </a:endParaRPr>
          </a:p>
          <a:p>
            <a:pPr defTabSz="914400">
              <a:lnSpc>
                <a:spcPct val="100000"/>
              </a:lnSpc>
            </a:pPr>
            <a:endParaRPr lang="en-US" sz="2800" b="1" spc="-1" dirty="0">
              <a:solidFill>
                <a:srgbClr val="000000"/>
              </a:solidFill>
              <a:latin typeface="+mj-lt"/>
            </a:endParaRPr>
          </a:p>
          <a:p>
            <a:pPr>
              <a:spcBef>
                <a:spcPts val="1200"/>
              </a:spcBef>
            </a:pPr>
            <a:endParaRPr lang="en-US" sz="2800" b="1" spc="-1" dirty="0">
              <a:solidFill>
                <a:srgbClr val="000000"/>
              </a:solidFill>
              <a:latin typeface="+mj-lt"/>
            </a:endParaRPr>
          </a:p>
          <a:p>
            <a:pPr>
              <a:spcBef>
                <a:spcPts val="1200"/>
              </a:spcBef>
            </a:pPr>
            <a:endParaRPr lang="en-US" sz="2800" b="1" spc="-1" dirty="0" smtClean="0">
              <a:solidFill>
                <a:srgbClr val="000000"/>
              </a:solidFill>
              <a:latin typeface="+mj-lt"/>
            </a:endParaRPr>
          </a:p>
          <a:p>
            <a:pPr>
              <a:spcBef>
                <a:spcPts val="1200"/>
              </a:spcBef>
            </a:pPr>
            <a:endParaRPr lang="en-US" sz="2800" b="1" spc="-1" dirty="0" smtClean="0">
              <a:solidFill>
                <a:srgbClr val="000000"/>
              </a:solidFill>
              <a:latin typeface="+mj-lt"/>
            </a:endParaRPr>
          </a:p>
          <a:p>
            <a:pPr>
              <a:spcBef>
                <a:spcPts val="1200"/>
              </a:spcBef>
            </a:pPr>
            <a:r>
              <a:rPr lang="de-DE" sz="2400" b="1" dirty="0" err="1" smtClean="0"/>
              <a:t>Typical</a:t>
            </a:r>
            <a:r>
              <a:rPr lang="de-DE" sz="2400" b="1" dirty="0" smtClean="0"/>
              <a:t> </a:t>
            </a:r>
            <a:r>
              <a:rPr lang="de-DE" sz="2400" b="1" dirty="0" err="1"/>
              <a:t>properties</a:t>
            </a:r>
            <a:r>
              <a:rPr lang="de-DE" sz="2400" b="1" dirty="0"/>
              <a:t> </a:t>
            </a:r>
            <a:r>
              <a:rPr lang="de-DE" sz="2400" b="1" dirty="0" err="1"/>
              <a:t>of</a:t>
            </a:r>
            <a:r>
              <a:rPr lang="de-DE" sz="2400" b="1" dirty="0"/>
              <a:t> </a:t>
            </a:r>
            <a:r>
              <a:rPr lang="de-DE" sz="2400" b="1" dirty="0" err="1"/>
              <a:t>the</a:t>
            </a:r>
            <a:r>
              <a:rPr lang="de-DE" sz="2400" b="1" dirty="0"/>
              <a:t> </a:t>
            </a:r>
            <a:r>
              <a:rPr lang="de-DE" sz="2400" b="1" dirty="0" err="1"/>
              <a:t>parameter</a:t>
            </a:r>
            <a:r>
              <a:rPr lang="de-DE" sz="2400" b="1" dirty="0"/>
              <a:t> </a:t>
            </a:r>
            <a:r>
              <a:rPr lang="de-DE" sz="2400" b="1" dirty="0" err="1"/>
              <a:t>estimation</a:t>
            </a:r>
            <a:r>
              <a:rPr lang="de-DE" sz="2400" b="1" dirty="0"/>
              <a:t> </a:t>
            </a:r>
            <a:r>
              <a:rPr lang="de-DE" sz="2400" b="1" dirty="0" err="1"/>
              <a:t>problems</a:t>
            </a:r>
            <a:r>
              <a:rPr lang="de-DE" sz="2400" b="1" dirty="0"/>
              <a:t>: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400" dirty="0"/>
              <a:t>Time-</a:t>
            </a:r>
            <a:r>
              <a:rPr lang="de-DE" sz="2400" dirty="0" err="1"/>
              <a:t>course</a:t>
            </a:r>
            <a:r>
              <a:rPr lang="de-DE" sz="2400" dirty="0"/>
              <a:t> </a:t>
            </a:r>
            <a:r>
              <a:rPr lang="de-DE" sz="2400" dirty="0" err="1" smtClean="0"/>
              <a:t>data</a:t>
            </a:r>
            <a:r>
              <a:rPr lang="de-DE" sz="2400" dirty="0"/>
              <a:t/>
            </a:r>
            <a:br>
              <a:rPr lang="de-DE" sz="2400" dirty="0"/>
            </a:br>
            <a:r>
              <a:rPr lang="de-DE" sz="2400" dirty="0" smtClean="0"/>
              <a:t>(</a:t>
            </a:r>
            <a:r>
              <a:rPr lang="de-DE" sz="2400" dirty="0" err="1" smtClean="0"/>
              <a:t>underlying</a:t>
            </a:r>
            <a:r>
              <a:rPr lang="de-DE" sz="2400" dirty="0" smtClean="0"/>
              <a:t> </a:t>
            </a:r>
            <a:r>
              <a:rPr lang="de-DE" sz="2400" dirty="0" err="1" smtClean="0"/>
              <a:t>true</a:t>
            </a:r>
            <a:r>
              <a:rPr lang="de-DE" sz="2400" dirty="0" smtClean="0"/>
              <a:t> </a:t>
            </a:r>
            <a:r>
              <a:rPr lang="de-DE" sz="2400" dirty="0" err="1" smtClean="0"/>
              <a:t>dynamics</a:t>
            </a:r>
            <a:r>
              <a:rPr lang="de-DE" sz="2400" dirty="0" smtClean="0"/>
              <a:t> + </a:t>
            </a:r>
            <a:r>
              <a:rPr lang="de-DE" sz="2400" dirty="0" err="1" smtClean="0"/>
              <a:t>noise</a:t>
            </a:r>
            <a:r>
              <a:rPr lang="de-DE" sz="2400" dirty="0" smtClean="0"/>
              <a:t>)</a:t>
            </a:r>
            <a:endParaRPr lang="de-DE" sz="2400" dirty="0"/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400" dirty="0"/>
              <a:t>Multiple observables</a:t>
            </a:r>
            <a:br>
              <a:rPr lang="de-DE" sz="2400" dirty="0"/>
            </a:br>
            <a:r>
              <a:rPr lang="de-DE" sz="2400" dirty="0"/>
              <a:t>(e.g. pJAK2, tSTAT5, pSTAT5+npSTAT5, </a:t>
            </a:r>
            <a:r>
              <a:rPr lang="de-DE" sz="2400" dirty="0" err="1"/>
              <a:t>combinations</a:t>
            </a:r>
            <a:r>
              <a:rPr lang="de-DE" sz="2400" dirty="0"/>
              <a:t> …)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400" dirty="0"/>
              <a:t>Multiple </a:t>
            </a:r>
            <a:r>
              <a:rPr lang="de-DE" sz="2400" dirty="0" err="1"/>
              <a:t>measurement</a:t>
            </a:r>
            <a:r>
              <a:rPr lang="de-DE" sz="2400" dirty="0"/>
              <a:t> </a:t>
            </a:r>
            <a:r>
              <a:rPr lang="de-DE" sz="2400" dirty="0" err="1"/>
              <a:t>techniques</a:t>
            </a:r>
            <a:r>
              <a:rPr lang="de-DE" sz="2400" dirty="0"/>
              <a:t/>
            </a:r>
            <a:br>
              <a:rPr lang="de-DE" sz="2400" dirty="0"/>
            </a:br>
            <a:r>
              <a:rPr lang="de-DE" sz="2400" dirty="0"/>
              <a:t>(e.g. </a:t>
            </a:r>
            <a:r>
              <a:rPr lang="de-DE" sz="2400" dirty="0" err="1"/>
              <a:t>immunoblotting</a:t>
            </a:r>
            <a:r>
              <a:rPr lang="de-DE" sz="2400" dirty="0"/>
              <a:t>, </a:t>
            </a:r>
            <a:r>
              <a:rPr lang="de-DE" sz="2400" dirty="0" err="1"/>
              <a:t>mass</a:t>
            </a:r>
            <a:r>
              <a:rPr lang="de-DE" sz="2400" dirty="0"/>
              <a:t> </a:t>
            </a:r>
            <a:r>
              <a:rPr lang="de-DE" sz="2400" dirty="0" err="1"/>
              <a:t>spectronomy</a:t>
            </a:r>
            <a:r>
              <a:rPr lang="de-DE" sz="2400" dirty="0"/>
              <a:t>, </a:t>
            </a:r>
            <a:r>
              <a:rPr lang="de-DE" sz="2400" dirty="0" err="1"/>
              <a:t>flouresence</a:t>
            </a:r>
            <a:r>
              <a:rPr lang="de-DE" sz="2400" dirty="0"/>
              <a:t> </a:t>
            </a:r>
            <a:r>
              <a:rPr lang="de-DE" sz="2400" dirty="0" smtClean="0"/>
              <a:t>…)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400" dirty="0"/>
              <a:t>Multiple experimental </a:t>
            </a:r>
            <a:r>
              <a:rPr lang="de-DE" sz="2400" dirty="0" err="1"/>
              <a:t>conditions</a:t>
            </a:r>
            <a:r>
              <a:rPr lang="de-DE" sz="2400" dirty="0"/>
              <a:t/>
            </a:r>
            <a:br>
              <a:rPr lang="de-DE" sz="2400" dirty="0"/>
            </a:br>
            <a:r>
              <a:rPr lang="de-DE" sz="2400" dirty="0"/>
              <a:t>(e.g. </a:t>
            </a:r>
            <a:r>
              <a:rPr lang="de-DE" sz="2400" dirty="0" err="1"/>
              <a:t>wildtype</a:t>
            </a:r>
            <a:r>
              <a:rPr lang="de-DE" sz="2400" dirty="0"/>
              <a:t> </a:t>
            </a:r>
            <a:r>
              <a:rPr lang="de-DE" sz="2400" dirty="0" err="1"/>
              <a:t>vs</a:t>
            </a:r>
            <a:r>
              <a:rPr lang="de-DE" sz="2400" dirty="0"/>
              <a:t> knock-out, </a:t>
            </a:r>
            <a:r>
              <a:rPr lang="de-DE" sz="2400" dirty="0" err="1"/>
              <a:t>stimuli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different </a:t>
            </a:r>
            <a:r>
              <a:rPr lang="de-DE" sz="2400" dirty="0" err="1"/>
              <a:t>dosis</a:t>
            </a:r>
            <a:r>
              <a:rPr lang="de-DE" sz="2400" dirty="0"/>
              <a:t>/type, </a:t>
            </a:r>
            <a:r>
              <a:rPr lang="de-DE" sz="2400" dirty="0" smtClean="0"/>
              <a:t>…)</a:t>
            </a:r>
            <a:endParaRPr lang="de-DE" sz="2400" dirty="0"/>
          </a:p>
          <a:p>
            <a:pPr>
              <a:spcBef>
                <a:spcPts val="1200"/>
              </a:spcBef>
            </a:pPr>
            <a:endParaRPr lang="de-DE" sz="2800" b="1" dirty="0"/>
          </a:p>
          <a:p>
            <a:pPr defTabSz="914400">
              <a:lnSpc>
                <a:spcPct val="100000"/>
              </a:lnSpc>
            </a:pPr>
            <a:endParaRPr lang="en-US" sz="2800" b="0" strike="noStrike" spc="-1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25" name="Grafik 124"/>
          <p:cNvPicPr/>
          <p:nvPr/>
        </p:nvPicPr>
        <p:blipFill rotWithShape="1">
          <a:blip r:embed="rId3"/>
          <a:srcRect b="49866"/>
          <a:stretch/>
        </p:blipFill>
        <p:spPr>
          <a:xfrm>
            <a:off x="1001918" y="2127380"/>
            <a:ext cx="5040000" cy="3489649"/>
          </a:xfrm>
          <a:prstGeom prst="rect">
            <a:avLst/>
          </a:prstGeom>
          <a:ln w="0">
            <a:noFill/>
          </a:ln>
        </p:spPr>
      </p:pic>
      <p:pic>
        <p:nvPicPr>
          <p:cNvPr id="29" name="Grafik 124"/>
          <p:cNvPicPr/>
          <p:nvPr/>
        </p:nvPicPr>
        <p:blipFill rotWithShape="1">
          <a:blip r:embed="rId3"/>
          <a:srcRect t="49866"/>
          <a:stretch/>
        </p:blipFill>
        <p:spPr>
          <a:xfrm>
            <a:off x="5394785" y="2127379"/>
            <a:ext cx="5040000" cy="3489649"/>
          </a:xfrm>
          <a:prstGeom prst="rect">
            <a:avLst/>
          </a:prstGeom>
          <a:ln w="0">
            <a:noFill/>
          </a:ln>
        </p:spPr>
      </p:pic>
      <p:grpSp>
        <p:nvGrpSpPr>
          <p:cNvPr id="2" name="Gruppieren 1"/>
          <p:cNvGrpSpPr/>
          <p:nvPr/>
        </p:nvGrpSpPr>
        <p:grpSpPr>
          <a:xfrm>
            <a:off x="10894175" y="1307160"/>
            <a:ext cx="10615085" cy="11121216"/>
            <a:chOff x="10894175" y="1307160"/>
            <a:chExt cx="10615085" cy="11121216"/>
          </a:xfrm>
        </p:grpSpPr>
        <p:pic>
          <p:nvPicPr>
            <p:cNvPr id="153" name="Grafik 3"/>
            <p:cNvPicPr/>
            <p:nvPr/>
          </p:nvPicPr>
          <p:blipFill>
            <a:blip r:embed="rId4"/>
            <a:stretch/>
          </p:blipFill>
          <p:spPr>
            <a:xfrm>
              <a:off x="11582400" y="2127379"/>
              <a:ext cx="9709618" cy="4824332"/>
            </a:xfrm>
            <a:prstGeom prst="rect">
              <a:avLst/>
            </a:prstGeom>
            <a:ln w="28575">
              <a:noFill/>
            </a:ln>
          </p:spPr>
        </p:pic>
        <p:grpSp>
          <p:nvGrpSpPr>
            <p:cNvPr id="6" name="Gruppieren 5"/>
            <p:cNvGrpSpPr/>
            <p:nvPr/>
          </p:nvGrpSpPr>
          <p:grpSpPr>
            <a:xfrm>
              <a:off x="11111415" y="7109055"/>
              <a:ext cx="10180603" cy="5168108"/>
              <a:chOff x="12604128" y="1884863"/>
              <a:chExt cx="10445237" cy="5699520"/>
            </a:xfrm>
          </p:grpSpPr>
          <p:grpSp>
            <p:nvGrpSpPr>
              <p:cNvPr id="154" name="Gruppieren 10"/>
              <p:cNvGrpSpPr/>
              <p:nvPr/>
            </p:nvGrpSpPr>
            <p:grpSpPr>
              <a:xfrm>
                <a:off x="12713226" y="1926263"/>
                <a:ext cx="10161278" cy="5658120"/>
                <a:chOff x="10917739" y="6840720"/>
                <a:chExt cx="9875141" cy="5658120"/>
              </a:xfrm>
            </p:grpSpPr>
            <p:pic>
              <p:nvPicPr>
                <p:cNvPr id="155" name="Grafik 6"/>
                <p:cNvPicPr/>
                <p:nvPr/>
              </p:nvPicPr>
              <p:blipFill rotWithShape="1">
                <a:blip r:embed="rId5"/>
                <a:srcRect r="50203"/>
                <a:stretch/>
              </p:blipFill>
              <p:spPr>
                <a:xfrm>
                  <a:off x="10917739" y="6928560"/>
                  <a:ext cx="3225768" cy="5570280"/>
                </a:xfrm>
                <a:prstGeom prst="rect">
                  <a:avLst/>
                </a:prstGeom>
                <a:ln w="0">
                  <a:noFill/>
                </a:ln>
              </p:spPr>
            </p:pic>
            <p:pic>
              <p:nvPicPr>
                <p:cNvPr id="156" name="Grafik 28"/>
                <p:cNvPicPr/>
                <p:nvPr/>
              </p:nvPicPr>
              <p:blipFill>
                <a:blip r:embed="rId6"/>
                <a:stretch/>
              </p:blipFill>
              <p:spPr>
                <a:xfrm>
                  <a:off x="14315040" y="6840720"/>
                  <a:ext cx="6477840" cy="3844080"/>
                </a:xfrm>
                <a:prstGeom prst="rect">
                  <a:avLst/>
                </a:prstGeom>
                <a:ln w="0">
                  <a:noFill/>
                </a:ln>
              </p:spPr>
            </p:pic>
          </p:grpSp>
          <p:sp>
            <p:nvSpPr>
              <p:cNvPr id="157" name="Rechteck 12"/>
              <p:cNvSpPr/>
              <p:nvPr/>
            </p:nvSpPr>
            <p:spPr>
              <a:xfrm>
                <a:off x="12604128" y="1884863"/>
                <a:ext cx="3421855" cy="5631840"/>
              </a:xfrm>
              <a:prstGeom prst="rect">
                <a:avLst/>
              </a:prstGeom>
              <a:noFill/>
              <a:ln w="28575">
                <a:solidFill>
                  <a:srgbClr val="5B9BD5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de-DE" sz="1800" b="0" strike="noStrike" spc="-1">
                  <a:solidFill>
                    <a:schemeClr val="accent1"/>
                  </a:solidFill>
                  <a:latin typeface="Calibri"/>
                  <a:ea typeface="Helvetica Neue Medium"/>
                </a:endParaRPr>
              </a:p>
            </p:txBody>
          </p:sp>
          <p:sp>
            <p:nvSpPr>
              <p:cNvPr id="158" name="Rechteck 30"/>
              <p:cNvSpPr/>
              <p:nvPr/>
            </p:nvSpPr>
            <p:spPr>
              <a:xfrm>
                <a:off x="16141559" y="1884863"/>
                <a:ext cx="3386855" cy="5631840"/>
              </a:xfrm>
              <a:prstGeom prst="rect">
                <a:avLst/>
              </a:prstGeom>
              <a:noFill/>
              <a:ln w="28575">
                <a:solidFill>
                  <a:srgbClr val="ED7D3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de-DE" sz="1800" b="0" strike="noStrike" spc="-1">
                  <a:solidFill>
                    <a:schemeClr val="accent1"/>
                  </a:solidFill>
                  <a:latin typeface="Calibri"/>
                  <a:ea typeface="Helvetica Neue Medium"/>
                </a:endParaRPr>
              </a:p>
            </p:txBody>
          </p:sp>
          <p:sp>
            <p:nvSpPr>
              <p:cNvPr id="159" name="Rechteck 31"/>
              <p:cNvSpPr/>
              <p:nvPr/>
            </p:nvSpPr>
            <p:spPr>
              <a:xfrm>
                <a:off x="19670289" y="1884863"/>
                <a:ext cx="3379076" cy="5631840"/>
              </a:xfrm>
              <a:prstGeom prst="rect">
                <a:avLst/>
              </a:prstGeom>
              <a:noFill/>
              <a:ln w="28575">
                <a:solidFill>
                  <a:srgbClr val="70AD47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de-DE" sz="1800" b="0" strike="noStrike" spc="-1">
                  <a:solidFill>
                    <a:schemeClr val="accent1"/>
                  </a:solidFill>
                  <a:latin typeface="Calibri"/>
                  <a:ea typeface="Helvetica Neue Medium"/>
                </a:endParaRPr>
              </a:p>
            </p:txBody>
          </p:sp>
        </p:grpSp>
        <p:sp>
          <p:nvSpPr>
            <p:cNvPr id="3" name="Rechteck 2"/>
            <p:cNvSpPr/>
            <p:nvPr/>
          </p:nvSpPr>
          <p:spPr>
            <a:xfrm>
              <a:off x="10894175" y="1307160"/>
              <a:ext cx="10615085" cy="1112121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algn="ctr"/>
              <a:r>
                <a:rPr lang="de-DE" sz="2800" b="1" dirty="0" err="1" smtClean="0">
                  <a:solidFill>
                    <a:schemeClr val="tx1"/>
                  </a:solidFill>
                </a:rPr>
                <a:t>Example</a:t>
              </a:r>
              <a:r>
                <a:rPr lang="de-DE" sz="2800" b="1" dirty="0" smtClean="0">
                  <a:solidFill>
                    <a:schemeClr val="tx1"/>
                  </a:solidFill>
                </a:rPr>
                <a:t>: Bachmann Model</a:t>
              </a:r>
              <a:endParaRPr lang="de-DE" sz="2800" b="1" dirty="0">
                <a:solidFill>
                  <a:schemeClr val="tx1"/>
                </a:solidFill>
              </a:endParaRPr>
            </a:p>
          </p:txBody>
        </p:sp>
        <p:grpSp>
          <p:nvGrpSpPr>
            <p:cNvPr id="30" name="Gruppieren 29"/>
            <p:cNvGrpSpPr/>
            <p:nvPr/>
          </p:nvGrpSpPr>
          <p:grpSpPr>
            <a:xfrm>
              <a:off x="11111415" y="4170935"/>
              <a:ext cx="2202803" cy="2725537"/>
              <a:chOff x="14153040" y="2823960"/>
              <a:chExt cx="2824560" cy="3374640"/>
            </a:xfrm>
          </p:grpSpPr>
          <p:sp>
            <p:nvSpPr>
              <p:cNvPr id="31" name="Rechteck 40"/>
              <p:cNvSpPr/>
              <p:nvPr/>
            </p:nvSpPr>
            <p:spPr>
              <a:xfrm>
                <a:off x="14153040" y="2823960"/>
                <a:ext cx="2514240" cy="337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600" b="1" strike="noStrike" spc="-1" dirty="0">
                    <a:solidFill>
                      <a:srgbClr val="000000"/>
                    </a:solidFill>
                    <a:latin typeface="Calibri"/>
                    <a:ea typeface="Helvetica Neue Medium"/>
                  </a:rPr>
                  <a:t>42 </a:t>
                </a:r>
                <a:r>
                  <a:rPr lang="en-US" sz="1600" b="1" strike="noStrike" spc="-1" dirty="0" smtClean="0">
                    <a:solidFill>
                      <a:srgbClr val="000000"/>
                    </a:solidFill>
                    <a:latin typeface="Calibri"/>
                    <a:ea typeface="Helvetica Neue Medium"/>
                  </a:rPr>
                  <a:t>datasets,</a:t>
                </a:r>
              </a:p>
              <a:p>
                <a:pPr algn="ctr" defTabSz="914400">
                  <a:lnSpc>
                    <a:spcPct val="100000"/>
                  </a:lnSpc>
                </a:pPr>
                <a:r>
                  <a:rPr lang="en-US" sz="1600" b="1" strike="noStrike" spc="-1" dirty="0" smtClean="0">
                    <a:solidFill>
                      <a:srgbClr val="000000"/>
                    </a:solidFill>
                    <a:latin typeface="Calibri"/>
                    <a:ea typeface="Helvetica Neue Medium"/>
                  </a:rPr>
                  <a:t>23 exp. </a:t>
                </a:r>
                <a:r>
                  <a:rPr lang="en-US" sz="1600" b="1" strike="noStrike" spc="-1" dirty="0">
                    <a:solidFill>
                      <a:srgbClr val="000000"/>
                    </a:solidFill>
                    <a:latin typeface="Calibri"/>
                    <a:ea typeface="Helvetica Neue Medium"/>
                  </a:rPr>
                  <a:t>conditions</a:t>
                </a:r>
                <a:endParaRPr lang="en-US" sz="1600" b="0" strike="noStrike" spc="-1" dirty="0">
                  <a:solidFill>
                    <a:srgbClr val="000000"/>
                  </a:solidFill>
                  <a:latin typeface="Calibri"/>
                </a:endParaRPr>
              </a:p>
            </p:txBody>
          </p:sp>
          <p:grpSp>
            <p:nvGrpSpPr>
              <p:cNvPr id="32" name="Gruppieren 31"/>
              <p:cNvGrpSpPr/>
              <p:nvPr/>
            </p:nvGrpSpPr>
            <p:grpSpPr>
              <a:xfrm>
                <a:off x="14159880" y="3589680"/>
                <a:ext cx="2817720" cy="2608920"/>
                <a:chOff x="14159880" y="3589680"/>
                <a:chExt cx="2817720" cy="2608920"/>
              </a:xfrm>
            </p:grpSpPr>
            <p:sp>
              <p:nvSpPr>
                <p:cNvPr id="33" name="Rechteck 34"/>
                <p:cNvSpPr/>
                <p:nvPr/>
              </p:nvSpPr>
              <p:spPr>
                <a:xfrm>
                  <a:off x="14464080" y="3975960"/>
                  <a:ext cx="2513520" cy="2222640"/>
                </a:xfrm>
                <a:prstGeom prst="rect">
                  <a:avLst/>
                </a:prstGeom>
                <a:solidFill>
                  <a:srgbClr val="92D050"/>
                </a:solidFill>
                <a:ln>
                  <a:solidFill>
                    <a:srgbClr val="00000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de-DE" sz="1800" b="0" strike="noStrike" spc="-1">
                    <a:solidFill>
                      <a:schemeClr val="lt1"/>
                    </a:solidFill>
                    <a:latin typeface="Calibri"/>
                    <a:ea typeface="Helvetica Neue Medium"/>
                  </a:endParaRPr>
                </a:p>
              </p:txBody>
            </p:sp>
            <p:sp>
              <p:nvSpPr>
                <p:cNvPr id="34" name="Rechteck 35"/>
                <p:cNvSpPr/>
                <p:nvPr/>
              </p:nvSpPr>
              <p:spPr>
                <a:xfrm>
                  <a:off x="14388120" y="3881640"/>
                  <a:ext cx="2513520" cy="2222640"/>
                </a:xfrm>
                <a:prstGeom prst="rect">
                  <a:avLst/>
                </a:prstGeom>
                <a:solidFill>
                  <a:srgbClr val="92D050"/>
                </a:solidFill>
                <a:ln>
                  <a:solidFill>
                    <a:srgbClr val="00000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de-DE" sz="1800" b="0" strike="noStrike" spc="-1">
                    <a:solidFill>
                      <a:schemeClr val="lt1"/>
                    </a:solidFill>
                    <a:latin typeface="Calibri"/>
                    <a:ea typeface="Helvetica Neue Medium"/>
                  </a:endParaRPr>
                </a:p>
              </p:txBody>
            </p:sp>
            <p:sp>
              <p:nvSpPr>
                <p:cNvPr id="35" name="Rechteck 36"/>
                <p:cNvSpPr/>
                <p:nvPr/>
              </p:nvSpPr>
              <p:spPr>
                <a:xfrm>
                  <a:off x="14312160" y="3787680"/>
                  <a:ext cx="2513520" cy="222264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00000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de-DE" sz="1800" b="0" strike="noStrike" spc="-1">
                    <a:solidFill>
                      <a:schemeClr val="lt1"/>
                    </a:solidFill>
                    <a:latin typeface="Calibri"/>
                    <a:ea typeface="Helvetica Neue Medium"/>
                  </a:endParaRPr>
                </a:p>
              </p:txBody>
            </p:sp>
            <p:sp>
              <p:nvSpPr>
                <p:cNvPr id="36" name="Rechteck 37"/>
                <p:cNvSpPr/>
                <p:nvPr/>
              </p:nvSpPr>
              <p:spPr>
                <a:xfrm>
                  <a:off x="14235840" y="3693360"/>
                  <a:ext cx="2513520" cy="2222640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rgbClr val="00000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de-DE" sz="1800" b="0" strike="noStrike" spc="-1">
                    <a:solidFill>
                      <a:schemeClr val="lt1"/>
                    </a:solidFill>
                    <a:latin typeface="Calibri"/>
                    <a:ea typeface="Helvetica Neue Medium"/>
                  </a:endParaRPr>
                </a:p>
              </p:txBody>
            </p:sp>
            <p:pic>
              <p:nvPicPr>
                <p:cNvPr id="37" name="Grafik 42"/>
                <p:cNvPicPr/>
                <p:nvPr/>
              </p:nvPicPr>
              <p:blipFill>
                <a:blip r:embed="rId7"/>
                <a:stretch/>
              </p:blipFill>
              <p:spPr>
                <a:xfrm>
                  <a:off x="14159880" y="3589680"/>
                  <a:ext cx="2507040" cy="2224440"/>
                </a:xfrm>
                <a:prstGeom prst="rect">
                  <a:avLst/>
                </a:prstGeom>
                <a:ln w="0">
                  <a:solidFill>
                    <a:srgbClr val="000000"/>
                  </a:solidFill>
                </a:ln>
              </p:spPr>
            </p:pic>
          </p:grpSp>
        </p:grpSp>
      </p:grpSp>
      <p:sp>
        <p:nvSpPr>
          <p:cNvPr id="40" name="PlaceHolder 1"/>
          <p:cNvSpPr txBox="1">
            <a:spLocks/>
          </p:cNvSpPr>
          <p:nvPr/>
        </p:nvSpPr>
        <p:spPr>
          <a:xfrm>
            <a:off x="295200" y="321840"/>
            <a:ext cx="20996818" cy="986760"/>
          </a:xfrm>
          <a:prstGeom prst="rect">
            <a:avLst/>
          </a:prstGeom>
          <a:noFill/>
          <a:ln w="12600">
            <a:noFill/>
          </a:ln>
        </p:spPr>
        <p:txBody>
          <a:bodyPr lIns="71280" tIns="71280" rIns="71280" bIns="7128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5000" spc="-1" dirty="0">
                <a:solidFill>
                  <a:srgbClr val="000000"/>
                </a:solidFill>
                <a:latin typeface="Impact"/>
                <a:ea typeface="Microsoft YaHei"/>
              </a:rPr>
              <a:t>Existing Benchmark Problems for Dynamic Modeling (Hass 2019)</a:t>
            </a:r>
            <a:endParaRPr lang="de-DE" sz="5000" spc="-1" dirty="0">
              <a:solidFill>
                <a:schemeClr val="dk1"/>
              </a:solidFill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624840" y="12582153"/>
            <a:ext cx="10661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smtClean="0"/>
              <a:t>H. Hass et Al., </a:t>
            </a:r>
            <a:r>
              <a:rPr lang="de-DE" i="1" dirty="0" err="1" smtClean="0"/>
              <a:t>Bioinformatics</a:t>
            </a:r>
            <a:r>
              <a:rPr lang="de-DE" dirty="0" smtClean="0"/>
              <a:t>, 2019, 35(17): 3073–3082</a:t>
            </a:r>
            <a:r>
              <a:rPr lang="de-DE" dirty="0"/>
              <a:t>, </a:t>
            </a:r>
            <a:r>
              <a:rPr lang="de-DE" dirty="0">
                <a:hlinkClick r:id="rId8"/>
              </a:rPr>
              <a:t>https://doi.org/10.1093/bioinformatics/btz020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1763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rafik 71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-1686" r="-868"/>
          <a:stretch/>
        </p:blipFill>
        <p:spPr>
          <a:xfrm>
            <a:off x="1270186" y="1592580"/>
            <a:ext cx="6592907" cy="475888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</p:pic>
      <p:sp>
        <p:nvSpPr>
          <p:cNvPr id="2" name="PlaceHolder 1"/>
          <p:cNvSpPr txBox="1">
            <a:spLocks/>
          </p:cNvSpPr>
          <p:nvPr/>
        </p:nvSpPr>
        <p:spPr>
          <a:xfrm>
            <a:off x="295200" y="321840"/>
            <a:ext cx="20809080" cy="985320"/>
          </a:xfrm>
          <a:prstGeom prst="rect">
            <a:avLst/>
          </a:prstGeom>
          <a:noFill/>
          <a:ln w="0">
            <a:noFill/>
          </a:ln>
        </p:spPr>
        <p:txBody>
          <a:bodyPr lIns="71280" tIns="71280" rIns="71280" bIns="7128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spcBef>
                <a:spcPts val="100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5000" spc="-1" dirty="0" smtClean="0">
                <a:solidFill>
                  <a:srgbClr val="000000"/>
                </a:solidFill>
                <a:latin typeface="Impact"/>
                <a:ea typeface="Microsoft YaHei"/>
              </a:rPr>
              <a:t>Realistic Simulations of Time-Course Data (</a:t>
            </a:r>
            <a:r>
              <a:rPr lang="en-US" sz="5000" spc="-1" dirty="0" err="1" smtClean="0">
                <a:solidFill>
                  <a:srgbClr val="000000"/>
                </a:solidFill>
                <a:latin typeface="Impact"/>
                <a:ea typeface="Microsoft YaHei"/>
              </a:rPr>
              <a:t>Egert</a:t>
            </a:r>
            <a:r>
              <a:rPr lang="en-US" sz="5000" spc="-1" dirty="0" smtClean="0">
                <a:solidFill>
                  <a:srgbClr val="000000"/>
                </a:solidFill>
                <a:latin typeface="Impact"/>
                <a:ea typeface="Microsoft YaHei"/>
              </a:rPr>
              <a:t> 2023)</a:t>
            </a:r>
            <a:endParaRPr lang="de-DE" sz="5000" spc="-1" dirty="0">
              <a:solidFill>
                <a:schemeClr val="dk1"/>
              </a:solidFill>
              <a:latin typeface="Helvetica Neue Medium"/>
            </a:endParaRPr>
          </a:p>
        </p:txBody>
      </p:sp>
      <p:sp>
        <p:nvSpPr>
          <p:cNvPr id="6" name="180-Grad-Pfeil 5"/>
          <p:cNvSpPr/>
          <p:nvPr/>
        </p:nvSpPr>
        <p:spPr>
          <a:xfrm rot="5400000">
            <a:off x="6220971" y="4954019"/>
            <a:ext cx="7936410" cy="4642540"/>
          </a:xfrm>
          <a:prstGeom prst="uturnArrow">
            <a:avLst>
              <a:gd name="adj1" fmla="val 1608"/>
              <a:gd name="adj2" fmla="val 4034"/>
              <a:gd name="adj3" fmla="val 20496"/>
              <a:gd name="adj4" fmla="val 0"/>
              <a:gd name="adj5" fmla="val 10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4275064" y="2901329"/>
            <a:ext cx="7567145" cy="8448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5400"/>
              </a:spcAft>
              <a:buAutoNum type="arabicPeriod"/>
            </a:pPr>
            <a:r>
              <a:rPr lang="de-DE" sz="2400" b="1" dirty="0" smtClean="0"/>
              <a:t>Draw </a:t>
            </a:r>
            <a:r>
              <a:rPr lang="de-DE" sz="2400" b="1" dirty="0" err="1" smtClean="0"/>
              <a:t>typical</a:t>
            </a:r>
            <a:r>
              <a:rPr lang="de-DE" sz="2400" b="1" dirty="0" smtClean="0"/>
              <a:t> observables:</a:t>
            </a:r>
            <a:r>
              <a:rPr lang="de-DE" sz="2400" b="1" dirty="0"/>
              <a:t/>
            </a:r>
            <a:br>
              <a:rPr lang="de-DE" sz="2400" b="1" dirty="0"/>
            </a:br>
            <a:r>
              <a:rPr lang="de-DE" sz="2400" dirty="0" err="1" smtClean="0"/>
              <a:t>How</a:t>
            </a:r>
            <a:r>
              <a:rPr lang="de-DE" sz="2400" dirty="0" smtClean="0"/>
              <a:t> </a:t>
            </a:r>
            <a:r>
              <a:rPr lang="de-DE" sz="2400" dirty="0" err="1" smtClean="0"/>
              <a:t>many</a:t>
            </a:r>
            <a:r>
              <a:rPr lang="de-DE" sz="2400" dirty="0" smtClean="0"/>
              <a:t>?</a:t>
            </a:r>
            <a:br>
              <a:rPr lang="de-DE" sz="2400" dirty="0" smtClean="0"/>
            </a:br>
            <a:r>
              <a:rPr lang="de-DE" sz="2400" dirty="0" err="1" smtClean="0"/>
              <a:t>Which</a:t>
            </a:r>
            <a:r>
              <a:rPr lang="de-DE" sz="2400" dirty="0" smtClean="0"/>
              <a:t> </a:t>
            </a:r>
            <a:r>
              <a:rPr lang="de-DE" sz="2400" dirty="0" err="1" smtClean="0"/>
              <a:t>states</a:t>
            </a:r>
            <a:r>
              <a:rPr lang="de-DE" sz="2400" dirty="0" smtClean="0"/>
              <a:t>?</a:t>
            </a:r>
            <a:br>
              <a:rPr lang="de-DE" sz="2400" dirty="0" smtClean="0"/>
            </a:br>
            <a:r>
              <a:rPr lang="de-DE" sz="2400" dirty="0" err="1" smtClean="0"/>
              <a:t>Which</a:t>
            </a:r>
            <a:r>
              <a:rPr lang="de-DE" sz="2400" dirty="0" smtClean="0"/>
              <a:t> </a:t>
            </a:r>
            <a:r>
              <a:rPr lang="de-DE" sz="2400" dirty="0" err="1" smtClean="0"/>
              <a:t>compounds</a:t>
            </a:r>
            <a:r>
              <a:rPr lang="de-DE" sz="2400" dirty="0" smtClean="0"/>
              <a:t>?</a:t>
            </a:r>
            <a:br>
              <a:rPr lang="de-DE" sz="2400" dirty="0" smtClean="0"/>
            </a:br>
            <a:endParaRPr lang="de-DE" sz="2400" dirty="0" smtClean="0"/>
          </a:p>
          <a:p>
            <a:pPr marL="342900" indent="-342900">
              <a:spcAft>
                <a:spcPts val="5400"/>
              </a:spcAft>
              <a:buAutoNum type="arabicPeriod"/>
            </a:pPr>
            <a:r>
              <a:rPr lang="de-DE" sz="2400" b="1" dirty="0" err="1" smtClean="0"/>
              <a:t>Characterize</a:t>
            </a:r>
            <a:r>
              <a:rPr lang="de-DE" sz="2400" b="1" dirty="0" smtClean="0"/>
              <a:t> </a:t>
            </a:r>
            <a:r>
              <a:rPr lang="de-DE" sz="2400" b="1" dirty="0" err="1" smtClean="0"/>
              <a:t>dynamics</a:t>
            </a:r>
            <a:r>
              <a:rPr lang="de-DE" sz="2400" b="1" dirty="0" smtClean="0"/>
              <a:t>:</a:t>
            </a:r>
            <a:br>
              <a:rPr lang="de-DE" sz="2400" b="1" dirty="0" smtClean="0"/>
            </a:br>
            <a:r>
              <a:rPr lang="de-DE" sz="2400" dirty="0" err="1" smtClean="0"/>
              <a:t>Approximate</a:t>
            </a:r>
            <a:r>
              <a:rPr lang="de-DE" sz="2400" dirty="0" smtClean="0"/>
              <a:t> </a:t>
            </a:r>
            <a:r>
              <a:rPr lang="de-DE" sz="2400" dirty="0" err="1" smtClean="0"/>
              <a:t>dynamics</a:t>
            </a:r>
            <a:r>
              <a:rPr lang="de-DE" sz="2400" dirty="0" smtClean="0"/>
              <a:t> </a:t>
            </a:r>
            <a:r>
              <a:rPr lang="de-DE" sz="2400" dirty="0" err="1" smtClean="0"/>
              <a:t>by</a:t>
            </a:r>
            <a:r>
              <a:rPr lang="de-DE" sz="2400" dirty="0" smtClean="0"/>
              <a:t> RTF</a:t>
            </a:r>
            <a:br>
              <a:rPr lang="de-DE" sz="2400" dirty="0" smtClean="0"/>
            </a:br>
            <a:r>
              <a:rPr lang="de-DE" sz="2400" dirty="0" smtClean="0">
                <a:sym typeface="Wingdings" panose="05000000000000000000" pitchFamily="2" charset="2"/>
              </a:rPr>
              <a:t> </a:t>
            </a:r>
            <a:r>
              <a:rPr lang="de-DE" sz="2400" dirty="0" err="1" smtClean="0">
                <a:sym typeface="Wingdings" panose="05000000000000000000" pitchFamily="2" charset="2"/>
              </a:rPr>
              <a:t>estimate</a:t>
            </a:r>
            <a:r>
              <a:rPr lang="de-DE" sz="2400" dirty="0" smtClean="0"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ym typeface="Wingdings" panose="05000000000000000000" pitchFamily="2" charset="2"/>
              </a:rPr>
              <a:t>timescales</a:t>
            </a:r>
            <a:endParaRPr lang="de-DE" sz="2400" dirty="0" smtClean="0">
              <a:sym typeface="Wingdings" panose="05000000000000000000" pitchFamily="2" charset="2"/>
            </a:endParaRPr>
          </a:p>
          <a:p>
            <a:pPr marL="342900" indent="-342900">
              <a:spcAft>
                <a:spcPts val="5400"/>
              </a:spcAft>
              <a:buAutoNum type="arabicPeriod"/>
            </a:pPr>
            <a:r>
              <a:rPr lang="de-DE" sz="2400" b="1" dirty="0" smtClean="0">
                <a:sym typeface="Wingdings" panose="05000000000000000000" pitchFamily="2" charset="2"/>
              </a:rPr>
              <a:t>Set </a:t>
            </a:r>
            <a:r>
              <a:rPr lang="de-DE" sz="2400" b="1" dirty="0" err="1" smtClean="0">
                <a:sym typeface="Wingdings" panose="05000000000000000000" pitchFamily="2" charset="2"/>
              </a:rPr>
              <a:t>realistic</a:t>
            </a:r>
            <a:r>
              <a:rPr lang="de-DE" sz="2400" b="1" dirty="0" smtClean="0">
                <a:sym typeface="Wingdings" panose="05000000000000000000" pitchFamily="2" charset="2"/>
              </a:rPr>
              <a:t> time-points:</a:t>
            </a:r>
            <a:br>
              <a:rPr lang="de-DE" sz="2400" b="1" dirty="0" smtClean="0">
                <a:sym typeface="Wingdings" panose="05000000000000000000" pitchFamily="2" charset="2"/>
              </a:rPr>
            </a:br>
            <a:r>
              <a:rPr lang="de-DE" sz="2400" b="1" dirty="0" smtClean="0">
                <a:sym typeface="Wingdings" panose="05000000000000000000" pitchFamily="2" charset="2"/>
              </a:rPr>
              <a:t>			</a:t>
            </a:r>
            <a:r>
              <a:rPr lang="de-DE" sz="2400" dirty="0">
                <a:sym typeface="Wingdings" panose="05000000000000000000" pitchFamily="2" charset="2"/>
              </a:rPr>
              <a:t>t</a:t>
            </a:r>
            <a:r>
              <a:rPr lang="de-DE" sz="2400" dirty="0" smtClean="0">
                <a:sym typeface="Wingdings" panose="05000000000000000000" pitchFamily="2" charset="2"/>
              </a:rPr>
              <a:t>ime </a:t>
            </a:r>
            <a:r>
              <a:rPr lang="de-DE" sz="2400" dirty="0" err="1" smtClean="0">
                <a:sym typeface="Wingdings" panose="05000000000000000000" pitchFamily="2" charset="2"/>
              </a:rPr>
              <a:t>interval</a:t>
            </a:r>
            <a:r>
              <a:rPr lang="de-DE" sz="2400" dirty="0" smtClean="0">
                <a:sym typeface="Wingdings" panose="05000000000000000000" pitchFamily="2" charset="2"/>
              </a:rPr>
              <a:t>,</a:t>
            </a:r>
            <a:br>
              <a:rPr lang="de-DE" sz="2400" dirty="0" smtClean="0">
                <a:sym typeface="Wingdings" panose="05000000000000000000" pitchFamily="2" charset="2"/>
              </a:rPr>
            </a:br>
            <a:r>
              <a:rPr lang="de-DE" sz="2400" dirty="0" smtClean="0">
                <a:sym typeface="Wingdings" panose="05000000000000000000" pitchFamily="2" charset="2"/>
              </a:rPr>
              <a:t>RTF </a:t>
            </a:r>
            <a:r>
              <a:rPr lang="de-DE" sz="2400" dirty="0" err="1" smtClean="0">
                <a:sym typeface="Wingdings" panose="05000000000000000000" pitchFamily="2" charset="2"/>
              </a:rPr>
              <a:t>params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smtClean="0">
                <a:sym typeface="Wingdings" panose="05000000000000000000" pitchFamily="2" charset="2"/>
              </a:rPr>
              <a:t> 	# </a:t>
            </a:r>
            <a:r>
              <a:rPr lang="de-DE" sz="2400" dirty="0" err="1" smtClean="0">
                <a:sym typeface="Wingdings" panose="05000000000000000000" pitchFamily="2" charset="2"/>
              </a:rPr>
              <a:t>points</a:t>
            </a:r>
            <a:r>
              <a:rPr lang="de-DE" sz="2400" dirty="0" smtClean="0">
                <a:sym typeface="Wingdings" panose="05000000000000000000" pitchFamily="2" charset="2"/>
              </a:rPr>
              <a:t>,</a:t>
            </a:r>
            <a:br>
              <a:rPr lang="de-DE" sz="2400" dirty="0" smtClean="0">
                <a:sym typeface="Wingdings" panose="05000000000000000000" pitchFamily="2" charset="2"/>
              </a:rPr>
            </a:br>
            <a:r>
              <a:rPr lang="de-DE" sz="2400" dirty="0" smtClean="0">
                <a:sym typeface="Wingdings" panose="05000000000000000000" pitchFamily="2" charset="2"/>
              </a:rPr>
              <a:t>			</a:t>
            </a:r>
            <a:r>
              <a:rPr lang="de-DE" sz="2400" dirty="0" err="1" smtClean="0">
                <a:sym typeface="Wingdings" panose="05000000000000000000" pitchFamily="2" charset="2"/>
              </a:rPr>
              <a:t>spacing</a:t>
            </a:r>
            <a:r>
              <a:rPr lang="de-DE" sz="2400" dirty="0" smtClean="0">
                <a:sym typeface="Wingdings" panose="05000000000000000000" pitchFamily="2" charset="2"/>
              </a:rPr>
              <a:t/>
            </a:r>
            <a:br>
              <a:rPr lang="de-DE" sz="2400" dirty="0" smtClean="0">
                <a:sym typeface="Wingdings" panose="05000000000000000000" pitchFamily="2" charset="2"/>
              </a:rPr>
            </a:br>
            <a:endParaRPr lang="de-DE" sz="2400" dirty="0" smtClean="0">
              <a:sym typeface="Wingdings" panose="05000000000000000000" pitchFamily="2" charset="2"/>
            </a:endParaRPr>
          </a:p>
          <a:p>
            <a:pPr marL="342900" indent="-342900">
              <a:spcAft>
                <a:spcPts val="5400"/>
              </a:spcAft>
              <a:buAutoNum type="arabicPeriod"/>
            </a:pPr>
            <a:r>
              <a:rPr lang="de-DE" sz="2400" b="1" dirty="0" err="1" smtClean="0">
                <a:sym typeface="Wingdings" panose="05000000000000000000" pitchFamily="2" charset="2"/>
              </a:rPr>
              <a:t>Simulate</a:t>
            </a:r>
            <a:r>
              <a:rPr lang="de-DE" sz="2400" b="1" dirty="0" smtClean="0">
                <a:sym typeface="Wingdings" panose="05000000000000000000" pitchFamily="2" charset="2"/>
              </a:rPr>
              <a:t> </a:t>
            </a:r>
            <a:r>
              <a:rPr lang="de-DE" sz="2400" b="1" dirty="0" err="1" smtClean="0">
                <a:sym typeface="Wingdings" panose="05000000000000000000" pitchFamily="2" charset="2"/>
              </a:rPr>
              <a:t>data</a:t>
            </a:r>
            <a:r>
              <a:rPr lang="de-DE" sz="2400" b="1" dirty="0" smtClean="0">
                <a:sym typeface="Wingdings" panose="05000000000000000000" pitchFamily="2" charset="2"/>
              </a:rPr>
              <a:t>:</a:t>
            </a:r>
            <a:br>
              <a:rPr lang="de-DE" sz="2400" b="1" dirty="0" smtClean="0">
                <a:sym typeface="Wingdings" panose="05000000000000000000" pitchFamily="2" charset="2"/>
              </a:rPr>
            </a:br>
            <a:r>
              <a:rPr lang="de-DE" sz="2400" dirty="0" err="1">
                <a:sym typeface="Wingdings" panose="05000000000000000000" pitchFamily="2" charset="2"/>
              </a:rPr>
              <a:t>c</a:t>
            </a:r>
            <a:r>
              <a:rPr lang="de-DE" sz="2400" dirty="0" err="1" smtClean="0">
                <a:sym typeface="Wingdings" panose="05000000000000000000" pitchFamily="2" charset="2"/>
              </a:rPr>
              <a:t>alculate</a:t>
            </a:r>
            <a:r>
              <a:rPr lang="de-DE" sz="2400" dirty="0" smtClean="0"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ym typeface="Wingdings" panose="05000000000000000000" pitchFamily="2" charset="2"/>
              </a:rPr>
              <a:t>model</a:t>
            </a:r>
            <a:r>
              <a:rPr lang="de-DE" sz="2400" dirty="0" smtClean="0"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ym typeface="Wingdings" panose="05000000000000000000" pitchFamily="2" charset="2"/>
              </a:rPr>
              <a:t>dynamics</a:t>
            </a:r>
            <a:r>
              <a:rPr lang="de-DE" sz="2400" dirty="0" smtClean="0">
                <a:sym typeface="Wingdings" panose="05000000000000000000" pitchFamily="2" charset="2"/>
              </a:rPr>
              <a:t>,</a:t>
            </a:r>
            <a:br>
              <a:rPr lang="de-DE" sz="2400" dirty="0" smtClean="0">
                <a:sym typeface="Wingdings" panose="05000000000000000000" pitchFamily="2" charset="2"/>
              </a:rPr>
            </a:br>
            <a:r>
              <a:rPr lang="de-DE" sz="2400" dirty="0" err="1" smtClean="0">
                <a:sym typeface="Wingdings" panose="05000000000000000000" pitchFamily="2" charset="2"/>
              </a:rPr>
              <a:t>add</a:t>
            </a:r>
            <a:r>
              <a:rPr lang="de-DE" sz="2400" dirty="0" smtClean="0"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ym typeface="Wingdings" panose="05000000000000000000" pitchFamily="2" charset="2"/>
              </a:rPr>
              <a:t>realistic</a:t>
            </a:r>
            <a:r>
              <a:rPr lang="de-DE" sz="2400" dirty="0" smtClean="0"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ym typeface="Wingdings" panose="05000000000000000000" pitchFamily="2" charset="2"/>
              </a:rPr>
              <a:t>noise</a:t>
            </a:r>
            <a:r>
              <a:rPr lang="de-DE" sz="2400" dirty="0" smtClean="0">
                <a:sym typeface="Wingdings" panose="05000000000000000000" pitchFamily="2" charset="2"/>
              </a:rPr>
              <a:t>,</a:t>
            </a:r>
            <a:br>
              <a:rPr lang="de-DE" sz="2400" dirty="0" smtClean="0">
                <a:sym typeface="Wingdings" panose="05000000000000000000" pitchFamily="2" charset="2"/>
              </a:rPr>
            </a:br>
            <a:r>
              <a:rPr lang="de-DE" sz="2400" dirty="0" err="1" smtClean="0">
                <a:sym typeface="Wingdings" panose="05000000000000000000" pitchFamily="2" charset="2"/>
              </a:rPr>
              <a:t>add</a:t>
            </a:r>
            <a:r>
              <a:rPr lang="de-DE" sz="2400" dirty="0" smtClean="0"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ym typeface="Wingdings" panose="05000000000000000000" pitchFamily="2" charset="2"/>
              </a:rPr>
              <a:t>random</a:t>
            </a:r>
            <a:r>
              <a:rPr lang="de-DE" sz="2400" dirty="0" smtClean="0"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ym typeface="Wingdings" panose="05000000000000000000" pitchFamily="2" charset="2"/>
              </a:rPr>
              <a:t>transformations</a:t>
            </a:r>
            <a:r>
              <a:rPr lang="de-DE" sz="2400" dirty="0" smtClean="0">
                <a:sym typeface="Wingdings" panose="05000000000000000000" pitchFamily="2" charset="2"/>
              </a:rPr>
              <a:t> (</a:t>
            </a:r>
            <a:r>
              <a:rPr lang="de-DE" sz="2400" dirty="0" err="1" smtClean="0">
                <a:sym typeface="Wingdings" panose="05000000000000000000" pitchFamily="2" charset="2"/>
              </a:rPr>
              <a:t>scale</a:t>
            </a:r>
            <a:r>
              <a:rPr lang="de-DE" sz="2400" dirty="0" smtClean="0">
                <a:sym typeface="Wingdings" panose="05000000000000000000" pitchFamily="2" charset="2"/>
              </a:rPr>
              <a:t>, </a:t>
            </a:r>
            <a:r>
              <a:rPr lang="de-DE" sz="2400" dirty="0" err="1" smtClean="0">
                <a:sym typeface="Wingdings" panose="05000000000000000000" pitchFamily="2" charset="2"/>
              </a:rPr>
              <a:t>offset</a:t>
            </a:r>
            <a:r>
              <a:rPr lang="de-DE" sz="2400" dirty="0" smtClean="0">
                <a:sym typeface="Wingdings" panose="05000000000000000000" pitchFamily="2" charset="2"/>
              </a:rPr>
              <a:t>, log)</a:t>
            </a:r>
            <a:endParaRPr lang="de-DE" sz="2400" b="1" dirty="0" smtClean="0"/>
          </a:p>
        </p:txBody>
      </p:sp>
      <p:pic>
        <p:nvPicPr>
          <p:cNvPr id="36" name="Grafik 35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407" y="5234765"/>
            <a:ext cx="4320000" cy="36000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4" name="Gruppieren 3"/>
          <p:cNvGrpSpPr/>
          <p:nvPr/>
        </p:nvGrpSpPr>
        <p:grpSpPr>
          <a:xfrm>
            <a:off x="10466061" y="5558765"/>
            <a:ext cx="2837813" cy="2880000"/>
            <a:chOff x="10466061" y="5558765"/>
            <a:chExt cx="2837813" cy="2880000"/>
          </a:xfrm>
        </p:grpSpPr>
        <p:cxnSp>
          <p:nvCxnSpPr>
            <p:cNvPr id="38" name="Gerader Verbinder 37"/>
            <p:cNvCxnSpPr/>
            <p:nvPr/>
          </p:nvCxnSpPr>
          <p:spPr>
            <a:xfrm>
              <a:off x="10466061" y="5558765"/>
              <a:ext cx="0" cy="288000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/>
            <p:cNvCxnSpPr/>
            <p:nvPr/>
          </p:nvCxnSpPr>
          <p:spPr>
            <a:xfrm>
              <a:off x="10667354" y="5558765"/>
              <a:ext cx="0" cy="288000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Gerader Verbinder 40"/>
            <p:cNvCxnSpPr/>
            <p:nvPr/>
          </p:nvCxnSpPr>
          <p:spPr>
            <a:xfrm>
              <a:off x="13303874" y="5918400"/>
              <a:ext cx="0" cy="252000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r Verbinder 41"/>
            <p:cNvCxnSpPr/>
            <p:nvPr/>
          </p:nvCxnSpPr>
          <p:spPr>
            <a:xfrm>
              <a:off x="10903574" y="5918400"/>
              <a:ext cx="0" cy="252000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r Verbinder 42"/>
            <p:cNvCxnSpPr/>
            <p:nvPr/>
          </p:nvCxnSpPr>
          <p:spPr>
            <a:xfrm>
              <a:off x="11200754" y="5918400"/>
              <a:ext cx="0" cy="252000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r Verbinder 43"/>
            <p:cNvCxnSpPr/>
            <p:nvPr/>
          </p:nvCxnSpPr>
          <p:spPr>
            <a:xfrm>
              <a:off x="12038954" y="5918400"/>
              <a:ext cx="0" cy="252000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44"/>
            <p:cNvCxnSpPr/>
            <p:nvPr/>
          </p:nvCxnSpPr>
          <p:spPr>
            <a:xfrm>
              <a:off x="11520794" y="5918400"/>
              <a:ext cx="0" cy="252000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/>
            <p:cNvCxnSpPr/>
            <p:nvPr/>
          </p:nvCxnSpPr>
          <p:spPr>
            <a:xfrm>
              <a:off x="12656174" y="5918400"/>
              <a:ext cx="0" cy="252000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uppieren 4"/>
          <p:cNvGrpSpPr/>
          <p:nvPr/>
        </p:nvGrpSpPr>
        <p:grpSpPr>
          <a:xfrm>
            <a:off x="1270186" y="7687052"/>
            <a:ext cx="6552397" cy="4680000"/>
            <a:chOff x="1270186" y="7687052"/>
            <a:chExt cx="6552397" cy="4680000"/>
          </a:xfrm>
        </p:grpSpPr>
        <p:pic>
          <p:nvPicPr>
            <p:cNvPr id="15" name="Grafik 1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0186" y="7687052"/>
              <a:ext cx="6552397" cy="4680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sp>
          <p:nvSpPr>
            <p:cNvPr id="37" name="Textfeld 36"/>
            <p:cNvSpPr txBox="1"/>
            <p:nvPr/>
          </p:nvSpPr>
          <p:spPr>
            <a:xfrm>
              <a:off x="4546186" y="10159785"/>
              <a:ext cx="306365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800" b="1" dirty="0" err="1" smtClean="0"/>
                <a:t>realistic</a:t>
              </a:r>
              <a:r>
                <a:rPr lang="de-DE" sz="2800" b="1" dirty="0"/>
                <a:t/>
              </a:r>
              <a:br>
                <a:rPr lang="de-DE" sz="2800" b="1" dirty="0"/>
              </a:br>
              <a:r>
                <a:rPr lang="de-DE" sz="2800" b="1" dirty="0" smtClean="0"/>
                <a:t>time-</a:t>
              </a:r>
              <a:r>
                <a:rPr lang="de-DE" sz="2800" b="1" dirty="0" err="1" smtClean="0"/>
                <a:t>course</a:t>
              </a:r>
              <a:r>
                <a:rPr lang="de-DE" sz="2800" b="1" dirty="0" smtClean="0"/>
                <a:t> </a:t>
              </a:r>
              <a:r>
                <a:rPr lang="de-DE" sz="2800" b="1" dirty="0" err="1" smtClean="0"/>
                <a:t>data</a:t>
              </a:r>
              <a:endParaRPr lang="de-DE" sz="2800" b="1" dirty="0"/>
            </a:p>
          </p:txBody>
        </p:sp>
      </p:grpSp>
      <p:sp>
        <p:nvSpPr>
          <p:cNvPr id="74" name="Textfeld 73"/>
          <p:cNvSpPr txBox="1"/>
          <p:nvPr/>
        </p:nvSpPr>
        <p:spPr>
          <a:xfrm>
            <a:off x="1324518" y="5223034"/>
            <a:ext cx="230223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800" b="1" dirty="0" smtClean="0"/>
              <a:t>ODE </a:t>
            </a:r>
            <a:r>
              <a:rPr lang="de-DE" sz="2800" b="1" dirty="0" err="1" smtClean="0"/>
              <a:t>model</a:t>
            </a:r>
            <a:r>
              <a:rPr lang="de-DE" sz="2800" b="1" dirty="0" smtClean="0"/>
              <a:t/>
            </a:r>
            <a:br>
              <a:rPr lang="de-DE" sz="2800" b="1" dirty="0" smtClean="0"/>
            </a:br>
            <a:r>
              <a:rPr lang="de-DE" sz="2800" b="1" dirty="0" err="1" smtClean="0"/>
              <a:t>without</a:t>
            </a:r>
            <a:r>
              <a:rPr lang="de-DE" sz="2800" b="1" dirty="0" smtClean="0"/>
              <a:t> </a:t>
            </a:r>
            <a:r>
              <a:rPr lang="de-DE" sz="2800" b="1" dirty="0" err="1" smtClean="0"/>
              <a:t>data</a:t>
            </a:r>
            <a:endParaRPr lang="de-DE" sz="2800" b="1" dirty="0"/>
          </a:p>
        </p:txBody>
      </p:sp>
      <p:grpSp>
        <p:nvGrpSpPr>
          <p:cNvPr id="3" name="Gruppieren 2"/>
          <p:cNvGrpSpPr/>
          <p:nvPr/>
        </p:nvGrpSpPr>
        <p:grpSpPr>
          <a:xfrm>
            <a:off x="3296919" y="2702561"/>
            <a:ext cx="10734675" cy="3403599"/>
            <a:chOff x="3296919" y="2702561"/>
            <a:chExt cx="10734675" cy="3403599"/>
          </a:xfrm>
        </p:grpSpPr>
        <p:sp>
          <p:nvSpPr>
            <p:cNvPr id="75" name="Abgerundetes Rechteck 74"/>
            <p:cNvSpPr/>
            <p:nvPr/>
          </p:nvSpPr>
          <p:spPr>
            <a:xfrm>
              <a:off x="3296919" y="2702561"/>
              <a:ext cx="1686561" cy="28956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76" name="Gerader Verbinder 75"/>
            <p:cNvCxnSpPr>
              <a:stCxn id="75" idx="3"/>
            </p:cNvCxnSpPr>
            <p:nvPr/>
          </p:nvCxnSpPr>
          <p:spPr>
            <a:xfrm>
              <a:off x="4983480" y="2847341"/>
              <a:ext cx="9048114" cy="30216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Abgerundetes Rechteck 76"/>
            <p:cNvSpPr/>
            <p:nvPr/>
          </p:nvSpPr>
          <p:spPr>
            <a:xfrm>
              <a:off x="5493049" y="5055394"/>
              <a:ext cx="596856" cy="33528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78" name="Gerader Verbinder 77"/>
            <p:cNvCxnSpPr>
              <a:stCxn id="77" idx="3"/>
            </p:cNvCxnSpPr>
            <p:nvPr/>
          </p:nvCxnSpPr>
          <p:spPr>
            <a:xfrm flipV="1">
              <a:off x="6089905" y="3149695"/>
              <a:ext cx="7908437" cy="207333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Gerader Verbinder 78"/>
            <p:cNvCxnSpPr>
              <a:stCxn id="84" idx="3"/>
            </p:cNvCxnSpPr>
            <p:nvPr/>
          </p:nvCxnSpPr>
          <p:spPr>
            <a:xfrm flipV="1">
              <a:off x="5295428" y="3149695"/>
              <a:ext cx="8736166" cy="278882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Abgerundetes Rechteck 83"/>
            <p:cNvSpPr/>
            <p:nvPr/>
          </p:nvSpPr>
          <p:spPr>
            <a:xfrm>
              <a:off x="4565908" y="5770880"/>
              <a:ext cx="729520" cy="33528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6" name="Textfeld 85"/>
          <p:cNvSpPr txBox="1"/>
          <p:nvPr/>
        </p:nvSpPr>
        <p:spPr>
          <a:xfrm>
            <a:off x="10999995" y="5337369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 err="1"/>
              <a:t>d</a:t>
            </a:r>
            <a:r>
              <a:rPr lang="de-DE" b="1" dirty="0" err="1" smtClean="0"/>
              <a:t>ynamics</a:t>
            </a:r>
            <a:r>
              <a:rPr lang="de-DE" b="1" dirty="0" smtClean="0"/>
              <a:t> </a:t>
            </a:r>
            <a:r>
              <a:rPr lang="de-DE" b="1" dirty="0" err="1" smtClean="0"/>
              <a:t>and</a:t>
            </a:r>
            <a:r>
              <a:rPr lang="de-DE" b="1" dirty="0" smtClean="0"/>
              <a:t> time-points</a:t>
            </a:r>
            <a:endParaRPr lang="de-DE" b="1" dirty="0"/>
          </a:p>
        </p:txBody>
      </p:sp>
      <p:grpSp>
        <p:nvGrpSpPr>
          <p:cNvPr id="8" name="Gruppieren 7"/>
          <p:cNvGrpSpPr/>
          <p:nvPr/>
        </p:nvGrpSpPr>
        <p:grpSpPr>
          <a:xfrm>
            <a:off x="18758882" y="3115271"/>
            <a:ext cx="5370830" cy="7628928"/>
            <a:chOff x="18758882" y="3115271"/>
            <a:chExt cx="5370830" cy="7628928"/>
          </a:xfrm>
        </p:grpSpPr>
        <p:grpSp>
          <p:nvGrpSpPr>
            <p:cNvPr id="90" name="Gruppieren 89"/>
            <p:cNvGrpSpPr/>
            <p:nvPr/>
          </p:nvGrpSpPr>
          <p:grpSpPr>
            <a:xfrm>
              <a:off x="19652050" y="3871271"/>
              <a:ext cx="4477662" cy="3061072"/>
              <a:chOff x="18139326" y="2900363"/>
              <a:chExt cx="4477662" cy="3061072"/>
            </a:xfrm>
          </p:grpSpPr>
          <p:grpSp>
            <p:nvGrpSpPr>
              <p:cNvPr id="91" name="Gruppieren 90"/>
              <p:cNvGrpSpPr/>
              <p:nvPr/>
            </p:nvGrpSpPr>
            <p:grpSpPr>
              <a:xfrm>
                <a:off x="19505056" y="2900363"/>
                <a:ext cx="1800000" cy="1800000"/>
                <a:chOff x="19616737" y="2900363"/>
                <a:chExt cx="2371101" cy="2371101"/>
              </a:xfrm>
            </p:grpSpPr>
            <p:pic>
              <p:nvPicPr>
                <p:cNvPr id="93" name="Grafik 92"/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616737" y="2900363"/>
                  <a:ext cx="2371101" cy="2371101"/>
                </a:xfrm>
                <a:prstGeom prst="rect">
                  <a:avLst/>
                </a:prstGeom>
              </p:spPr>
            </p:pic>
            <p:pic>
              <p:nvPicPr>
                <p:cNvPr id="94" name="Grafik 93"/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172287" y="3767137"/>
                  <a:ext cx="1260000" cy="1260000"/>
                </a:xfrm>
                <a:prstGeom prst="rect">
                  <a:avLst/>
                </a:prstGeom>
              </p:spPr>
            </p:pic>
          </p:grpSp>
          <p:sp>
            <p:nvSpPr>
              <p:cNvPr id="92" name="Textfeld 91"/>
              <p:cNvSpPr txBox="1"/>
              <p:nvPr/>
            </p:nvSpPr>
            <p:spPr>
              <a:xfrm>
                <a:off x="18139326" y="4514885"/>
                <a:ext cx="447766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2400" b="1" dirty="0" smtClean="0"/>
                  <a:t>20 Benchmark</a:t>
                </a:r>
                <a:br>
                  <a:rPr lang="de-DE" sz="2400" b="1" dirty="0" smtClean="0"/>
                </a:br>
                <a:r>
                  <a:rPr lang="de-DE" sz="2400" b="1" dirty="0" smtClean="0"/>
                  <a:t>Problems</a:t>
                </a:r>
              </a:p>
              <a:p>
                <a:pPr algn="ctr"/>
                <a:r>
                  <a:rPr lang="de-DE" sz="2000" dirty="0" err="1" smtClean="0"/>
                  <a:t>characteristics</a:t>
                </a:r>
                <a:r>
                  <a:rPr lang="de-DE" sz="2000" dirty="0"/>
                  <a:t/>
                </a:r>
                <a:br>
                  <a:rPr lang="de-DE" sz="2000" dirty="0"/>
                </a:br>
                <a:r>
                  <a:rPr lang="de-DE" sz="2000" dirty="0" smtClean="0">
                    <a:sym typeface="Wingdings" panose="05000000000000000000" pitchFamily="2" charset="2"/>
                  </a:rPr>
                  <a:t></a:t>
                </a:r>
                <a:r>
                  <a:rPr lang="de-DE" sz="2000" dirty="0" smtClean="0"/>
                  <a:t> </a:t>
                </a:r>
                <a:r>
                  <a:rPr lang="de-DE" sz="2000" dirty="0" err="1" smtClean="0"/>
                  <a:t>method</a:t>
                </a:r>
                <a:r>
                  <a:rPr lang="de-DE" sz="2000" dirty="0" smtClean="0"/>
                  <a:t> </a:t>
                </a:r>
                <a:r>
                  <a:rPr lang="de-DE" sz="2000" dirty="0" err="1" smtClean="0"/>
                  <a:t>calibration</a:t>
                </a:r>
                <a:endParaRPr lang="de-DE" sz="2000" dirty="0"/>
              </a:p>
            </p:txBody>
          </p:sp>
        </p:grpSp>
        <p:cxnSp>
          <p:nvCxnSpPr>
            <p:cNvPr id="95" name="Gewinkelter Verbinder 94"/>
            <p:cNvCxnSpPr>
              <a:stCxn id="93" idx="0"/>
            </p:cNvCxnSpPr>
            <p:nvPr/>
          </p:nvCxnSpPr>
          <p:spPr>
            <a:xfrm rot="16200000" flipV="1">
              <a:off x="19963682" y="1927271"/>
              <a:ext cx="756000" cy="3132000"/>
            </a:xfrm>
            <a:prstGeom prst="bentConnector2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winkelter Verbinder 95"/>
            <p:cNvCxnSpPr>
              <a:stCxn id="92" idx="2"/>
            </p:cNvCxnSpPr>
            <p:nvPr/>
          </p:nvCxnSpPr>
          <p:spPr>
            <a:xfrm rot="5400000">
              <a:off x="20090882" y="5600343"/>
              <a:ext cx="468000" cy="3132000"/>
            </a:xfrm>
            <a:prstGeom prst="bentConnector2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Gewinkelter Verbinder 96"/>
            <p:cNvCxnSpPr>
              <a:stCxn id="92" idx="2"/>
            </p:cNvCxnSpPr>
            <p:nvPr/>
          </p:nvCxnSpPr>
          <p:spPr>
            <a:xfrm rot="5400000">
              <a:off x="18724953" y="7578271"/>
              <a:ext cx="3811857" cy="2520000"/>
            </a:xfrm>
            <a:prstGeom prst="bentConnector3">
              <a:avLst>
                <a:gd name="adj1" fmla="val 99976"/>
              </a:avLst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Foliennummernplatzhalt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FDFA1-13E1-47F7-AAEB-46EC02612569}" type="slidenum">
              <a:rPr lang="de-DE" smtClean="0"/>
              <a:t>6</a:t>
            </a:fld>
            <a:endParaRPr lang="de-DE" dirty="0"/>
          </a:p>
        </p:txBody>
      </p:sp>
      <p:sp>
        <p:nvSpPr>
          <p:cNvPr id="107" name="Rechteck 106"/>
          <p:cNvSpPr/>
          <p:nvPr/>
        </p:nvSpPr>
        <p:spPr>
          <a:xfrm>
            <a:off x="1270186" y="12762370"/>
            <a:ext cx="171244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smtClean="0"/>
              <a:t>J. </a:t>
            </a:r>
            <a:r>
              <a:rPr lang="de-DE" dirty="0" err="1"/>
              <a:t>Egert</a:t>
            </a:r>
            <a:r>
              <a:rPr lang="de-DE" dirty="0"/>
              <a:t>, </a:t>
            </a:r>
            <a:r>
              <a:rPr lang="de-DE" dirty="0" smtClean="0"/>
              <a:t>C. </a:t>
            </a:r>
            <a:r>
              <a:rPr lang="de-DE" dirty="0"/>
              <a:t>Kreutz. </a:t>
            </a:r>
            <a:r>
              <a:rPr lang="de-DE" i="1" dirty="0" err="1" smtClean="0"/>
              <a:t>Mathematical</a:t>
            </a:r>
            <a:r>
              <a:rPr lang="de-DE" i="1" dirty="0" smtClean="0"/>
              <a:t> </a:t>
            </a:r>
            <a:r>
              <a:rPr lang="de-DE" i="1" dirty="0" err="1"/>
              <a:t>Biosciences</a:t>
            </a:r>
            <a:r>
              <a:rPr lang="de-DE" i="1" dirty="0"/>
              <a:t> </a:t>
            </a:r>
            <a:r>
              <a:rPr lang="de-DE" i="1" dirty="0" err="1"/>
              <a:t>and</a:t>
            </a:r>
            <a:r>
              <a:rPr lang="de-DE" i="1" dirty="0"/>
              <a:t> Engineering</a:t>
            </a:r>
            <a:r>
              <a:rPr lang="de-DE" dirty="0"/>
              <a:t>, 2023, 20(6): 10570-10589. </a:t>
            </a:r>
            <a:r>
              <a:rPr lang="de-DE" dirty="0">
                <a:hlinkClick r:id="rId7"/>
              </a:rPr>
              <a:t>https://doi.org/10.3934/mbe.2023467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7573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032" y="1307160"/>
            <a:ext cx="6461808" cy="4407840"/>
          </a:xfrm>
          <a:prstGeom prst="rect">
            <a:avLst/>
          </a:prstGeom>
        </p:spPr>
      </p:pic>
      <p:sp>
        <p:nvSpPr>
          <p:cNvPr id="2" name="PlaceHolder 1"/>
          <p:cNvSpPr txBox="1">
            <a:spLocks/>
          </p:cNvSpPr>
          <p:nvPr/>
        </p:nvSpPr>
        <p:spPr>
          <a:xfrm>
            <a:off x="295200" y="321840"/>
            <a:ext cx="20809080" cy="985320"/>
          </a:xfrm>
          <a:prstGeom prst="rect">
            <a:avLst/>
          </a:prstGeom>
          <a:noFill/>
          <a:ln w="0">
            <a:noFill/>
          </a:ln>
        </p:spPr>
        <p:txBody>
          <a:bodyPr lIns="71280" tIns="71280" rIns="71280" bIns="7128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spcBef>
                <a:spcPts val="100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5000" spc="-1" dirty="0" smtClean="0">
                <a:solidFill>
                  <a:srgbClr val="000000"/>
                </a:solidFill>
                <a:latin typeface="Impact"/>
                <a:ea typeface="Microsoft YaHei"/>
              </a:rPr>
              <a:t>Including Multiple Experimental Conditions</a:t>
            </a:r>
            <a:endParaRPr lang="de-DE" sz="5000" spc="-1" dirty="0">
              <a:solidFill>
                <a:schemeClr val="dk1"/>
              </a:solidFill>
              <a:latin typeface="Helvetica Neue Medium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043952" y="9462198"/>
            <a:ext cx="1877426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0"/>
              </a:spcBef>
            </a:pPr>
            <a:r>
              <a:rPr lang="de-DE" sz="3200" b="1" dirty="0" smtClean="0"/>
              <a:t>Hypothesis:</a:t>
            </a:r>
            <a:r>
              <a:rPr lang="de-DE" sz="3200" dirty="0" smtClean="0"/>
              <a:t>	</a:t>
            </a:r>
            <a:r>
              <a:rPr lang="de-DE" sz="3200" dirty="0" err="1" smtClean="0"/>
              <a:t>realistic</a:t>
            </a:r>
            <a:r>
              <a:rPr lang="de-DE" sz="3200" dirty="0" smtClean="0"/>
              <a:t> </a:t>
            </a:r>
            <a:r>
              <a:rPr lang="de-DE" sz="3200" dirty="0" err="1" smtClean="0"/>
              <a:t>parameter</a:t>
            </a:r>
            <a:r>
              <a:rPr lang="de-DE" sz="3200" dirty="0" smtClean="0"/>
              <a:t> </a:t>
            </a:r>
            <a:r>
              <a:rPr lang="de-DE" sz="3200" dirty="0" err="1" smtClean="0"/>
              <a:t>estimation</a:t>
            </a:r>
            <a:r>
              <a:rPr lang="de-DE" sz="3200" dirty="0" smtClean="0"/>
              <a:t> </a:t>
            </a:r>
            <a:r>
              <a:rPr lang="de-DE" sz="3200" dirty="0" err="1" smtClean="0"/>
              <a:t>problems</a:t>
            </a:r>
            <a:r>
              <a:rPr lang="de-DE" sz="3200" dirty="0" smtClean="0"/>
              <a:t> </a:t>
            </a:r>
            <a:r>
              <a:rPr lang="de-DE" sz="3200" dirty="0" err="1" smtClean="0"/>
              <a:t>need</a:t>
            </a:r>
            <a:r>
              <a:rPr lang="de-DE" sz="3200" dirty="0" smtClean="0"/>
              <a:t> multiple experimental </a:t>
            </a:r>
            <a:r>
              <a:rPr lang="de-DE" sz="3200" dirty="0" err="1" smtClean="0"/>
              <a:t>conditions</a:t>
            </a:r>
            <a:endParaRPr lang="de-DE" sz="3200" dirty="0" smtClean="0"/>
          </a:p>
          <a:p>
            <a:pPr>
              <a:spcBef>
                <a:spcPts val="3000"/>
              </a:spcBef>
            </a:pPr>
            <a:r>
              <a:rPr lang="de-DE" sz="3200" b="1" dirty="0" err="1" smtClean="0"/>
              <a:t>Difficulty</a:t>
            </a:r>
            <a:r>
              <a:rPr lang="de-DE" sz="3200" b="1" dirty="0" smtClean="0"/>
              <a:t>: </a:t>
            </a:r>
            <a:r>
              <a:rPr lang="de-DE" sz="3200" dirty="0" smtClean="0"/>
              <a:t>	</a:t>
            </a:r>
            <a:r>
              <a:rPr lang="de-DE" sz="3200" dirty="0" err="1" smtClean="0"/>
              <a:t>definitions</a:t>
            </a:r>
            <a:r>
              <a:rPr lang="de-DE" sz="3200" dirty="0" smtClean="0"/>
              <a:t> </a:t>
            </a:r>
            <a:r>
              <a:rPr lang="de-DE" sz="3200" dirty="0" err="1" smtClean="0"/>
              <a:t>of</a:t>
            </a:r>
            <a:r>
              <a:rPr lang="de-DE" sz="3200" dirty="0" smtClean="0"/>
              <a:t> </a:t>
            </a:r>
            <a:r>
              <a:rPr lang="de-DE" sz="3200" dirty="0" err="1" smtClean="0"/>
              <a:t>conditions</a:t>
            </a:r>
            <a:r>
              <a:rPr lang="de-DE" sz="3200" dirty="0" smtClean="0"/>
              <a:t> </a:t>
            </a:r>
            <a:r>
              <a:rPr lang="de-DE" sz="3200" dirty="0" err="1" smtClean="0"/>
              <a:t>are</a:t>
            </a:r>
            <a:r>
              <a:rPr lang="de-DE" sz="3200" dirty="0" smtClean="0"/>
              <a:t> </a:t>
            </a:r>
            <a:r>
              <a:rPr lang="de-DE" sz="3200" dirty="0" err="1" smtClean="0"/>
              <a:t>very</a:t>
            </a:r>
            <a:r>
              <a:rPr lang="de-DE" sz="3200" dirty="0" smtClean="0"/>
              <a:t> </a:t>
            </a:r>
            <a:r>
              <a:rPr lang="de-DE" sz="3200" dirty="0" err="1" smtClean="0"/>
              <a:t>model</a:t>
            </a:r>
            <a:r>
              <a:rPr lang="de-DE" sz="3200" dirty="0" smtClean="0"/>
              <a:t> </a:t>
            </a:r>
            <a:r>
              <a:rPr lang="de-DE" sz="3200" dirty="0" err="1" smtClean="0"/>
              <a:t>dependent</a:t>
            </a:r>
            <a:r>
              <a:rPr lang="de-DE" sz="3200" dirty="0" smtClean="0"/>
              <a:t> (</a:t>
            </a:r>
            <a:r>
              <a:rPr lang="de-DE" sz="3200" dirty="0" err="1" smtClean="0"/>
              <a:t>hard</a:t>
            </a:r>
            <a:r>
              <a:rPr lang="de-DE" sz="3200" dirty="0" smtClean="0"/>
              <a:t> </a:t>
            </a:r>
            <a:r>
              <a:rPr lang="de-DE" sz="3200" dirty="0" err="1" smtClean="0"/>
              <a:t>to</a:t>
            </a:r>
            <a:r>
              <a:rPr lang="de-DE" sz="3200" dirty="0" smtClean="0"/>
              <a:t> </a:t>
            </a:r>
            <a:r>
              <a:rPr lang="de-DE" sz="3200" dirty="0" err="1" smtClean="0"/>
              <a:t>generate</a:t>
            </a:r>
            <a:r>
              <a:rPr lang="de-DE" sz="3200" dirty="0" smtClean="0"/>
              <a:t> </a:t>
            </a:r>
            <a:r>
              <a:rPr lang="de-DE" sz="3200" dirty="0" err="1" smtClean="0"/>
              <a:t>realistically</a:t>
            </a:r>
            <a:r>
              <a:rPr lang="de-DE" sz="3200" dirty="0" smtClean="0"/>
              <a:t>)</a:t>
            </a:r>
          </a:p>
          <a:p>
            <a:pPr>
              <a:spcBef>
                <a:spcPts val="3000"/>
              </a:spcBef>
            </a:pPr>
            <a:r>
              <a:rPr lang="de-DE" sz="3200" b="1" dirty="0" smtClean="0"/>
              <a:t>Solution: </a:t>
            </a:r>
            <a:r>
              <a:rPr lang="de-DE" sz="3200" dirty="0" smtClean="0"/>
              <a:t>	</a:t>
            </a:r>
            <a:r>
              <a:rPr lang="de-DE" sz="3200" dirty="0" err="1" smtClean="0"/>
              <a:t>keep</a:t>
            </a:r>
            <a:r>
              <a:rPr lang="de-DE" sz="3200" dirty="0" smtClean="0"/>
              <a:t> original </a:t>
            </a:r>
            <a:r>
              <a:rPr lang="de-DE" sz="3200" dirty="0" err="1" smtClean="0"/>
              <a:t>conditions</a:t>
            </a:r>
            <a:r>
              <a:rPr lang="de-DE" sz="3200" dirty="0" smtClean="0"/>
              <a:t/>
            </a:r>
            <a:br>
              <a:rPr lang="de-DE" sz="3200" dirty="0" smtClean="0"/>
            </a:br>
            <a:r>
              <a:rPr lang="de-DE" sz="3200" dirty="0" smtClean="0"/>
              <a:t>			</a:t>
            </a:r>
            <a:r>
              <a:rPr lang="de-DE" sz="3200" dirty="0" err="1" smtClean="0"/>
              <a:t>generate</a:t>
            </a:r>
            <a:r>
              <a:rPr lang="de-DE" sz="3200" dirty="0" smtClean="0"/>
              <a:t> a </a:t>
            </a:r>
            <a:r>
              <a:rPr lang="de-DE" sz="3200" dirty="0" err="1" smtClean="0"/>
              <a:t>realistic</a:t>
            </a:r>
            <a:r>
              <a:rPr lang="de-DE" sz="3200" dirty="0" smtClean="0"/>
              <a:t> </a:t>
            </a:r>
            <a:r>
              <a:rPr lang="de-DE" sz="3200" dirty="0" err="1" smtClean="0"/>
              <a:t>variation</a:t>
            </a:r>
            <a:r>
              <a:rPr lang="de-DE" sz="3200" dirty="0" smtClean="0"/>
              <a:t> </a:t>
            </a:r>
            <a:r>
              <a:rPr lang="de-DE" sz="3200" dirty="0" err="1" smtClean="0"/>
              <a:t>of</a:t>
            </a:r>
            <a:r>
              <a:rPr lang="de-DE" sz="3200" dirty="0" smtClean="0"/>
              <a:t> </a:t>
            </a:r>
            <a:r>
              <a:rPr lang="de-DE" sz="3200" dirty="0" err="1" smtClean="0"/>
              <a:t>the</a:t>
            </a:r>
            <a:r>
              <a:rPr lang="de-DE" sz="3200" dirty="0" smtClean="0"/>
              <a:t> </a:t>
            </a:r>
            <a:r>
              <a:rPr lang="de-DE" sz="3200" dirty="0" err="1" smtClean="0"/>
              <a:t>condition</a:t>
            </a:r>
            <a:r>
              <a:rPr lang="de-DE" sz="3200" dirty="0" smtClean="0"/>
              <a:t>-observable </a:t>
            </a:r>
            <a:r>
              <a:rPr lang="de-DE" sz="3200" dirty="0" err="1" smtClean="0"/>
              <a:t>structure</a:t>
            </a:r>
            <a:r>
              <a:rPr lang="de-DE" sz="3200" dirty="0"/>
              <a:t/>
            </a:r>
            <a:br>
              <a:rPr lang="de-DE" sz="3200" dirty="0"/>
            </a:br>
            <a:r>
              <a:rPr lang="de-DE" sz="3200" dirty="0" smtClean="0"/>
              <a:t>			</a:t>
            </a:r>
            <a:r>
              <a:rPr lang="de-DE" sz="3200" dirty="0" err="1" smtClean="0"/>
              <a:t>generate</a:t>
            </a:r>
            <a:r>
              <a:rPr lang="de-DE" sz="3200" dirty="0" smtClean="0"/>
              <a:t> </a:t>
            </a:r>
            <a:r>
              <a:rPr lang="de-DE" sz="3200" dirty="0" err="1" smtClean="0"/>
              <a:t>data</a:t>
            </a:r>
            <a:r>
              <a:rPr lang="de-DE" sz="3200" dirty="0" smtClean="0"/>
              <a:t> </a:t>
            </a:r>
            <a:r>
              <a:rPr lang="de-DE" sz="3200" dirty="0" err="1" smtClean="0"/>
              <a:t>with</a:t>
            </a:r>
            <a:r>
              <a:rPr lang="de-DE" sz="3200" dirty="0" smtClean="0"/>
              <a:t> </a:t>
            </a:r>
            <a:r>
              <a:rPr lang="de-DE" sz="3200" dirty="0" err="1" smtClean="0"/>
              <a:t>existing</a:t>
            </a:r>
            <a:r>
              <a:rPr lang="de-DE" sz="3200" dirty="0" smtClean="0"/>
              <a:t> </a:t>
            </a:r>
            <a:r>
              <a:rPr lang="de-DE" sz="3200" dirty="0" err="1" smtClean="0"/>
              <a:t>method</a:t>
            </a:r>
            <a:endParaRPr lang="de-DE" sz="3200" dirty="0" smtClean="0"/>
          </a:p>
        </p:txBody>
      </p:sp>
      <p:sp>
        <p:nvSpPr>
          <p:cNvPr id="5" name="Textfeld 4"/>
          <p:cNvSpPr txBox="1"/>
          <p:nvPr/>
        </p:nvSpPr>
        <p:spPr>
          <a:xfrm>
            <a:off x="1043952" y="1606140"/>
            <a:ext cx="8225329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de-DE" sz="2800" dirty="0" smtClean="0"/>
              <a:t>Real ODE </a:t>
            </a:r>
            <a:r>
              <a:rPr lang="de-DE" sz="2800" dirty="0" err="1" smtClean="0"/>
              <a:t>models</a:t>
            </a:r>
            <a:r>
              <a:rPr lang="de-DE" sz="2800" dirty="0" smtClean="0"/>
              <a:t> </a:t>
            </a:r>
            <a:r>
              <a:rPr lang="de-DE" sz="2800" dirty="0" err="1" smtClean="0"/>
              <a:t>are</a:t>
            </a:r>
            <a:r>
              <a:rPr lang="de-DE" sz="2800" dirty="0" smtClean="0"/>
              <a:t> </a:t>
            </a:r>
            <a:r>
              <a:rPr lang="de-DE" sz="2800" dirty="0" err="1" smtClean="0"/>
              <a:t>typically</a:t>
            </a:r>
            <a:r>
              <a:rPr lang="de-DE" sz="2800" dirty="0" smtClean="0"/>
              <a:t> </a:t>
            </a:r>
            <a:r>
              <a:rPr lang="de-DE" sz="2800" dirty="0" err="1" smtClean="0"/>
              <a:t>measured</a:t>
            </a:r>
            <a:r>
              <a:rPr lang="de-DE" sz="2800" dirty="0"/>
              <a:t/>
            </a:r>
            <a:br>
              <a:rPr lang="de-DE" sz="2800" dirty="0"/>
            </a:br>
            <a:r>
              <a:rPr lang="de-DE" sz="2800" dirty="0" err="1" smtClean="0"/>
              <a:t>under</a:t>
            </a:r>
            <a:r>
              <a:rPr lang="de-DE" sz="2800" dirty="0" smtClean="0"/>
              <a:t> multiple experimental </a:t>
            </a:r>
            <a:r>
              <a:rPr lang="de-DE" sz="2800" dirty="0" err="1" smtClean="0"/>
              <a:t>conditions</a:t>
            </a:r>
            <a:r>
              <a:rPr lang="de-DE" sz="2800" dirty="0" smtClean="0"/>
              <a:t>: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2800" dirty="0" err="1" smtClean="0"/>
              <a:t>wildtype</a:t>
            </a:r>
            <a:r>
              <a:rPr lang="de-DE" sz="2800" dirty="0" smtClean="0"/>
              <a:t> </a:t>
            </a:r>
            <a:r>
              <a:rPr lang="de-DE" sz="2800" dirty="0" err="1"/>
              <a:t>vs</a:t>
            </a:r>
            <a:r>
              <a:rPr lang="de-DE" sz="2800" dirty="0"/>
              <a:t> </a:t>
            </a:r>
            <a:r>
              <a:rPr lang="de-DE" sz="2800" dirty="0" smtClean="0"/>
              <a:t>knock-out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2800" dirty="0"/>
              <a:t>d</a:t>
            </a:r>
            <a:r>
              <a:rPr lang="de-DE" sz="2800" dirty="0" smtClean="0"/>
              <a:t>ifferent </a:t>
            </a:r>
            <a:r>
              <a:rPr lang="de-DE" sz="2800" dirty="0" err="1" smtClean="0"/>
              <a:t>external</a:t>
            </a:r>
            <a:r>
              <a:rPr lang="de-DE" sz="2800" dirty="0" smtClean="0"/>
              <a:t> </a:t>
            </a:r>
            <a:r>
              <a:rPr lang="de-DE" sz="2800" dirty="0" err="1" smtClean="0"/>
              <a:t>stimuli</a:t>
            </a:r>
            <a:endParaRPr lang="de-DE" sz="2800" dirty="0" smtClean="0"/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2800" dirty="0"/>
              <a:t>d</a:t>
            </a:r>
            <a:r>
              <a:rPr lang="de-DE" sz="2800" dirty="0" smtClean="0"/>
              <a:t>ose </a:t>
            </a:r>
            <a:r>
              <a:rPr lang="de-DE" sz="2800" dirty="0" err="1" smtClean="0"/>
              <a:t>dependency</a:t>
            </a:r>
            <a:endParaRPr lang="de-DE" sz="2800" dirty="0" smtClean="0"/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2800" dirty="0" smtClean="0"/>
              <a:t>different </a:t>
            </a:r>
            <a:r>
              <a:rPr lang="de-DE" sz="2800" dirty="0" err="1" smtClean="0"/>
              <a:t>measurement</a:t>
            </a:r>
            <a:r>
              <a:rPr lang="de-DE" sz="2800" dirty="0" smtClean="0"/>
              <a:t> </a:t>
            </a:r>
            <a:r>
              <a:rPr lang="de-DE" sz="2800" dirty="0" err="1" smtClean="0"/>
              <a:t>techniques</a:t>
            </a:r>
            <a:endParaRPr lang="de-DE" sz="2800" dirty="0" smtClean="0"/>
          </a:p>
          <a:p>
            <a:pPr lvl="1">
              <a:spcAft>
                <a:spcPts val="1200"/>
              </a:spcAft>
            </a:pPr>
            <a:endParaRPr lang="de-DE" sz="2800" dirty="0" smtClean="0"/>
          </a:p>
          <a:p>
            <a:pPr>
              <a:spcAft>
                <a:spcPts val="1200"/>
              </a:spcAft>
            </a:pPr>
            <a:r>
              <a:rPr lang="de-DE" sz="2800" dirty="0" smtClean="0"/>
              <a:t>Not all observables </a:t>
            </a:r>
            <a:r>
              <a:rPr lang="de-DE" sz="2800" dirty="0" err="1" smtClean="0"/>
              <a:t>are</a:t>
            </a:r>
            <a:r>
              <a:rPr lang="de-DE" sz="2800" dirty="0" smtClean="0"/>
              <a:t> </a:t>
            </a:r>
            <a:r>
              <a:rPr lang="de-DE" sz="2800" dirty="0" err="1" smtClean="0"/>
              <a:t>measured</a:t>
            </a:r>
            <a:r>
              <a:rPr lang="de-DE" sz="2800" dirty="0" smtClean="0"/>
              <a:t> in all </a:t>
            </a:r>
            <a:r>
              <a:rPr lang="de-DE" sz="2800" dirty="0" err="1" smtClean="0"/>
              <a:t>conditions</a:t>
            </a:r>
            <a:r>
              <a:rPr lang="de-DE" sz="2800" dirty="0" smtClean="0"/>
              <a:t>.</a:t>
            </a:r>
            <a:br>
              <a:rPr lang="de-DE" sz="2800" dirty="0" smtClean="0"/>
            </a:br>
            <a:r>
              <a:rPr lang="de-DE" sz="2800" dirty="0" err="1" smtClean="0"/>
              <a:t>Some</a:t>
            </a:r>
            <a:r>
              <a:rPr lang="de-DE" sz="2800" dirty="0" smtClean="0"/>
              <a:t> </a:t>
            </a:r>
            <a:r>
              <a:rPr lang="de-DE" sz="2800" dirty="0" err="1" smtClean="0"/>
              <a:t>conditions</a:t>
            </a:r>
            <a:r>
              <a:rPr lang="de-DE" sz="2800" dirty="0" smtClean="0"/>
              <a:t> </a:t>
            </a:r>
            <a:r>
              <a:rPr lang="de-DE" sz="2800" dirty="0" err="1" smtClean="0"/>
              <a:t>share</a:t>
            </a:r>
            <a:r>
              <a:rPr lang="de-DE" sz="2800" dirty="0" smtClean="0"/>
              <a:t> </a:t>
            </a:r>
            <a:r>
              <a:rPr lang="de-DE" sz="2800" dirty="0" err="1" smtClean="0"/>
              <a:t>parameters</a:t>
            </a:r>
            <a:r>
              <a:rPr lang="de-DE" sz="2800" dirty="0" smtClean="0"/>
              <a:t> (</a:t>
            </a:r>
            <a:r>
              <a:rPr lang="de-DE" sz="2800" dirty="0" err="1" smtClean="0"/>
              <a:t>others</a:t>
            </a:r>
            <a:r>
              <a:rPr lang="de-DE" sz="2800" dirty="0" smtClean="0"/>
              <a:t> not).</a:t>
            </a:r>
          </a:p>
          <a:p>
            <a:pPr>
              <a:spcAft>
                <a:spcPts val="1200"/>
              </a:spcAft>
            </a:pPr>
            <a:r>
              <a:rPr lang="de-DE" sz="2800" b="1" dirty="0"/>
              <a:t/>
            </a:r>
            <a:br>
              <a:rPr lang="de-DE" sz="2800" b="1" dirty="0"/>
            </a:br>
            <a:r>
              <a:rPr lang="de-DE" sz="2800" b="1" dirty="0" smtClean="0">
                <a:sym typeface="Wingdings" panose="05000000000000000000" pitchFamily="2" charset="2"/>
              </a:rPr>
              <a:t> </a:t>
            </a:r>
            <a:r>
              <a:rPr lang="de-DE" sz="2800" b="1" dirty="0" err="1" smtClean="0">
                <a:sym typeface="Wingdings" panose="05000000000000000000" pitchFamily="2" charset="2"/>
              </a:rPr>
              <a:t>There</a:t>
            </a:r>
            <a:r>
              <a:rPr lang="de-DE" sz="2800" b="1" dirty="0" smtClean="0">
                <a:sym typeface="Wingdings" panose="05000000000000000000" pitchFamily="2" charset="2"/>
              </a:rPr>
              <a:t> </a:t>
            </a:r>
            <a:r>
              <a:rPr lang="de-DE" sz="2800" b="1" dirty="0" err="1" smtClean="0">
                <a:sym typeface="Wingdings" panose="05000000000000000000" pitchFamily="2" charset="2"/>
              </a:rPr>
              <a:t>is</a:t>
            </a:r>
            <a:r>
              <a:rPr lang="de-DE" sz="2800" b="1" dirty="0" smtClean="0">
                <a:sym typeface="Wingdings" panose="05000000000000000000" pitchFamily="2" charset="2"/>
              </a:rPr>
              <a:t> a model-</a:t>
            </a:r>
            <a:r>
              <a:rPr lang="de-DE" sz="2800" b="1" dirty="0" err="1" smtClean="0">
                <a:sym typeface="Wingdings" panose="05000000000000000000" pitchFamily="2" charset="2"/>
              </a:rPr>
              <a:t>dependent</a:t>
            </a:r>
            <a:r>
              <a:rPr lang="de-DE" sz="2800" b="1" dirty="0" smtClean="0">
                <a:sym typeface="Wingdings" panose="05000000000000000000" pitchFamily="2" charset="2"/>
              </a:rPr>
              <a:t> </a:t>
            </a:r>
            <a:r>
              <a:rPr lang="de-DE" sz="2800" b="1" dirty="0" err="1" smtClean="0">
                <a:sym typeface="Wingdings" panose="05000000000000000000" pitchFamily="2" charset="2"/>
              </a:rPr>
              <a:t>structure</a:t>
            </a:r>
            <a:r>
              <a:rPr lang="de-DE" sz="2800" b="1" dirty="0" smtClean="0">
                <a:sym typeface="Wingdings" panose="05000000000000000000" pitchFamily="2" charset="2"/>
              </a:rPr>
              <a:t>.</a:t>
            </a:r>
            <a:endParaRPr lang="de-DE" sz="2800" b="1" dirty="0" smtClean="0"/>
          </a:p>
        </p:txBody>
      </p:sp>
      <p:grpSp>
        <p:nvGrpSpPr>
          <p:cNvPr id="6" name="Gruppieren 5"/>
          <p:cNvGrpSpPr/>
          <p:nvPr/>
        </p:nvGrpSpPr>
        <p:grpSpPr>
          <a:xfrm>
            <a:off x="14258284" y="1307160"/>
            <a:ext cx="8872822" cy="7203233"/>
            <a:chOff x="19242108" y="9688249"/>
            <a:chExt cx="5146274" cy="4805112"/>
          </a:xfrm>
        </p:grpSpPr>
        <p:grpSp>
          <p:nvGrpSpPr>
            <p:cNvPr id="7" name="Gruppieren 2"/>
            <p:cNvGrpSpPr/>
            <p:nvPr/>
          </p:nvGrpSpPr>
          <p:grpSpPr>
            <a:xfrm>
              <a:off x="19261192" y="9688249"/>
              <a:ext cx="5127190" cy="4437905"/>
              <a:chOff x="17261640" y="2603616"/>
              <a:chExt cx="3680639" cy="3071327"/>
            </a:xfrm>
          </p:grpSpPr>
          <p:pic>
            <p:nvPicPr>
              <p:cNvPr id="10" name="Grafik 18"/>
              <p:cNvPicPr/>
              <p:nvPr/>
            </p:nvPicPr>
            <p:blipFill rotWithShape="1">
              <a:blip r:embed="rId3"/>
              <a:srcRect l="11431" b="13952"/>
              <a:stretch/>
            </p:blipFill>
            <p:spPr>
              <a:xfrm>
                <a:off x="17508926" y="2934360"/>
                <a:ext cx="3433353" cy="2740583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1" name="Rechteck 26"/>
              <p:cNvSpPr/>
              <p:nvPr/>
            </p:nvSpPr>
            <p:spPr>
              <a:xfrm>
                <a:off x="17261640" y="2603616"/>
                <a:ext cx="3485160" cy="276056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2800" b="1" strike="noStrike" spc="-1" dirty="0" smtClean="0">
                    <a:solidFill>
                      <a:srgbClr val="000000"/>
                    </a:solidFill>
                    <a:latin typeface="+mj-lt"/>
                    <a:ea typeface="Helvetica Neue Medium"/>
                  </a:rPr>
                  <a:t>Bachmann: Observable-Condition </a:t>
                </a:r>
                <a:r>
                  <a:rPr lang="en-US" sz="2800" b="1" spc="-1" dirty="0">
                    <a:solidFill>
                      <a:srgbClr val="000000"/>
                    </a:solidFill>
                    <a:latin typeface="+mj-lt"/>
                    <a:ea typeface="Helvetica Neue Medium"/>
                  </a:rPr>
                  <a:t>S</a:t>
                </a:r>
                <a:r>
                  <a:rPr lang="en-US" sz="2800" b="1" strike="noStrike" spc="-1" dirty="0" smtClean="0">
                    <a:solidFill>
                      <a:srgbClr val="000000"/>
                    </a:solidFill>
                    <a:latin typeface="+mj-lt"/>
                    <a:ea typeface="Helvetica Neue Medium"/>
                  </a:rPr>
                  <a:t>tructure</a:t>
                </a:r>
                <a:endParaRPr lang="en-US" sz="2800" b="0" strike="noStrike" spc="-1" dirty="0">
                  <a:solidFill>
                    <a:srgbClr val="000000"/>
                  </a:solidFill>
                  <a:latin typeface="+mj-lt"/>
                </a:endParaRPr>
              </a:p>
            </p:txBody>
          </p:sp>
        </p:grpSp>
        <p:sp>
          <p:nvSpPr>
            <p:cNvPr id="8" name="Rechteck 26"/>
            <p:cNvSpPr/>
            <p:nvPr/>
          </p:nvSpPr>
          <p:spPr>
            <a:xfrm>
              <a:off x="20045990" y="14126161"/>
              <a:ext cx="3485160" cy="36720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400" strike="noStrike" spc="-1" dirty="0" smtClean="0">
                  <a:solidFill>
                    <a:srgbClr val="000000"/>
                  </a:solidFill>
                  <a:latin typeface="+mj-lt"/>
                  <a:ea typeface="Helvetica Neue Medium"/>
                </a:rPr>
                <a:t>observables</a:t>
              </a:r>
              <a:endParaRPr lang="en-US" sz="2400" strike="noStrike" spc="-1" dirty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9" name="Rechteck 26"/>
            <p:cNvSpPr/>
            <p:nvPr/>
          </p:nvSpPr>
          <p:spPr>
            <a:xfrm rot="16200000">
              <a:off x="17968788" y="11995384"/>
              <a:ext cx="2880360" cy="33372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400" strike="noStrike" spc="-1" dirty="0" smtClean="0">
                  <a:solidFill>
                    <a:srgbClr val="000000"/>
                  </a:solidFill>
                  <a:latin typeface="+mj-lt"/>
                  <a:ea typeface="Helvetica Neue Medium"/>
                </a:rPr>
                <a:t>exp</a:t>
              </a:r>
              <a:r>
                <a:rPr lang="en-US" sz="2400" strike="noStrike" spc="-1" dirty="0">
                  <a:solidFill>
                    <a:srgbClr val="000000"/>
                  </a:solidFill>
                  <a:latin typeface="+mj-lt"/>
                  <a:ea typeface="Helvetica Neue Medium"/>
                </a:rPr>
                <a:t>. condition</a:t>
              </a:r>
              <a:endParaRPr lang="en-US" sz="2400" strike="noStrike" spc="-1" dirty="0">
                <a:solidFill>
                  <a:srgbClr val="000000"/>
                </a:solidFill>
                <a:latin typeface="+mj-lt"/>
              </a:endParaRPr>
            </a:p>
          </p:txBody>
        </p:sp>
      </p:grpSp>
      <p:sp>
        <p:nvSpPr>
          <p:cNvPr id="13" name="Foliennummernplatzhalt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FDFA1-13E1-47F7-AAEB-46EC02612569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7163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 txBox="1">
            <a:spLocks/>
          </p:cNvSpPr>
          <p:nvPr/>
        </p:nvSpPr>
        <p:spPr>
          <a:xfrm>
            <a:off x="295200" y="321840"/>
            <a:ext cx="20809080" cy="985320"/>
          </a:xfrm>
          <a:prstGeom prst="rect">
            <a:avLst/>
          </a:prstGeom>
          <a:noFill/>
          <a:ln w="0">
            <a:noFill/>
          </a:ln>
        </p:spPr>
        <p:txBody>
          <a:bodyPr lIns="71280" tIns="71280" rIns="71280" bIns="7128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spcBef>
                <a:spcPts val="100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5000" spc="-1" dirty="0" smtClean="0">
                <a:solidFill>
                  <a:srgbClr val="000000"/>
                </a:solidFill>
                <a:latin typeface="Impact"/>
                <a:ea typeface="Microsoft YaHei"/>
              </a:rPr>
              <a:t>Realistic Simulations of the Full Benchmark Problems</a:t>
            </a:r>
            <a:endParaRPr lang="de-DE" sz="5000" spc="-1" dirty="0">
              <a:solidFill>
                <a:schemeClr val="dk1"/>
              </a:solidFill>
              <a:latin typeface="Helvetica Neue Medium"/>
            </a:endParaRPr>
          </a:p>
        </p:txBody>
      </p:sp>
      <p:sp>
        <p:nvSpPr>
          <p:cNvPr id="6" name="180-Grad-Pfeil 5"/>
          <p:cNvSpPr/>
          <p:nvPr/>
        </p:nvSpPr>
        <p:spPr>
          <a:xfrm rot="5400000">
            <a:off x="5516123" y="4872614"/>
            <a:ext cx="8900080" cy="5088566"/>
          </a:xfrm>
          <a:prstGeom prst="uturnArrow">
            <a:avLst>
              <a:gd name="adj1" fmla="val 1608"/>
              <a:gd name="adj2" fmla="val 4034"/>
              <a:gd name="adj3" fmla="val 20496"/>
              <a:gd name="adj4" fmla="val 0"/>
              <a:gd name="adj5" fmla="val 10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13923055" y="1564157"/>
            <a:ext cx="7567145" cy="1135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5400"/>
              </a:spcAft>
              <a:buAutoNum type="arabicPeriod"/>
            </a:pPr>
            <a:r>
              <a:rPr lang="de-DE" sz="2400" b="1" dirty="0" smtClean="0"/>
              <a:t>Draw </a:t>
            </a:r>
            <a:r>
              <a:rPr lang="de-DE" sz="2400" b="1" dirty="0" err="1" smtClean="0"/>
              <a:t>typical</a:t>
            </a:r>
            <a:r>
              <a:rPr lang="de-DE" sz="2400" b="1" dirty="0" smtClean="0"/>
              <a:t> observables:</a:t>
            </a:r>
            <a:r>
              <a:rPr lang="de-DE" sz="2400" b="1" dirty="0"/>
              <a:t/>
            </a:r>
            <a:br>
              <a:rPr lang="de-DE" sz="2400" b="1" dirty="0"/>
            </a:br>
            <a:r>
              <a:rPr lang="de-DE" sz="2400" dirty="0" err="1" smtClean="0"/>
              <a:t>How</a:t>
            </a:r>
            <a:r>
              <a:rPr lang="de-DE" sz="2400" dirty="0" smtClean="0"/>
              <a:t> </a:t>
            </a:r>
            <a:r>
              <a:rPr lang="de-DE" sz="2400" dirty="0" err="1" smtClean="0"/>
              <a:t>many</a:t>
            </a:r>
            <a:r>
              <a:rPr lang="de-DE" sz="2400" dirty="0" smtClean="0"/>
              <a:t>? </a:t>
            </a:r>
            <a:r>
              <a:rPr lang="de-DE" sz="2400" dirty="0" err="1" smtClean="0"/>
              <a:t>Which</a:t>
            </a:r>
            <a:r>
              <a:rPr lang="de-DE" sz="2400" dirty="0" smtClean="0"/>
              <a:t> </a:t>
            </a:r>
            <a:r>
              <a:rPr lang="de-DE" sz="2400" dirty="0" err="1" smtClean="0"/>
              <a:t>states</a:t>
            </a:r>
            <a:r>
              <a:rPr lang="de-DE" sz="2400" dirty="0" smtClean="0"/>
              <a:t>?</a:t>
            </a:r>
            <a:br>
              <a:rPr lang="de-DE" sz="2400" dirty="0" smtClean="0"/>
            </a:br>
            <a:r>
              <a:rPr lang="de-DE" sz="2400" dirty="0" err="1" smtClean="0"/>
              <a:t>Which</a:t>
            </a:r>
            <a:r>
              <a:rPr lang="de-DE" sz="2400" dirty="0" smtClean="0"/>
              <a:t> </a:t>
            </a:r>
            <a:r>
              <a:rPr lang="de-DE" sz="2400" dirty="0" err="1" smtClean="0"/>
              <a:t>compounds</a:t>
            </a:r>
            <a:r>
              <a:rPr lang="de-DE" sz="2400" dirty="0" smtClean="0"/>
              <a:t>?</a:t>
            </a:r>
            <a:br>
              <a:rPr lang="de-DE" sz="2400" dirty="0" smtClean="0"/>
            </a:br>
            <a:r>
              <a:rPr lang="de-DE" sz="2400" dirty="0" smtClean="0"/>
              <a:t/>
            </a:r>
            <a:br>
              <a:rPr lang="de-DE" sz="2400" dirty="0" smtClean="0"/>
            </a:br>
            <a:endParaRPr lang="de-DE" sz="2400" dirty="0" smtClean="0"/>
          </a:p>
          <a:p>
            <a:pPr marL="342900" indent="-342900">
              <a:spcAft>
                <a:spcPts val="5400"/>
              </a:spcAft>
              <a:buAutoNum type="arabicPeriod"/>
            </a:pPr>
            <a:r>
              <a:rPr lang="de-DE" sz="2400" b="1" dirty="0" err="1" smtClean="0"/>
              <a:t>Distribute</a:t>
            </a:r>
            <a:r>
              <a:rPr lang="de-DE" sz="2400" b="1" dirty="0" smtClean="0"/>
              <a:t> observables </a:t>
            </a:r>
            <a:r>
              <a:rPr lang="de-DE" sz="2400" b="1" dirty="0" err="1" smtClean="0"/>
              <a:t>to</a:t>
            </a:r>
            <a:r>
              <a:rPr lang="de-DE" sz="2400" b="1" dirty="0" smtClean="0"/>
              <a:t> </a:t>
            </a:r>
            <a:r>
              <a:rPr lang="de-DE" sz="2400" b="1" dirty="0" err="1" smtClean="0"/>
              <a:t>conditions</a:t>
            </a:r>
            <a:r>
              <a:rPr lang="de-DE" sz="2400" b="1" dirty="0" smtClean="0"/>
              <a:t/>
            </a:r>
            <a:br>
              <a:rPr lang="de-DE" sz="2400" b="1" dirty="0" smtClean="0"/>
            </a:br>
            <a:r>
              <a:rPr lang="de-DE" sz="2400" dirty="0" err="1" smtClean="0"/>
              <a:t>For</a:t>
            </a:r>
            <a:r>
              <a:rPr lang="de-DE" sz="2400" dirty="0" smtClean="0"/>
              <a:t> </a:t>
            </a:r>
            <a:r>
              <a:rPr lang="de-DE" sz="2400" dirty="0" err="1" smtClean="0"/>
              <a:t>each</a:t>
            </a:r>
            <a:r>
              <a:rPr lang="de-DE" sz="2400" dirty="0" smtClean="0"/>
              <a:t> observable </a:t>
            </a:r>
            <a:r>
              <a:rPr lang="de-DE" sz="2400" dirty="0" err="1" smtClean="0"/>
              <a:t>draw</a:t>
            </a:r>
            <a:r>
              <a:rPr lang="de-DE" sz="2400" dirty="0" smtClean="0"/>
              <a:t> a </a:t>
            </a:r>
            <a:r>
              <a:rPr lang="de-DE" sz="2400" dirty="0" err="1" smtClean="0"/>
              <a:t>column</a:t>
            </a:r>
            <a:r>
              <a:rPr lang="de-DE" sz="2400" dirty="0"/>
              <a:t/>
            </a:r>
            <a:br>
              <a:rPr lang="de-DE" sz="2400" dirty="0"/>
            </a:br>
            <a:r>
              <a:rPr lang="de-DE" sz="2400" dirty="0" err="1" smtClean="0"/>
              <a:t>of</a:t>
            </a:r>
            <a:r>
              <a:rPr lang="de-DE" sz="2400" dirty="0" smtClean="0"/>
              <a:t> </a:t>
            </a:r>
            <a:r>
              <a:rPr lang="de-DE" sz="2400" dirty="0" err="1" smtClean="0"/>
              <a:t>the</a:t>
            </a:r>
            <a:r>
              <a:rPr lang="de-DE" sz="2400" dirty="0" smtClean="0"/>
              <a:t> </a:t>
            </a:r>
            <a:r>
              <a:rPr lang="de-DE" sz="2400" dirty="0" err="1" smtClean="0"/>
              <a:t>obs-cond</a:t>
            </a:r>
            <a:r>
              <a:rPr lang="de-DE" sz="2400" dirty="0" smtClean="0"/>
              <a:t> </a:t>
            </a:r>
            <a:r>
              <a:rPr lang="de-DE" sz="2400" dirty="0" err="1" smtClean="0"/>
              <a:t>matrix</a:t>
            </a:r>
            <a:r>
              <a:rPr lang="de-DE" sz="2400" dirty="0" smtClean="0"/>
              <a:t/>
            </a:r>
            <a:br>
              <a:rPr lang="de-DE" sz="2400" dirty="0" smtClean="0"/>
            </a:br>
            <a:r>
              <a:rPr lang="de-DE" sz="2400" dirty="0" smtClean="0"/>
              <a:t/>
            </a:r>
            <a:br>
              <a:rPr lang="de-DE" sz="2400" dirty="0" smtClean="0"/>
            </a:br>
            <a:r>
              <a:rPr lang="de-DE" sz="2400" dirty="0" smtClean="0"/>
              <a:t/>
            </a:r>
            <a:br>
              <a:rPr lang="de-DE" sz="2400" dirty="0" smtClean="0"/>
            </a:br>
            <a:r>
              <a:rPr lang="de-DE" sz="2400" dirty="0" smtClean="0"/>
              <a:t/>
            </a:r>
            <a:br>
              <a:rPr lang="de-DE" sz="2400" dirty="0" smtClean="0"/>
            </a:br>
            <a:endParaRPr lang="de-DE" sz="2400" b="1" dirty="0" smtClean="0"/>
          </a:p>
          <a:p>
            <a:pPr marL="342900" indent="-342900">
              <a:spcAft>
                <a:spcPts val="5400"/>
              </a:spcAft>
              <a:buAutoNum type="arabicPeriod"/>
            </a:pPr>
            <a:r>
              <a:rPr lang="de-DE" sz="2400" b="1" dirty="0" err="1" smtClean="0"/>
              <a:t>Characterize</a:t>
            </a:r>
            <a:r>
              <a:rPr lang="de-DE" sz="2400" b="1" dirty="0" smtClean="0"/>
              <a:t> </a:t>
            </a:r>
            <a:r>
              <a:rPr lang="de-DE" sz="2400" b="1" dirty="0" err="1" smtClean="0"/>
              <a:t>dynamics</a:t>
            </a:r>
            <a:r>
              <a:rPr lang="de-DE" sz="2400" b="1" dirty="0" smtClean="0"/>
              <a:t>:</a:t>
            </a:r>
            <a:br>
              <a:rPr lang="de-DE" sz="2400" b="1" dirty="0" smtClean="0"/>
            </a:br>
            <a:r>
              <a:rPr lang="de-DE" sz="2400" dirty="0" err="1" smtClean="0"/>
              <a:t>Approximate</a:t>
            </a:r>
            <a:r>
              <a:rPr lang="de-DE" sz="2400" dirty="0" smtClean="0"/>
              <a:t> </a:t>
            </a:r>
            <a:r>
              <a:rPr lang="de-DE" sz="2400" dirty="0" err="1" smtClean="0"/>
              <a:t>dynamics</a:t>
            </a:r>
            <a:r>
              <a:rPr lang="de-DE" sz="2400" dirty="0" smtClean="0"/>
              <a:t> </a:t>
            </a:r>
            <a:r>
              <a:rPr lang="de-DE" sz="2400" dirty="0" err="1" smtClean="0"/>
              <a:t>by</a:t>
            </a:r>
            <a:r>
              <a:rPr lang="de-DE" sz="2400" dirty="0" smtClean="0"/>
              <a:t> RTF</a:t>
            </a:r>
            <a:br>
              <a:rPr lang="de-DE" sz="2400" dirty="0" smtClean="0"/>
            </a:br>
            <a:r>
              <a:rPr lang="de-DE" sz="2400" dirty="0" smtClean="0">
                <a:sym typeface="Wingdings" panose="05000000000000000000" pitchFamily="2" charset="2"/>
              </a:rPr>
              <a:t> </a:t>
            </a:r>
            <a:r>
              <a:rPr lang="de-DE" sz="2400" dirty="0" err="1" smtClean="0">
                <a:sym typeface="Wingdings" panose="05000000000000000000" pitchFamily="2" charset="2"/>
              </a:rPr>
              <a:t>estimate</a:t>
            </a:r>
            <a:r>
              <a:rPr lang="de-DE" sz="2400" dirty="0" smtClean="0"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ym typeface="Wingdings" panose="05000000000000000000" pitchFamily="2" charset="2"/>
              </a:rPr>
              <a:t>timescales</a:t>
            </a:r>
            <a:endParaRPr lang="de-DE" sz="2400" dirty="0" smtClean="0">
              <a:sym typeface="Wingdings" panose="05000000000000000000" pitchFamily="2" charset="2"/>
            </a:endParaRPr>
          </a:p>
          <a:p>
            <a:pPr marL="342900" indent="-342900">
              <a:spcAft>
                <a:spcPts val="5400"/>
              </a:spcAft>
              <a:buAutoNum type="arabicPeriod"/>
            </a:pPr>
            <a:r>
              <a:rPr lang="de-DE" sz="2400" b="1" dirty="0" smtClean="0">
                <a:sym typeface="Wingdings" panose="05000000000000000000" pitchFamily="2" charset="2"/>
              </a:rPr>
              <a:t>Set </a:t>
            </a:r>
            <a:r>
              <a:rPr lang="de-DE" sz="2400" b="1" dirty="0" err="1" smtClean="0">
                <a:sym typeface="Wingdings" panose="05000000000000000000" pitchFamily="2" charset="2"/>
              </a:rPr>
              <a:t>realistic</a:t>
            </a:r>
            <a:r>
              <a:rPr lang="de-DE" sz="2400" b="1" dirty="0" smtClean="0">
                <a:sym typeface="Wingdings" panose="05000000000000000000" pitchFamily="2" charset="2"/>
              </a:rPr>
              <a:t> time-points:</a:t>
            </a:r>
            <a:r>
              <a:rPr lang="de-DE" sz="2400" dirty="0" smtClean="0">
                <a:sym typeface="Wingdings" panose="05000000000000000000" pitchFamily="2" charset="2"/>
              </a:rPr>
              <a:t/>
            </a:r>
            <a:br>
              <a:rPr lang="de-DE" sz="2400" dirty="0" smtClean="0">
                <a:sym typeface="Wingdings" panose="05000000000000000000" pitchFamily="2" charset="2"/>
              </a:rPr>
            </a:br>
            <a:r>
              <a:rPr lang="de-DE" sz="2400" dirty="0" smtClean="0">
                <a:sym typeface="Wingdings" panose="05000000000000000000" pitchFamily="2" charset="2"/>
              </a:rPr>
              <a:t>RTF </a:t>
            </a:r>
            <a:r>
              <a:rPr lang="de-DE" sz="2400" dirty="0" err="1" smtClean="0">
                <a:sym typeface="Wingdings" panose="05000000000000000000" pitchFamily="2" charset="2"/>
              </a:rPr>
              <a:t>params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smtClean="0">
                <a:sym typeface="Wingdings" panose="05000000000000000000" pitchFamily="2" charset="2"/>
              </a:rPr>
              <a:t> 	time </a:t>
            </a:r>
            <a:r>
              <a:rPr lang="de-DE" sz="2400" dirty="0" err="1">
                <a:sym typeface="Wingdings" panose="05000000000000000000" pitchFamily="2" charset="2"/>
              </a:rPr>
              <a:t>interval</a:t>
            </a:r>
            <a:r>
              <a:rPr lang="de-DE" sz="2400" dirty="0" smtClean="0">
                <a:sym typeface="Wingdings" panose="05000000000000000000" pitchFamily="2" charset="2"/>
              </a:rPr>
              <a:t>,</a:t>
            </a:r>
            <a:br>
              <a:rPr lang="de-DE" sz="2400" dirty="0" smtClean="0">
                <a:sym typeface="Wingdings" panose="05000000000000000000" pitchFamily="2" charset="2"/>
              </a:rPr>
            </a:br>
            <a:r>
              <a:rPr lang="de-DE" sz="2400" dirty="0" smtClean="0">
                <a:sym typeface="Wingdings" panose="05000000000000000000" pitchFamily="2" charset="2"/>
              </a:rPr>
              <a:t>			# </a:t>
            </a:r>
            <a:r>
              <a:rPr lang="de-DE" sz="2400" dirty="0" err="1" smtClean="0">
                <a:sym typeface="Wingdings" panose="05000000000000000000" pitchFamily="2" charset="2"/>
              </a:rPr>
              <a:t>points</a:t>
            </a:r>
            <a:r>
              <a:rPr lang="de-DE" sz="2400" dirty="0" smtClean="0">
                <a:sym typeface="Wingdings" panose="05000000000000000000" pitchFamily="2" charset="2"/>
              </a:rPr>
              <a:t>,</a:t>
            </a:r>
            <a:r>
              <a:rPr lang="de-DE" sz="2400" dirty="0"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ym typeface="Wingdings" panose="05000000000000000000" pitchFamily="2" charset="2"/>
              </a:rPr>
              <a:t>spacing</a:t>
            </a:r>
            <a:endParaRPr lang="de-DE" sz="2400" dirty="0" smtClean="0">
              <a:sym typeface="Wingdings" panose="05000000000000000000" pitchFamily="2" charset="2"/>
            </a:endParaRPr>
          </a:p>
          <a:p>
            <a:pPr marL="342900" indent="-342900">
              <a:spcAft>
                <a:spcPts val="5400"/>
              </a:spcAft>
              <a:buAutoNum type="arabicPeriod"/>
            </a:pPr>
            <a:r>
              <a:rPr lang="de-DE" sz="2400" b="1" dirty="0" err="1" smtClean="0">
                <a:sym typeface="Wingdings" panose="05000000000000000000" pitchFamily="2" charset="2"/>
              </a:rPr>
              <a:t>Simulate</a:t>
            </a:r>
            <a:r>
              <a:rPr lang="de-DE" sz="2400" b="1" dirty="0" smtClean="0">
                <a:sym typeface="Wingdings" panose="05000000000000000000" pitchFamily="2" charset="2"/>
              </a:rPr>
              <a:t> </a:t>
            </a:r>
            <a:r>
              <a:rPr lang="de-DE" sz="2400" b="1" dirty="0" err="1" smtClean="0">
                <a:sym typeface="Wingdings" panose="05000000000000000000" pitchFamily="2" charset="2"/>
              </a:rPr>
              <a:t>data</a:t>
            </a:r>
            <a:r>
              <a:rPr lang="de-DE" sz="2400" b="1" dirty="0" smtClean="0">
                <a:sym typeface="Wingdings" panose="05000000000000000000" pitchFamily="2" charset="2"/>
              </a:rPr>
              <a:t>:</a:t>
            </a:r>
            <a:br>
              <a:rPr lang="de-DE" sz="2400" b="1" dirty="0" smtClean="0">
                <a:sym typeface="Wingdings" panose="05000000000000000000" pitchFamily="2" charset="2"/>
              </a:rPr>
            </a:br>
            <a:r>
              <a:rPr lang="de-DE" sz="2400" dirty="0" err="1">
                <a:sym typeface="Wingdings" panose="05000000000000000000" pitchFamily="2" charset="2"/>
              </a:rPr>
              <a:t>c</a:t>
            </a:r>
            <a:r>
              <a:rPr lang="de-DE" sz="2400" dirty="0" err="1" smtClean="0">
                <a:sym typeface="Wingdings" panose="05000000000000000000" pitchFamily="2" charset="2"/>
              </a:rPr>
              <a:t>alculate</a:t>
            </a:r>
            <a:r>
              <a:rPr lang="de-DE" sz="2400" dirty="0" smtClean="0"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ym typeface="Wingdings" panose="05000000000000000000" pitchFamily="2" charset="2"/>
              </a:rPr>
              <a:t>model</a:t>
            </a:r>
            <a:r>
              <a:rPr lang="de-DE" sz="2400" dirty="0" smtClean="0"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ym typeface="Wingdings" panose="05000000000000000000" pitchFamily="2" charset="2"/>
              </a:rPr>
              <a:t>dynamics</a:t>
            </a:r>
            <a:r>
              <a:rPr lang="de-DE" sz="2400" dirty="0" smtClean="0">
                <a:sym typeface="Wingdings" panose="05000000000000000000" pitchFamily="2" charset="2"/>
              </a:rPr>
              <a:t>,</a:t>
            </a:r>
            <a:br>
              <a:rPr lang="de-DE" sz="2400" dirty="0" smtClean="0">
                <a:sym typeface="Wingdings" panose="05000000000000000000" pitchFamily="2" charset="2"/>
              </a:rPr>
            </a:br>
            <a:r>
              <a:rPr lang="de-DE" sz="2400" dirty="0" err="1" smtClean="0">
                <a:sym typeface="Wingdings" panose="05000000000000000000" pitchFamily="2" charset="2"/>
              </a:rPr>
              <a:t>add</a:t>
            </a:r>
            <a:r>
              <a:rPr lang="de-DE" sz="2400" dirty="0" smtClean="0"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ym typeface="Wingdings" panose="05000000000000000000" pitchFamily="2" charset="2"/>
              </a:rPr>
              <a:t>realistic</a:t>
            </a:r>
            <a:r>
              <a:rPr lang="de-DE" sz="2400" dirty="0" smtClean="0"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ym typeface="Wingdings" panose="05000000000000000000" pitchFamily="2" charset="2"/>
              </a:rPr>
              <a:t>noise</a:t>
            </a:r>
            <a:r>
              <a:rPr lang="de-DE" sz="2400" dirty="0" smtClean="0">
                <a:sym typeface="Wingdings" panose="05000000000000000000" pitchFamily="2" charset="2"/>
              </a:rPr>
              <a:t>,</a:t>
            </a:r>
            <a:br>
              <a:rPr lang="de-DE" sz="2400" dirty="0" smtClean="0">
                <a:sym typeface="Wingdings" panose="05000000000000000000" pitchFamily="2" charset="2"/>
              </a:rPr>
            </a:br>
            <a:r>
              <a:rPr lang="de-DE" sz="2400" dirty="0" err="1" smtClean="0">
                <a:sym typeface="Wingdings" panose="05000000000000000000" pitchFamily="2" charset="2"/>
              </a:rPr>
              <a:t>add</a:t>
            </a:r>
            <a:r>
              <a:rPr lang="de-DE" sz="2400" dirty="0" smtClean="0"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ym typeface="Wingdings" panose="05000000000000000000" pitchFamily="2" charset="2"/>
              </a:rPr>
              <a:t>random</a:t>
            </a:r>
            <a:r>
              <a:rPr lang="de-DE" sz="2400" dirty="0" smtClean="0">
                <a:sym typeface="Wingdings" panose="05000000000000000000" pitchFamily="2" charset="2"/>
              </a:rPr>
              <a:t> </a:t>
            </a:r>
            <a:r>
              <a:rPr lang="de-DE" sz="2400" dirty="0" err="1" smtClean="0">
                <a:sym typeface="Wingdings" panose="05000000000000000000" pitchFamily="2" charset="2"/>
              </a:rPr>
              <a:t>transformations</a:t>
            </a:r>
            <a:r>
              <a:rPr lang="de-DE" sz="2400" dirty="0" smtClean="0">
                <a:sym typeface="Wingdings" panose="05000000000000000000" pitchFamily="2" charset="2"/>
              </a:rPr>
              <a:t> (</a:t>
            </a:r>
            <a:r>
              <a:rPr lang="de-DE" sz="2400" dirty="0" err="1" smtClean="0">
                <a:sym typeface="Wingdings" panose="05000000000000000000" pitchFamily="2" charset="2"/>
              </a:rPr>
              <a:t>scale</a:t>
            </a:r>
            <a:r>
              <a:rPr lang="de-DE" sz="2400" dirty="0" smtClean="0">
                <a:sym typeface="Wingdings" panose="05000000000000000000" pitchFamily="2" charset="2"/>
              </a:rPr>
              <a:t>, </a:t>
            </a:r>
            <a:r>
              <a:rPr lang="de-DE" sz="2400" dirty="0" err="1" smtClean="0">
                <a:sym typeface="Wingdings" panose="05000000000000000000" pitchFamily="2" charset="2"/>
              </a:rPr>
              <a:t>offset</a:t>
            </a:r>
            <a:r>
              <a:rPr lang="de-DE" sz="2400" dirty="0" smtClean="0">
                <a:sym typeface="Wingdings" panose="05000000000000000000" pitchFamily="2" charset="2"/>
              </a:rPr>
              <a:t>, log)</a:t>
            </a:r>
            <a:endParaRPr lang="de-DE" sz="2400" b="1" dirty="0" smtClean="0"/>
          </a:p>
        </p:txBody>
      </p:sp>
      <p:grpSp>
        <p:nvGrpSpPr>
          <p:cNvPr id="14" name="Gruppieren 13"/>
          <p:cNvGrpSpPr/>
          <p:nvPr/>
        </p:nvGrpSpPr>
        <p:grpSpPr>
          <a:xfrm>
            <a:off x="9912856" y="7340181"/>
            <a:ext cx="3862525" cy="2880000"/>
            <a:chOff x="9716407" y="5234765"/>
            <a:chExt cx="4414315" cy="3600000"/>
          </a:xfrm>
        </p:grpSpPr>
        <p:grpSp>
          <p:nvGrpSpPr>
            <p:cNvPr id="47" name="Gruppieren 46"/>
            <p:cNvGrpSpPr/>
            <p:nvPr/>
          </p:nvGrpSpPr>
          <p:grpSpPr>
            <a:xfrm>
              <a:off x="9716407" y="5234765"/>
              <a:ext cx="4320000" cy="3600000"/>
              <a:chOff x="15478726" y="5400000"/>
              <a:chExt cx="4320000" cy="3600000"/>
            </a:xfrm>
          </p:grpSpPr>
          <p:pic>
            <p:nvPicPr>
              <p:cNvPr id="36" name="Grafik 35"/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478726" y="5400000"/>
                <a:ext cx="4320000" cy="3600000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</p:pic>
          <p:cxnSp>
            <p:nvCxnSpPr>
              <p:cNvPr id="38" name="Gerader Verbinder 37"/>
              <p:cNvCxnSpPr/>
              <p:nvPr/>
            </p:nvCxnSpPr>
            <p:spPr>
              <a:xfrm>
                <a:off x="16228380" y="5724000"/>
                <a:ext cx="0" cy="288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Gerader Verbinder 39"/>
              <p:cNvCxnSpPr/>
              <p:nvPr/>
            </p:nvCxnSpPr>
            <p:spPr>
              <a:xfrm>
                <a:off x="16429673" y="5724000"/>
                <a:ext cx="0" cy="288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Gerader Verbinder 40"/>
              <p:cNvCxnSpPr/>
              <p:nvPr/>
            </p:nvCxnSpPr>
            <p:spPr>
              <a:xfrm>
                <a:off x="19066193" y="6083635"/>
                <a:ext cx="0" cy="252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/>
              <p:cNvCxnSpPr/>
              <p:nvPr/>
            </p:nvCxnSpPr>
            <p:spPr>
              <a:xfrm>
                <a:off x="16665893" y="6083635"/>
                <a:ext cx="0" cy="252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Gerader Verbinder 42"/>
              <p:cNvCxnSpPr/>
              <p:nvPr/>
            </p:nvCxnSpPr>
            <p:spPr>
              <a:xfrm>
                <a:off x="16963073" y="6083635"/>
                <a:ext cx="0" cy="252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/>
              <p:cNvCxnSpPr/>
              <p:nvPr/>
            </p:nvCxnSpPr>
            <p:spPr>
              <a:xfrm>
                <a:off x="17801273" y="6083635"/>
                <a:ext cx="0" cy="252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Gerader Verbinder 44"/>
              <p:cNvCxnSpPr/>
              <p:nvPr/>
            </p:nvCxnSpPr>
            <p:spPr>
              <a:xfrm>
                <a:off x="17283113" y="6083635"/>
                <a:ext cx="0" cy="252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Gerader Verbinder 45"/>
              <p:cNvCxnSpPr/>
              <p:nvPr/>
            </p:nvCxnSpPr>
            <p:spPr>
              <a:xfrm>
                <a:off x="18418493" y="6083635"/>
                <a:ext cx="0" cy="252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feld 22"/>
            <p:cNvSpPr txBox="1"/>
            <p:nvPr/>
          </p:nvSpPr>
          <p:spPr>
            <a:xfrm>
              <a:off x="10666037" y="5236423"/>
              <a:ext cx="34646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 err="1" smtClean="0"/>
                <a:t>dynamics</a:t>
              </a:r>
              <a:r>
                <a:rPr lang="de-DE" b="1" dirty="0" smtClean="0"/>
                <a:t> </a:t>
              </a:r>
              <a:r>
                <a:rPr lang="de-DE" b="1" dirty="0" err="1" smtClean="0"/>
                <a:t>and</a:t>
              </a:r>
              <a:r>
                <a:rPr lang="de-DE" b="1" dirty="0" smtClean="0"/>
                <a:t> time-points</a:t>
              </a:r>
              <a:endParaRPr lang="de-DE" b="1" dirty="0"/>
            </a:p>
          </p:txBody>
        </p:sp>
      </p:grpSp>
      <p:grpSp>
        <p:nvGrpSpPr>
          <p:cNvPr id="4" name="Gruppieren 3"/>
          <p:cNvGrpSpPr/>
          <p:nvPr/>
        </p:nvGrpSpPr>
        <p:grpSpPr>
          <a:xfrm>
            <a:off x="18272760" y="2338991"/>
            <a:ext cx="5856952" cy="9541072"/>
            <a:chOff x="18272760" y="2338991"/>
            <a:chExt cx="5856952" cy="9541072"/>
          </a:xfrm>
        </p:grpSpPr>
        <p:grpSp>
          <p:nvGrpSpPr>
            <p:cNvPr id="12" name="Gruppieren 11"/>
            <p:cNvGrpSpPr/>
            <p:nvPr/>
          </p:nvGrpSpPr>
          <p:grpSpPr>
            <a:xfrm>
              <a:off x="19652050" y="4678991"/>
              <a:ext cx="4477662" cy="3061072"/>
              <a:chOff x="18139326" y="2900363"/>
              <a:chExt cx="4477662" cy="3061072"/>
            </a:xfrm>
          </p:grpSpPr>
          <p:grpSp>
            <p:nvGrpSpPr>
              <p:cNvPr id="10" name="Gruppieren 9"/>
              <p:cNvGrpSpPr/>
              <p:nvPr/>
            </p:nvGrpSpPr>
            <p:grpSpPr>
              <a:xfrm>
                <a:off x="19505056" y="2900363"/>
                <a:ext cx="1800000" cy="1800000"/>
                <a:chOff x="19616737" y="2900363"/>
                <a:chExt cx="2371101" cy="2371101"/>
              </a:xfrm>
            </p:grpSpPr>
            <p:pic>
              <p:nvPicPr>
                <p:cNvPr id="8" name="Grafik 7"/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616737" y="2900363"/>
                  <a:ext cx="2371101" cy="2371101"/>
                </a:xfrm>
                <a:prstGeom prst="rect">
                  <a:avLst/>
                </a:prstGeom>
              </p:spPr>
            </p:pic>
            <p:pic>
              <p:nvPicPr>
                <p:cNvPr id="9" name="Grafik 8"/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172287" y="3767137"/>
                  <a:ext cx="1260000" cy="1260000"/>
                </a:xfrm>
                <a:prstGeom prst="rect">
                  <a:avLst/>
                </a:prstGeom>
              </p:spPr>
            </p:pic>
          </p:grpSp>
          <p:sp>
            <p:nvSpPr>
              <p:cNvPr id="11" name="Textfeld 10"/>
              <p:cNvSpPr txBox="1"/>
              <p:nvPr/>
            </p:nvSpPr>
            <p:spPr>
              <a:xfrm>
                <a:off x="18139326" y="4514885"/>
                <a:ext cx="447766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2400" b="1" dirty="0" smtClean="0"/>
                  <a:t>20 Benchmark</a:t>
                </a:r>
                <a:br>
                  <a:rPr lang="de-DE" sz="2400" b="1" dirty="0" smtClean="0"/>
                </a:br>
                <a:r>
                  <a:rPr lang="de-DE" sz="2400" b="1" dirty="0" smtClean="0"/>
                  <a:t>Problems</a:t>
                </a:r>
              </a:p>
              <a:p>
                <a:pPr algn="ctr"/>
                <a:r>
                  <a:rPr lang="de-DE" sz="2000" dirty="0" err="1" smtClean="0"/>
                  <a:t>characteristics</a:t>
                </a:r>
                <a:r>
                  <a:rPr lang="de-DE" sz="2000" dirty="0"/>
                  <a:t/>
                </a:r>
                <a:br>
                  <a:rPr lang="de-DE" sz="2000" dirty="0"/>
                </a:br>
                <a:r>
                  <a:rPr lang="de-DE" sz="2000" dirty="0" smtClean="0">
                    <a:sym typeface="Wingdings" panose="05000000000000000000" pitchFamily="2" charset="2"/>
                  </a:rPr>
                  <a:t></a:t>
                </a:r>
                <a:r>
                  <a:rPr lang="de-DE" sz="2000" dirty="0" smtClean="0"/>
                  <a:t> </a:t>
                </a:r>
                <a:r>
                  <a:rPr lang="de-DE" sz="2000" dirty="0" err="1" smtClean="0"/>
                  <a:t>method</a:t>
                </a:r>
                <a:r>
                  <a:rPr lang="de-DE" sz="2000" dirty="0" smtClean="0"/>
                  <a:t> </a:t>
                </a:r>
                <a:r>
                  <a:rPr lang="de-DE" sz="2000" dirty="0" err="1" smtClean="0"/>
                  <a:t>calibration</a:t>
                </a:r>
                <a:endParaRPr lang="de-DE" sz="2000" dirty="0"/>
              </a:p>
            </p:txBody>
          </p:sp>
        </p:grpSp>
        <p:cxnSp>
          <p:nvCxnSpPr>
            <p:cNvPr id="28" name="Gewinkelter Verbinder 27"/>
            <p:cNvCxnSpPr>
              <a:stCxn id="8" idx="0"/>
            </p:cNvCxnSpPr>
            <p:nvPr/>
          </p:nvCxnSpPr>
          <p:spPr>
            <a:xfrm rot="16200000" flipV="1">
              <a:off x="18925270" y="1686481"/>
              <a:ext cx="2340000" cy="3645020"/>
            </a:xfrm>
            <a:prstGeom prst="bentConnector2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winkelter Verbinder 47"/>
            <p:cNvCxnSpPr>
              <a:stCxn id="11" idx="2"/>
            </p:cNvCxnSpPr>
            <p:nvPr/>
          </p:nvCxnSpPr>
          <p:spPr>
            <a:xfrm rot="5400000">
              <a:off x="19865881" y="8163063"/>
              <a:ext cx="2448000" cy="1602000"/>
            </a:xfrm>
            <a:prstGeom prst="bentConnector3">
              <a:avLst>
                <a:gd name="adj1" fmla="val 100386"/>
              </a:avLst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Gewinkelter Verbinder 48"/>
            <p:cNvCxnSpPr>
              <a:stCxn id="11" idx="2"/>
            </p:cNvCxnSpPr>
            <p:nvPr/>
          </p:nvCxnSpPr>
          <p:spPr>
            <a:xfrm rot="5400000">
              <a:off x="19010881" y="9000063"/>
              <a:ext cx="4140000" cy="1620000"/>
            </a:xfrm>
            <a:prstGeom prst="bentConnector3">
              <a:avLst>
                <a:gd name="adj1" fmla="val 99854"/>
              </a:avLst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uppieren 49"/>
          <p:cNvGrpSpPr/>
          <p:nvPr/>
        </p:nvGrpSpPr>
        <p:grpSpPr>
          <a:xfrm>
            <a:off x="1127760" y="1356360"/>
            <a:ext cx="6751320" cy="4767379"/>
            <a:chOff x="-713140" y="1591777"/>
            <a:chExt cx="6751320" cy="4767379"/>
          </a:xfrm>
          <a:solidFill>
            <a:schemeClr val="bg1"/>
          </a:solidFill>
        </p:grpSpPr>
        <p:pic>
          <p:nvPicPr>
            <p:cNvPr id="51" name="Grafik 50"/>
            <p:cNvPicPr>
              <a:picLocks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-2718" r="-2333"/>
            <a:stretch/>
          </p:blipFill>
          <p:spPr>
            <a:xfrm>
              <a:off x="1357270" y="1591777"/>
              <a:ext cx="4680910" cy="3011155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</p:pic>
        <p:sp>
          <p:nvSpPr>
            <p:cNvPr id="52" name="Textfeld 51"/>
            <p:cNvSpPr txBox="1"/>
            <p:nvPr/>
          </p:nvSpPr>
          <p:spPr>
            <a:xfrm>
              <a:off x="3014983" y="4933813"/>
              <a:ext cx="2119491" cy="95410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800" b="1" dirty="0" smtClean="0"/>
                <a:t>ODE </a:t>
              </a:r>
              <a:r>
                <a:rPr lang="de-DE" sz="2800" b="1" dirty="0" err="1" smtClean="0"/>
                <a:t>model</a:t>
              </a:r>
              <a:r>
                <a:rPr lang="de-DE" sz="2800" b="1" dirty="0" smtClean="0"/>
                <a:t/>
              </a:r>
              <a:br>
                <a:rPr lang="de-DE" sz="2800" b="1" dirty="0" smtClean="0"/>
              </a:br>
              <a:r>
                <a:rPr lang="de-DE" sz="2800" b="1" dirty="0" err="1" smtClean="0"/>
                <a:t>with</a:t>
              </a:r>
              <a:r>
                <a:rPr lang="de-DE" sz="2800" b="1" dirty="0" smtClean="0"/>
                <a:t> </a:t>
              </a:r>
              <a:r>
                <a:rPr lang="de-DE" sz="2800" b="1" dirty="0" err="1" smtClean="0"/>
                <a:t>data</a:t>
              </a:r>
              <a:endParaRPr lang="de-DE" sz="2800" b="1" dirty="0"/>
            </a:p>
          </p:txBody>
        </p:sp>
        <p:pic>
          <p:nvPicPr>
            <p:cNvPr id="53" name="Grafik 18"/>
            <p:cNvPicPr>
              <a:picLocks noChangeAspect="1"/>
            </p:cNvPicPr>
            <p:nvPr/>
          </p:nvPicPr>
          <p:blipFill rotWithShape="1">
            <a:blip r:embed="rId6"/>
            <a:srcRect l="8006" t="-12527" r="7479" b="12240"/>
            <a:stretch/>
          </p:blipFill>
          <p:spPr>
            <a:xfrm>
              <a:off x="-713140" y="3268177"/>
              <a:ext cx="3515385" cy="3090979"/>
            </a:xfrm>
            <a:prstGeom prst="rect">
              <a:avLst/>
            </a:prstGeom>
            <a:grpFill/>
            <a:ln w="38100">
              <a:solidFill>
                <a:schemeClr val="tx1"/>
              </a:solidFill>
            </a:ln>
          </p:spPr>
        </p:pic>
      </p:grpSp>
      <p:grpSp>
        <p:nvGrpSpPr>
          <p:cNvPr id="19" name="Gruppieren 18"/>
          <p:cNvGrpSpPr/>
          <p:nvPr/>
        </p:nvGrpSpPr>
        <p:grpSpPr>
          <a:xfrm>
            <a:off x="9883829" y="3686432"/>
            <a:ext cx="3814116" cy="3106254"/>
            <a:chOff x="10271884" y="3454203"/>
            <a:chExt cx="3814116" cy="3106254"/>
          </a:xfrm>
        </p:grpSpPr>
        <p:sp>
          <p:nvSpPr>
            <p:cNvPr id="18" name="Rechteck 17"/>
            <p:cNvSpPr/>
            <p:nvPr/>
          </p:nvSpPr>
          <p:spPr>
            <a:xfrm>
              <a:off x="10271884" y="3454203"/>
              <a:ext cx="3814116" cy="3106254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54" name="Gruppieren 51"/>
            <p:cNvGrpSpPr/>
            <p:nvPr/>
          </p:nvGrpSpPr>
          <p:grpSpPr>
            <a:xfrm>
              <a:off x="10377442" y="3454203"/>
              <a:ext cx="3597840" cy="2975626"/>
              <a:chOff x="13658064" y="3443382"/>
              <a:chExt cx="3597840" cy="2975626"/>
            </a:xfrm>
          </p:grpSpPr>
          <p:sp>
            <p:nvSpPr>
              <p:cNvPr id="55" name="Rechteck 50"/>
              <p:cNvSpPr/>
              <p:nvPr/>
            </p:nvSpPr>
            <p:spPr>
              <a:xfrm>
                <a:off x="13966272" y="3443382"/>
                <a:ext cx="3197880" cy="346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b="1" spc="-1" dirty="0">
                    <a:solidFill>
                      <a:srgbClr val="000000"/>
                    </a:solidFill>
                    <a:latin typeface="+mj-lt"/>
                  </a:rPr>
                  <a:t>s</a:t>
                </a:r>
                <a:r>
                  <a:rPr lang="en-US" b="1" spc="-1" dirty="0" smtClean="0">
                    <a:solidFill>
                      <a:srgbClr val="000000"/>
                    </a:solidFill>
                    <a:latin typeface="+mj-lt"/>
                  </a:rPr>
                  <a:t>ynthetic </a:t>
                </a:r>
                <a:r>
                  <a:rPr lang="en-US" b="1" spc="-1" dirty="0" err="1" smtClean="0">
                    <a:solidFill>
                      <a:srgbClr val="000000"/>
                    </a:solidFill>
                    <a:latin typeface="+mj-lt"/>
                  </a:rPr>
                  <a:t>obs-cond</a:t>
                </a:r>
                <a:r>
                  <a:rPr lang="en-US" b="1" spc="-1" dirty="0" smtClean="0">
                    <a:solidFill>
                      <a:srgbClr val="000000"/>
                    </a:solidFill>
                    <a:latin typeface="+mj-lt"/>
                  </a:rPr>
                  <a:t> distr.</a:t>
                </a:r>
                <a:endParaRPr lang="en-US" b="1" strike="noStrike" spc="-1" dirty="0">
                  <a:solidFill>
                    <a:srgbClr val="000000"/>
                  </a:solidFill>
                  <a:latin typeface="+mj-lt"/>
                </a:endParaRPr>
              </a:p>
            </p:txBody>
          </p:sp>
          <p:pic>
            <p:nvPicPr>
              <p:cNvPr id="56" name="Grafik 41"/>
              <p:cNvPicPr/>
              <p:nvPr/>
            </p:nvPicPr>
            <p:blipFill rotWithShape="1">
              <a:blip r:embed="rId7"/>
              <a:srcRect l="6753" t="5728" r="8582" b="17068"/>
              <a:stretch/>
            </p:blipFill>
            <p:spPr>
              <a:xfrm>
                <a:off x="13658064" y="3780310"/>
                <a:ext cx="3597840" cy="2638698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  <p:grpSp>
        <p:nvGrpSpPr>
          <p:cNvPr id="3" name="Gruppieren 2"/>
          <p:cNvGrpSpPr/>
          <p:nvPr/>
        </p:nvGrpSpPr>
        <p:grpSpPr>
          <a:xfrm>
            <a:off x="4612640" y="1830818"/>
            <a:ext cx="9162741" cy="1232422"/>
            <a:chOff x="4612640" y="1830818"/>
            <a:chExt cx="9162741" cy="1232422"/>
          </a:xfrm>
        </p:grpSpPr>
        <p:sp>
          <p:nvSpPr>
            <p:cNvPr id="58" name="Abgerundetes Rechteck 57"/>
            <p:cNvSpPr/>
            <p:nvPr/>
          </p:nvSpPr>
          <p:spPr>
            <a:xfrm>
              <a:off x="4612640" y="2067560"/>
              <a:ext cx="1198880" cy="215900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9" name="Abgerundetes Rechteck 58"/>
            <p:cNvSpPr/>
            <p:nvPr/>
          </p:nvSpPr>
          <p:spPr>
            <a:xfrm>
              <a:off x="6395595" y="2870473"/>
              <a:ext cx="350645" cy="192767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0" name="Gerader Verbinder 59"/>
            <p:cNvCxnSpPr>
              <a:stCxn id="58" idx="3"/>
            </p:cNvCxnSpPr>
            <p:nvPr/>
          </p:nvCxnSpPr>
          <p:spPr>
            <a:xfrm flipV="1">
              <a:off x="5811520" y="1830818"/>
              <a:ext cx="7963861" cy="34469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/>
            <p:cNvCxnSpPr>
              <a:stCxn id="59" idx="3"/>
            </p:cNvCxnSpPr>
            <p:nvPr/>
          </p:nvCxnSpPr>
          <p:spPr>
            <a:xfrm flipV="1">
              <a:off x="6746240" y="1830818"/>
              <a:ext cx="7029141" cy="113603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" name="Rechteck 50"/>
          <p:cNvSpPr/>
          <p:nvPr/>
        </p:nvSpPr>
        <p:spPr>
          <a:xfrm>
            <a:off x="1359050" y="3032760"/>
            <a:ext cx="3197880" cy="34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b="1" spc="-1" dirty="0" smtClean="0">
                <a:solidFill>
                  <a:srgbClr val="000000"/>
                </a:solidFill>
                <a:latin typeface="+mj-lt"/>
              </a:rPr>
              <a:t>original </a:t>
            </a:r>
            <a:r>
              <a:rPr lang="en-US" b="1" spc="-1" dirty="0" err="1" smtClean="0">
                <a:solidFill>
                  <a:srgbClr val="000000"/>
                </a:solidFill>
                <a:latin typeface="+mj-lt"/>
              </a:rPr>
              <a:t>obs-cond</a:t>
            </a:r>
            <a:r>
              <a:rPr lang="en-US" b="1" spc="-1" dirty="0" smtClean="0">
                <a:solidFill>
                  <a:srgbClr val="000000"/>
                </a:solidFill>
                <a:latin typeface="+mj-lt"/>
              </a:rPr>
              <a:t> distr.</a:t>
            </a:r>
            <a:endParaRPr lang="en-US" b="1" strike="noStrike" spc="-1" dirty="0">
              <a:solidFill>
                <a:srgbClr val="000000"/>
              </a:solidFill>
              <a:latin typeface="+mj-lt"/>
            </a:endParaRPr>
          </a:p>
        </p:txBody>
      </p:sp>
      <p:grpSp>
        <p:nvGrpSpPr>
          <p:cNvPr id="96" name="Gruppieren 95"/>
          <p:cNvGrpSpPr/>
          <p:nvPr/>
        </p:nvGrpSpPr>
        <p:grpSpPr>
          <a:xfrm>
            <a:off x="1340748" y="7236444"/>
            <a:ext cx="5954706" cy="5631016"/>
            <a:chOff x="1270185" y="6570436"/>
            <a:chExt cx="5954706" cy="5631016"/>
          </a:xfrm>
        </p:grpSpPr>
        <p:pic>
          <p:nvPicPr>
            <p:cNvPr id="15" name="Grafik 14"/>
            <p:cNvPicPr>
              <a:picLocks noChangeAspect="1"/>
            </p:cNvPicPr>
            <p:nvPr/>
          </p:nvPicPr>
          <p:blipFill>
            <a:blip r:embed="rId8" cstate="print">
              <a:duotone>
                <a:prstClr val="black"/>
                <a:schemeClr val="accent3">
                  <a:lumMod val="50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0185" y="7687052"/>
              <a:ext cx="5040306" cy="3600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90" name="Grafik 89"/>
            <p:cNvPicPr>
              <a:picLocks noChangeAspect="1"/>
            </p:cNvPicPr>
            <p:nvPr/>
          </p:nvPicPr>
          <p:blipFill>
            <a:blip r:embed="rId8" cstate="print">
              <a:duotone>
                <a:prstClr val="black"/>
                <a:schemeClr val="accent3">
                  <a:lumMod val="50000"/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2585" y="7839452"/>
              <a:ext cx="5040306" cy="3600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91" name="Grafik 90"/>
            <p:cNvPicPr>
              <a:picLocks noChangeAspect="1"/>
            </p:cNvPicPr>
            <p:nvPr/>
          </p:nvPicPr>
          <p:blipFill>
            <a:blip r:embed="rId8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4985" y="7991852"/>
              <a:ext cx="5040306" cy="3600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92" name="Grafik 91"/>
            <p:cNvPicPr>
              <a:picLocks noChangeAspect="1"/>
            </p:cNvPicPr>
            <p:nvPr/>
          </p:nvPicPr>
          <p:blipFill>
            <a:blip r:embed="rId8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7385" y="8144252"/>
              <a:ext cx="5040306" cy="3600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93" name="Grafik 92"/>
            <p:cNvPicPr>
              <a:picLocks noChangeAspect="1"/>
            </p:cNvPicPr>
            <p:nvPr/>
          </p:nvPicPr>
          <p:blipFill>
            <a:blip r:embed="rId8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9785" y="8296652"/>
              <a:ext cx="5040306" cy="3600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94" name="Grafik 93"/>
            <p:cNvPicPr>
              <a:picLocks noChangeAspect="1"/>
            </p:cNvPicPr>
            <p:nvPr/>
          </p:nvPicPr>
          <p:blipFill>
            <a:blip r:embed="rId8" cstate="print">
              <a:duotone>
                <a:prstClr val="black"/>
                <a:srgbClr val="FFC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2185" y="8449052"/>
              <a:ext cx="5040306" cy="3600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pic>
          <p:nvPicPr>
            <p:cNvPr id="95" name="Grafik 94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84585" y="8601452"/>
              <a:ext cx="5040306" cy="3600000"/>
            </a:xfrm>
            <a:prstGeom prst="rect">
              <a:avLst/>
            </a:prstGeom>
            <a:ln w="38100">
              <a:solidFill>
                <a:schemeClr val="tx1"/>
              </a:solidFill>
            </a:ln>
          </p:spPr>
        </p:pic>
        <p:sp>
          <p:nvSpPr>
            <p:cNvPr id="37" name="Textfeld 36"/>
            <p:cNvSpPr txBox="1"/>
            <p:nvPr/>
          </p:nvSpPr>
          <p:spPr>
            <a:xfrm>
              <a:off x="2192899" y="6570436"/>
              <a:ext cx="3499677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800" b="1" dirty="0" err="1" smtClean="0"/>
                <a:t>realistic</a:t>
              </a:r>
              <a:r>
                <a:rPr lang="de-DE" sz="2800" b="1" dirty="0" smtClean="0"/>
                <a:t> </a:t>
              </a:r>
              <a:r>
                <a:rPr lang="de-DE" sz="2800" b="1" dirty="0" err="1" smtClean="0"/>
                <a:t>parameter</a:t>
              </a:r>
              <a:r>
                <a:rPr lang="de-DE" sz="2800" b="1" dirty="0"/>
                <a:t/>
              </a:r>
              <a:br>
                <a:rPr lang="de-DE" sz="2800" b="1" dirty="0"/>
              </a:br>
              <a:r>
                <a:rPr lang="de-DE" sz="2800" b="1" dirty="0" err="1" smtClean="0"/>
                <a:t>estimation</a:t>
              </a:r>
              <a:r>
                <a:rPr lang="de-DE" sz="2800" b="1" dirty="0"/>
                <a:t> </a:t>
              </a:r>
              <a:r>
                <a:rPr lang="de-DE" sz="2800" b="1" dirty="0" err="1" smtClean="0"/>
                <a:t>problem</a:t>
              </a:r>
              <a:r>
                <a:rPr lang="de-DE" sz="2800" b="1" dirty="0"/>
                <a:t/>
              </a:r>
              <a:br>
                <a:rPr lang="de-DE" sz="2800" b="1" dirty="0"/>
              </a:br>
              <a:endParaRPr lang="de-DE" sz="2800" b="1" dirty="0"/>
            </a:p>
          </p:txBody>
        </p:sp>
      </p:grpSp>
      <p:sp>
        <p:nvSpPr>
          <p:cNvPr id="97" name="Foliennummernplatzhalt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FDFA1-13E1-47F7-AAEB-46EC02612569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061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oliennummernplatzhalt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FDFA1-13E1-47F7-AAEB-46EC02612569}" type="slidenum">
              <a:rPr lang="de-DE" smtClean="0"/>
              <a:t>9</a:t>
            </a:fld>
            <a:endParaRPr lang="de-DE" dirty="0"/>
          </a:p>
        </p:txBody>
      </p:sp>
      <p:sp>
        <p:nvSpPr>
          <p:cNvPr id="176" name="Rechteck 125"/>
          <p:cNvSpPr/>
          <p:nvPr/>
        </p:nvSpPr>
        <p:spPr>
          <a:xfrm>
            <a:off x="10194120" y="5649480"/>
            <a:ext cx="2876760" cy="45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Calibri"/>
              <a:ea typeface="Helvetica Neue Medium"/>
            </a:endParaRPr>
          </a:p>
        </p:txBody>
      </p:sp>
      <p:sp>
        <p:nvSpPr>
          <p:cNvPr id="177" name="Rechteck 17"/>
          <p:cNvSpPr/>
          <p:nvPr/>
        </p:nvSpPr>
        <p:spPr>
          <a:xfrm>
            <a:off x="9316800" y="1793160"/>
            <a:ext cx="11787480" cy="88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  <a:ea typeface="Helvetica Neue Medium"/>
              </a:rPr>
              <a:t>Examples of realistic simulations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Rechteck 32"/>
          <p:cNvSpPr/>
          <p:nvPr/>
        </p:nvSpPr>
        <p:spPr>
          <a:xfrm>
            <a:off x="4250160" y="2400480"/>
            <a:ext cx="16854120" cy="1027980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accent1"/>
              </a:solidFill>
              <a:latin typeface="Calibri"/>
              <a:ea typeface="Helvetica Neue Medium"/>
            </a:endParaRPr>
          </a:p>
        </p:txBody>
      </p:sp>
      <p:grpSp>
        <p:nvGrpSpPr>
          <p:cNvPr id="179" name="Gruppieren 11"/>
          <p:cNvGrpSpPr/>
          <p:nvPr/>
        </p:nvGrpSpPr>
        <p:grpSpPr>
          <a:xfrm>
            <a:off x="808200" y="1449360"/>
            <a:ext cx="3139200" cy="11239920"/>
            <a:chOff x="808200" y="1449360"/>
            <a:chExt cx="3139200" cy="11239920"/>
          </a:xfrm>
        </p:grpSpPr>
        <p:sp>
          <p:nvSpPr>
            <p:cNvPr id="180" name="Rechteck 126"/>
            <p:cNvSpPr/>
            <p:nvPr/>
          </p:nvSpPr>
          <p:spPr>
            <a:xfrm>
              <a:off x="925560" y="1449360"/>
              <a:ext cx="2482200" cy="891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2800" b="1" strike="noStrike" spc="-1">
                  <a:solidFill>
                    <a:srgbClr val="000000"/>
                  </a:solidFill>
                  <a:latin typeface="Calibri"/>
                  <a:ea typeface="Helvetica Neue Medium"/>
                </a:rPr>
                <a:t>Many realistic</a:t>
              </a:r>
              <a:r>
                <a:rPr sz="2800"/>
                <a:t/>
              </a:r>
              <a:br>
                <a:rPr sz="2800"/>
              </a:br>
              <a:r>
                <a:rPr lang="en-US" sz="2800" b="1" strike="noStrike" spc="-1">
                  <a:solidFill>
                    <a:srgbClr val="000000"/>
                  </a:solidFill>
                  <a:latin typeface="Calibri"/>
                  <a:ea typeface="Helvetica Neue Medium"/>
                </a:rPr>
                <a:t>simulations</a:t>
              </a:r>
              <a:endParaRPr lang="en-US" sz="2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  <p:grpSp>
          <p:nvGrpSpPr>
            <p:cNvPr id="181" name="Gruppieren 9"/>
            <p:cNvGrpSpPr/>
            <p:nvPr/>
          </p:nvGrpSpPr>
          <p:grpSpPr>
            <a:xfrm>
              <a:off x="808200" y="2400120"/>
              <a:ext cx="3139200" cy="10289160"/>
              <a:chOff x="808200" y="2400120"/>
              <a:chExt cx="3139200" cy="10289160"/>
            </a:xfrm>
          </p:grpSpPr>
          <p:pic>
            <p:nvPicPr>
              <p:cNvPr id="182" name="Grafik 8"/>
              <p:cNvPicPr/>
              <p:nvPr/>
            </p:nvPicPr>
            <p:blipFill>
              <a:blip r:embed="rId3"/>
              <a:stretch/>
            </p:blipFill>
            <p:spPr>
              <a:xfrm>
                <a:off x="808200" y="2400120"/>
                <a:ext cx="3021840" cy="755424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83" name="Rechteck 7"/>
              <p:cNvSpPr/>
              <p:nvPr/>
            </p:nvSpPr>
            <p:spPr>
              <a:xfrm>
                <a:off x="1226160" y="9995760"/>
                <a:ext cx="1879560" cy="3787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vert="vert" lIns="180000" tIns="90000" rIns="45000" bIns="90000" anchor="b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de-DE" sz="3600" b="0" strike="noStrike" spc="585">
                    <a:solidFill>
                      <a:schemeClr val="dk1"/>
                    </a:solidFill>
                    <a:latin typeface="Calibri"/>
                    <a:ea typeface="Helvetica Neue Medium"/>
                  </a:rPr>
                  <a:t>…</a:t>
                </a:r>
                <a:endParaRPr lang="en-US" sz="36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  <p:pic>
            <p:nvPicPr>
              <p:cNvPr id="184" name="Grafik 38"/>
              <p:cNvPicPr/>
              <p:nvPr/>
            </p:nvPicPr>
            <p:blipFill>
              <a:blip r:embed="rId4"/>
              <a:stretch/>
            </p:blipFill>
            <p:spPr>
              <a:xfrm>
                <a:off x="925560" y="10322280"/>
                <a:ext cx="3021840" cy="191808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85" name="Rechteck 39"/>
              <p:cNvSpPr/>
              <p:nvPr/>
            </p:nvSpPr>
            <p:spPr>
              <a:xfrm>
                <a:off x="1226160" y="12310560"/>
                <a:ext cx="453600" cy="3787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vert="vert" lIns="45000" tIns="90000" rIns="45000" bIns="90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de-DE" sz="3600" b="0" strike="noStrike" spc="585">
                    <a:solidFill>
                      <a:schemeClr val="dk1"/>
                    </a:solidFill>
                    <a:latin typeface="Calibri"/>
                    <a:ea typeface="Helvetica Neue Medium"/>
                  </a:rPr>
                  <a:t>…</a:t>
                </a:r>
                <a:endParaRPr lang="en-US" sz="36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</p:grpSp>
      <p:cxnSp>
        <p:nvCxnSpPr>
          <p:cNvPr id="186" name="Gerader Verbinder 16"/>
          <p:cNvCxnSpPr>
            <a:stCxn id="178" idx="1"/>
            <a:endCxn id="178" idx="3"/>
          </p:cNvCxnSpPr>
          <p:nvPr/>
        </p:nvCxnSpPr>
        <p:spPr>
          <a:xfrm>
            <a:off x="4250160" y="7540200"/>
            <a:ext cx="16854480" cy="360"/>
          </a:xfrm>
          <a:prstGeom prst="straightConnector1">
            <a:avLst/>
          </a:prstGeom>
          <a:ln w="0">
            <a:noFill/>
          </a:ln>
        </p:spPr>
      </p:cxnSp>
      <p:cxnSp>
        <p:nvCxnSpPr>
          <p:cNvPr id="187" name="Gerader Verbinder 22"/>
          <p:cNvCxnSpPr>
            <a:stCxn id="178" idx="1"/>
            <a:endCxn id="178" idx="3"/>
          </p:cNvCxnSpPr>
          <p:nvPr/>
        </p:nvCxnSpPr>
        <p:spPr>
          <a:xfrm>
            <a:off x="4250160" y="7540200"/>
            <a:ext cx="16854480" cy="360"/>
          </a:xfrm>
          <a:prstGeom prst="straightConnector1">
            <a:avLst/>
          </a:prstGeom>
          <a:ln w="28575">
            <a:solidFill>
              <a:srgbClr val="000000"/>
            </a:solidFill>
            <a:round/>
          </a:ln>
        </p:spPr>
      </p:cxnSp>
      <p:cxnSp>
        <p:nvCxnSpPr>
          <p:cNvPr id="188" name="Gerader Verbinder 43"/>
          <p:cNvCxnSpPr/>
          <p:nvPr/>
        </p:nvCxnSpPr>
        <p:spPr>
          <a:xfrm>
            <a:off x="9316440" y="1743480"/>
            <a:ext cx="2160" cy="10946160"/>
          </a:xfrm>
          <a:prstGeom prst="straightConnector1">
            <a:avLst/>
          </a:prstGeom>
          <a:ln w="28575">
            <a:solidFill>
              <a:srgbClr val="000000"/>
            </a:solidFill>
            <a:prstDash val="sysDot"/>
            <a:round/>
          </a:ln>
        </p:spPr>
      </p:cxnSp>
      <p:sp>
        <p:nvSpPr>
          <p:cNvPr id="189" name="Rechteck 45"/>
          <p:cNvSpPr/>
          <p:nvPr/>
        </p:nvSpPr>
        <p:spPr>
          <a:xfrm>
            <a:off x="4250160" y="1789920"/>
            <a:ext cx="4530960" cy="57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latin typeface="Calibri"/>
                <a:ea typeface="Helvetica Neue Medium"/>
              </a:rPr>
              <a:t>Original Bachmann model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90" name="Gruppieren 5"/>
          <p:cNvGrpSpPr/>
          <p:nvPr/>
        </p:nvGrpSpPr>
        <p:grpSpPr>
          <a:xfrm>
            <a:off x="4404600" y="2750760"/>
            <a:ext cx="3941280" cy="4131360"/>
            <a:chOff x="4404600" y="2750760"/>
            <a:chExt cx="3941280" cy="4131360"/>
          </a:xfrm>
        </p:grpSpPr>
        <p:sp>
          <p:nvSpPr>
            <p:cNvPr id="191" name="Rechteck 26"/>
            <p:cNvSpPr/>
            <p:nvPr/>
          </p:nvSpPr>
          <p:spPr>
            <a:xfrm>
              <a:off x="4651560" y="2750760"/>
              <a:ext cx="3485160" cy="85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400" b="1" strike="noStrike" spc="-1">
                  <a:solidFill>
                    <a:srgbClr val="000000"/>
                  </a:solidFill>
                  <a:latin typeface="Calibri"/>
                  <a:ea typeface="Helvetica Neue Medium"/>
                </a:rPr>
                <a:t>observable-condition structure</a:t>
              </a:r>
              <a:endParaRPr lang="en-US" sz="24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  <p:pic>
          <p:nvPicPr>
            <p:cNvPr id="192" name="Grafik 44"/>
            <p:cNvPicPr/>
            <p:nvPr/>
          </p:nvPicPr>
          <p:blipFill>
            <a:blip r:embed="rId5"/>
            <a:stretch/>
          </p:blipFill>
          <p:spPr>
            <a:xfrm>
              <a:off x="4404600" y="3541680"/>
              <a:ext cx="3941280" cy="33404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93" name="Gruppieren 51"/>
          <p:cNvGrpSpPr/>
          <p:nvPr/>
        </p:nvGrpSpPr>
        <p:grpSpPr>
          <a:xfrm>
            <a:off x="13615200" y="3262680"/>
            <a:ext cx="3597840" cy="3739680"/>
            <a:chOff x="13615200" y="3262680"/>
            <a:chExt cx="3597840" cy="3739680"/>
          </a:xfrm>
        </p:grpSpPr>
        <p:sp>
          <p:nvSpPr>
            <p:cNvPr id="194" name="Rechteck 50"/>
            <p:cNvSpPr/>
            <p:nvPr/>
          </p:nvSpPr>
          <p:spPr>
            <a:xfrm>
              <a:off x="13837680" y="3262680"/>
              <a:ext cx="3197880" cy="34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1" strike="noStrike" spc="-1">
                  <a:solidFill>
                    <a:srgbClr val="000000"/>
                  </a:solidFill>
                  <a:latin typeface="Calibri"/>
                  <a:ea typeface="Helvetica Neue Medium"/>
                </a:rPr>
                <a:t>Realistic04</a:t>
              </a:r>
              <a:endParaRPr lang="en-US" sz="20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  <p:pic>
          <p:nvPicPr>
            <p:cNvPr id="195" name="Grafik 41"/>
            <p:cNvPicPr/>
            <p:nvPr/>
          </p:nvPicPr>
          <p:blipFill>
            <a:blip r:embed="rId6"/>
            <a:srcRect l="6753" r="8582"/>
            <a:stretch/>
          </p:blipFill>
          <p:spPr>
            <a:xfrm>
              <a:off x="13615200" y="3584520"/>
              <a:ext cx="3597840" cy="34178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96" name="Gruppieren 49"/>
          <p:cNvGrpSpPr/>
          <p:nvPr/>
        </p:nvGrpSpPr>
        <p:grpSpPr>
          <a:xfrm>
            <a:off x="9911880" y="3231720"/>
            <a:ext cx="3597840" cy="3773160"/>
            <a:chOff x="9911880" y="3231720"/>
            <a:chExt cx="3597840" cy="3773160"/>
          </a:xfrm>
        </p:grpSpPr>
        <p:pic>
          <p:nvPicPr>
            <p:cNvPr id="197" name="Grafik 47"/>
            <p:cNvPicPr/>
            <p:nvPr/>
          </p:nvPicPr>
          <p:blipFill>
            <a:blip r:embed="rId7"/>
            <a:srcRect l="6829" r="8416"/>
            <a:stretch/>
          </p:blipFill>
          <p:spPr>
            <a:xfrm>
              <a:off x="9911880" y="3587040"/>
              <a:ext cx="3597840" cy="34178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98" name="Rechteck 55"/>
            <p:cNvSpPr/>
            <p:nvPr/>
          </p:nvSpPr>
          <p:spPr>
            <a:xfrm>
              <a:off x="10231200" y="3231720"/>
              <a:ext cx="2853720" cy="32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1" strike="noStrike" spc="-1">
                  <a:solidFill>
                    <a:srgbClr val="000000"/>
                  </a:solidFill>
                  <a:latin typeface="Calibri"/>
                  <a:ea typeface="Helvetica Neue Medium"/>
                </a:rPr>
                <a:t>Realistic01</a:t>
              </a:r>
              <a:endParaRPr lang="en-US" sz="20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99" name="Gruppieren 56"/>
          <p:cNvGrpSpPr/>
          <p:nvPr/>
        </p:nvGrpSpPr>
        <p:grpSpPr>
          <a:xfrm>
            <a:off x="17327160" y="3262680"/>
            <a:ext cx="3597840" cy="3456000"/>
            <a:chOff x="17327160" y="3262680"/>
            <a:chExt cx="3597840" cy="3456000"/>
          </a:xfrm>
        </p:grpSpPr>
        <p:pic>
          <p:nvPicPr>
            <p:cNvPr id="200" name="Grafik 48"/>
            <p:cNvPicPr/>
            <p:nvPr/>
          </p:nvPicPr>
          <p:blipFill>
            <a:blip r:embed="rId8"/>
            <a:srcRect l="5685" r="7777"/>
            <a:stretch/>
          </p:blipFill>
          <p:spPr>
            <a:xfrm>
              <a:off x="17327160" y="3588840"/>
              <a:ext cx="3597840" cy="31298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1" name="Rechteck 62"/>
            <p:cNvSpPr/>
            <p:nvPr/>
          </p:nvSpPr>
          <p:spPr>
            <a:xfrm>
              <a:off x="17940240" y="3262680"/>
              <a:ext cx="2737440" cy="297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1" strike="noStrike" spc="-1">
                  <a:solidFill>
                    <a:srgbClr val="000000"/>
                  </a:solidFill>
                  <a:latin typeface="Calibri"/>
                  <a:ea typeface="Helvetica Neue Medium"/>
                </a:rPr>
                <a:t>Realistic06</a:t>
              </a:r>
              <a:endParaRPr lang="en-US" sz="20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pic>
        <p:nvPicPr>
          <p:cNvPr id="202" name="Grafik 10"/>
          <p:cNvPicPr/>
          <p:nvPr/>
        </p:nvPicPr>
        <p:blipFill>
          <a:blip r:embed="rId9"/>
          <a:srcRect l="5997" r="8668"/>
          <a:stretch/>
        </p:blipFill>
        <p:spPr>
          <a:xfrm>
            <a:off x="9529560" y="8493480"/>
            <a:ext cx="4677840" cy="3957840"/>
          </a:xfrm>
          <a:prstGeom prst="rect">
            <a:avLst/>
          </a:prstGeom>
          <a:ln w="19050">
            <a:solidFill>
              <a:srgbClr val="000000"/>
            </a:solidFill>
            <a:round/>
          </a:ln>
        </p:spPr>
      </p:pic>
      <p:pic>
        <p:nvPicPr>
          <p:cNvPr id="203" name="Grafik 21"/>
          <p:cNvPicPr/>
          <p:nvPr/>
        </p:nvPicPr>
        <p:blipFill>
          <a:blip r:embed="rId10"/>
          <a:srcRect l="4284" r="8541"/>
          <a:stretch/>
        </p:blipFill>
        <p:spPr>
          <a:xfrm>
            <a:off x="4423680" y="8493480"/>
            <a:ext cx="4677840" cy="3957840"/>
          </a:xfrm>
          <a:prstGeom prst="rect">
            <a:avLst/>
          </a:prstGeom>
          <a:ln w="19050">
            <a:solidFill>
              <a:srgbClr val="000000"/>
            </a:solidFill>
            <a:round/>
          </a:ln>
        </p:spPr>
      </p:pic>
      <p:sp>
        <p:nvSpPr>
          <p:cNvPr id="204" name="Rechteck 61"/>
          <p:cNvSpPr/>
          <p:nvPr/>
        </p:nvSpPr>
        <p:spPr>
          <a:xfrm>
            <a:off x="4423680" y="7587360"/>
            <a:ext cx="4672080" cy="85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Helvetica Neue Medium"/>
              </a:rPr>
              <a:t>Original data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" name="Rechteck 63"/>
          <p:cNvSpPr/>
          <p:nvPr/>
        </p:nvSpPr>
        <p:spPr>
          <a:xfrm>
            <a:off x="9506520" y="7627680"/>
            <a:ext cx="4700880" cy="85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  <a:ea typeface="Helvetica Neue Medium"/>
              </a:rPr>
              <a:t>Synthetic data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206" name="Gruppieren 23"/>
          <p:cNvGrpSpPr/>
          <p:nvPr/>
        </p:nvGrpSpPr>
        <p:grpSpPr>
          <a:xfrm>
            <a:off x="14413680" y="7792560"/>
            <a:ext cx="6478200" cy="4636080"/>
            <a:chOff x="14413680" y="7792560"/>
            <a:chExt cx="6478200" cy="4636080"/>
          </a:xfrm>
        </p:grpSpPr>
        <p:pic>
          <p:nvPicPr>
            <p:cNvPr id="207" name="Grafik 12"/>
            <p:cNvPicPr/>
            <p:nvPr/>
          </p:nvPicPr>
          <p:blipFill>
            <a:blip r:embed="rId11"/>
            <a:stretch/>
          </p:blipFill>
          <p:spPr>
            <a:xfrm>
              <a:off x="17654040" y="7797240"/>
              <a:ext cx="3237840" cy="2301840"/>
            </a:xfrm>
            <a:prstGeom prst="rect">
              <a:avLst/>
            </a:prstGeom>
            <a:ln w="19050">
              <a:solidFill>
                <a:srgbClr val="000000"/>
              </a:solidFill>
              <a:round/>
            </a:ln>
          </p:spPr>
        </p:pic>
        <p:pic>
          <p:nvPicPr>
            <p:cNvPr id="208" name="Grafik 15"/>
            <p:cNvPicPr/>
            <p:nvPr/>
          </p:nvPicPr>
          <p:blipFill>
            <a:blip r:embed="rId12"/>
            <a:stretch/>
          </p:blipFill>
          <p:spPr>
            <a:xfrm>
              <a:off x="14413680" y="7792560"/>
              <a:ext cx="3237840" cy="2301840"/>
            </a:xfrm>
            <a:prstGeom prst="rect">
              <a:avLst/>
            </a:prstGeom>
            <a:ln w="19050">
              <a:solidFill>
                <a:srgbClr val="000000"/>
              </a:solidFill>
              <a:round/>
            </a:ln>
          </p:spPr>
        </p:pic>
        <p:pic>
          <p:nvPicPr>
            <p:cNvPr id="209" name="Grafik 19"/>
            <p:cNvPicPr/>
            <p:nvPr/>
          </p:nvPicPr>
          <p:blipFill>
            <a:blip r:embed="rId13"/>
            <a:stretch/>
          </p:blipFill>
          <p:spPr>
            <a:xfrm>
              <a:off x="17654040" y="10126800"/>
              <a:ext cx="3237840" cy="2301840"/>
            </a:xfrm>
            <a:prstGeom prst="rect">
              <a:avLst/>
            </a:prstGeom>
            <a:ln w="19050">
              <a:solidFill>
                <a:srgbClr val="000000"/>
              </a:solidFill>
              <a:round/>
            </a:ln>
          </p:spPr>
        </p:pic>
        <p:pic>
          <p:nvPicPr>
            <p:cNvPr id="210" name="Grafik 18"/>
            <p:cNvPicPr/>
            <p:nvPr/>
          </p:nvPicPr>
          <p:blipFill>
            <a:blip r:embed="rId14"/>
            <a:stretch/>
          </p:blipFill>
          <p:spPr>
            <a:xfrm>
              <a:off x="14413680" y="10126800"/>
              <a:ext cx="3237840" cy="2301840"/>
            </a:xfrm>
            <a:prstGeom prst="rect">
              <a:avLst/>
            </a:prstGeom>
            <a:ln w="19050">
              <a:solidFill>
                <a:srgbClr val="000000"/>
              </a:solidFill>
              <a:round/>
            </a:ln>
          </p:spPr>
        </p:pic>
      </p:grpSp>
      <p:sp>
        <p:nvSpPr>
          <p:cNvPr id="41" name="PlaceHolder 1"/>
          <p:cNvSpPr txBox="1">
            <a:spLocks/>
          </p:cNvSpPr>
          <p:nvPr/>
        </p:nvSpPr>
        <p:spPr>
          <a:xfrm>
            <a:off x="295200" y="321840"/>
            <a:ext cx="22183800" cy="985320"/>
          </a:xfrm>
          <a:prstGeom prst="rect">
            <a:avLst/>
          </a:prstGeom>
          <a:noFill/>
          <a:ln w="0">
            <a:noFill/>
          </a:ln>
        </p:spPr>
        <p:txBody>
          <a:bodyPr lIns="71280" tIns="71280" rIns="71280" bIns="7128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5400" spc="-1" dirty="0">
                <a:solidFill>
                  <a:srgbClr val="000000"/>
                </a:solidFill>
                <a:latin typeface="Impact"/>
                <a:ea typeface="Microsoft YaHei"/>
              </a:rPr>
              <a:t>Results: Novel Parameter Estimation Problems with Realistic Synthetic Data</a:t>
            </a:r>
            <a:endParaRPr lang="de-DE" sz="5400" spc="-1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 txBox="1">
            <a:spLocks/>
          </p:cNvSpPr>
          <p:nvPr/>
        </p:nvSpPr>
        <p:spPr>
          <a:xfrm>
            <a:off x="295200" y="321840"/>
            <a:ext cx="20809080" cy="985320"/>
          </a:xfrm>
          <a:prstGeom prst="rect">
            <a:avLst/>
          </a:prstGeom>
          <a:noFill/>
          <a:ln w="0">
            <a:noFill/>
          </a:ln>
        </p:spPr>
        <p:txBody>
          <a:bodyPr lIns="71280" tIns="71280" rIns="71280" bIns="7128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spcBef>
                <a:spcPts val="100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5000" spc="-1" dirty="0" smtClean="0">
                <a:solidFill>
                  <a:srgbClr val="000000"/>
                </a:solidFill>
                <a:latin typeface="Impact"/>
                <a:ea typeface="Microsoft YaHei"/>
              </a:rPr>
              <a:t>Current Status and Upcoming Challenges</a:t>
            </a:r>
            <a:endParaRPr lang="de-DE" sz="5000" spc="-1" dirty="0">
              <a:solidFill>
                <a:schemeClr val="dk1"/>
              </a:solidFill>
              <a:latin typeface="Helvetica Neue Medium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1043952" y="1606140"/>
            <a:ext cx="14677416" cy="92332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de-DE" sz="3600" b="1" dirty="0" smtClean="0"/>
              <a:t>Simulation </a:t>
            </a:r>
            <a:r>
              <a:rPr lang="de-DE" sz="3600" b="1" dirty="0" err="1" smtClean="0"/>
              <a:t>pipeline</a:t>
            </a:r>
            <a:r>
              <a:rPr lang="de-DE" sz="3600" b="1" dirty="0" smtClean="0"/>
              <a:t> </a:t>
            </a:r>
            <a:r>
              <a:rPr lang="de-DE" sz="3600" b="1" dirty="0" err="1" smtClean="0"/>
              <a:t>is</a:t>
            </a:r>
            <a:r>
              <a:rPr lang="de-DE" sz="3600" b="1" dirty="0" smtClean="0"/>
              <a:t> </a:t>
            </a:r>
            <a:r>
              <a:rPr lang="de-DE" sz="3600" b="1" dirty="0" err="1" smtClean="0"/>
              <a:t>established</a:t>
            </a:r>
            <a:r>
              <a:rPr lang="de-DE" sz="3600" b="1" dirty="0" smtClean="0"/>
              <a:t> </a:t>
            </a:r>
            <a:r>
              <a:rPr lang="de-DE" sz="3600" b="1" dirty="0" err="1" smtClean="0"/>
              <a:t>and</a:t>
            </a:r>
            <a:r>
              <a:rPr lang="de-DE" sz="3600" b="1" dirty="0" smtClean="0"/>
              <a:t> </a:t>
            </a:r>
            <a:r>
              <a:rPr lang="de-DE" sz="3600" b="1" dirty="0" err="1" smtClean="0"/>
              <a:t>running</a:t>
            </a:r>
            <a:endParaRPr lang="de-DE" sz="3600" b="1" dirty="0" smtClean="0"/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sz="3200" dirty="0" smtClean="0"/>
              <a:t>In </a:t>
            </a:r>
            <a:r>
              <a:rPr lang="de-DE" sz="3200" dirty="0" err="1" smtClean="0"/>
              <a:t>principle</a:t>
            </a:r>
            <a:r>
              <a:rPr lang="de-DE" sz="3200" dirty="0" smtClean="0"/>
              <a:t>, I </a:t>
            </a:r>
            <a:r>
              <a:rPr lang="de-DE" sz="3200" dirty="0" err="1" smtClean="0"/>
              <a:t>could</a:t>
            </a:r>
            <a:r>
              <a:rPr lang="de-DE" sz="3200" dirty="0" smtClean="0"/>
              <a:t> </a:t>
            </a:r>
            <a:r>
              <a:rPr lang="de-DE" sz="3200" dirty="0" err="1" smtClean="0"/>
              <a:t>run</a:t>
            </a:r>
            <a:r>
              <a:rPr lang="de-DE" sz="3200" dirty="0" smtClean="0"/>
              <a:t> </a:t>
            </a:r>
            <a:r>
              <a:rPr lang="de-DE" sz="3200" dirty="0" err="1" smtClean="0"/>
              <a:t>the</a:t>
            </a:r>
            <a:r>
              <a:rPr lang="de-DE" sz="3200" dirty="0" smtClean="0"/>
              <a:t> </a:t>
            </a:r>
            <a:r>
              <a:rPr lang="de-DE" sz="3200" dirty="0" err="1" smtClean="0"/>
              <a:t>program</a:t>
            </a:r>
            <a:r>
              <a:rPr lang="de-DE" sz="3200" dirty="0" smtClean="0"/>
              <a:t> </a:t>
            </a:r>
            <a:r>
              <a:rPr lang="de-DE" sz="3200" dirty="0" err="1" smtClean="0"/>
              <a:t>and</a:t>
            </a:r>
            <a:r>
              <a:rPr lang="de-DE" sz="3200" dirty="0" smtClean="0"/>
              <a:t> </a:t>
            </a:r>
            <a:r>
              <a:rPr lang="de-DE" sz="3200" dirty="0" err="1" smtClean="0"/>
              <a:t>declare</a:t>
            </a:r>
            <a:r>
              <a:rPr lang="de-DE" sz="3200" dirty="0" smtClean="0"/>
              <a:t> </a:t>
            </a:r>
            <a:r>
              <a:rPr lang="de-DE" sz="3200" dirty="0" err="1" smtClean="0"/>
              <a:t>the</a:t>
            </a:r>
            <a:r>
              <a:rPr lang="de-DE" sz="3200" dirty="0" smtClean="0"/>
              <a:t> sub-project </a:t>
            </a:r>
            <a:r>
              <a:rPr lang="de-DE" sz="3200" dirty="0" err="1" smtClean="0"/>
              <a:t>as</a:t>
            </a:r>
            <a:r>
              <a:rPr lang="de-DE" sz="3200" dirty="0" smtClean="0"/>
              <a:t> </a:t>
            </a:r>
            <a:r>
              <a:rPr lang="de-DE" sz="3200" dirty="0" err="1" smtClean="0"/>
              <a:t>finished</a:t>
            </a:r>
            <a:r>
              <a:rPr lang="de-DE" sz="3200" dirty="0" smtClean="0"/>
              <a:t>.</a:t>
            </a:r>
          </a:p>
          <a:p>
            <a:pPr>
              <a:spcAft>
                <a:spcPts val="1200"/>
              </a:spcAft>
            </a:pPr>
            <a:endParaRPr lang="de-DE" sz="3600" b="1" dirty="0" smtClean="0">
              <a:sym typeface="Wingdings" panose="05000000000000000000" pitchFamily="2" charset="2"/>
            </a:endParaRP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de-DE" sz="3600" b="1" dirty="0" err="1" smtClean="0">
                <a:sym typeface="Wingdings" panose="05000000000000000000" pitchFamily="2" charset="2"/>
              </a:rPr>
              <a:t>Currently</a:t>
            </a:r>
            <a:r>
              <a:rPr lang="de-DE" sz="3600" b="1" dirty="0" smtClean="0">
                <a:sym typeface="Wingdings" panose="05000000000000000000" pitchFamily="2" charset="2"/>
              </a:rPr>
              <a:t>, I </a:t>
            </a:r>
            <a:r>
              <a:rPr lang="de-DE" sz="3600" b="1" dirty="0" err="1" smtClean="0">
                <a:sym typeface="Wingdings" panose="05000000000000000000" pitchFamily="2" charset="2"/>
              </a:rPr>
              <a:t>iteratively</a:t>
            </a:r>
            <a:r>
              <a:rPr lang="de-DE" sz="3600" b="1" dirty="0" smtClean="0">
                <a:sym typeface="Wingdings" panose="05000000000000000000" pitchFamily="2" charset="2"/>
              </a:rPr>
              <a:t> </a:t>
            </a:r>
            <a:r>
              <a:rPr lang="de-DE" sz="3600" b="1" dirty="0" err="1" smtClean="0">
                <a:sym typeface="Wingdings" panose="05000000000000000000" pitchFamily="2" charset="2"/>
              </a:rPr>
              <a:t>simulate</a:t>
            </a:r>
            <a:r>
              <a:rPr lang="de-DE" sz="3600" b="1" dirty="0" smtClean="0">
                <a:sym typeface="Wingdings" panose="05000000000000000000" pitchFamily="2" charset="2"/>
              </a:rPr>
              <a:t> </a:t>
            </a:r>
            <a:r>
              <a:rPr lang="de-DE" sz="3600" b="1" dirty="0" err="1" smtClean="0">
                <a:sym typeface="Wingdings" panose="05000000000000000000" pitchFamily="2" charset="2"/>
              </a:rPr>
              <a:t>and</a:t>
            </a:r>
            <a:r>
              <a:rPr lang="de-DE" sz="3600" b="1" dirty="0" smtClean="0">
                <a:sym typeface="Wingdings" panose="05000000000000000000" pitchFamily="2" charset="2"/>
              </a:rPr>
              <a:t> </a:t>
            </a:r>
            <a:r>
              <a:rPr lang="de-DE" sz="3600" b="1" dirty="0" err="1" smtClean="0">
                <a:sym typeface="Wingdings" panose="05000000000000000000" pitchFamily="2" charset="2"/>
              </a:rPr>
              <a:t>evaluate</a:t>
            </a:r>
            <a:r>
              <a:rPr lang="de-DE" sz="3600" b="1" dirty="0" smtClean="0">
                <a:sym typeface="Wingdings" panose="05000000000000000000" pitchFamily="2" charset="2"/>
              </a:rPr>
              <a:t> </a:t>
            </a:r>
            <a:r>
              <a:rPr lang="de-DE" sz="3600" b="1" dirty="0" err="1" smtClean="0">
                <a:sym typeface="Wingdings" panose="05000000000000000000" pitchFamily="2" charset="2"/>
              </a:rPr>
              <a:t>results</a:t>
            </a:r>
            <a:r>
              <a:rPr lang="de-DE" sz="3600" b="1" dirty="0" smtClean="0">
                <a:sym typeface="Wingdings" panose="05000000000000000000" pitchFamily="2" charset="2"/>
              </a:rPr>
              <a:t>: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sz="3200" dirty="0" err="1" smtClean="0">
                <a:sym typeface="Wingdings" panose="05000000000000000000" pitchFamily="2" charset="2"/>
              </a:rPr>
              <a:t>Does</a:t>
            </a:r>
            <a:r>
              <a:rPr lang="de-DE" sz="3200" dirty="0" smtClean="0">
                <a:sym typeface="Wingdings" panose="05000000000000000000" pitchFamily="2" charset="2"/>
              </a:rPr>
              <a:t> </a:t>
            </a:r>
            <a:r>
              <a:rPr lang="de-DE" sz="3200" dirty="0" err="1" smtClean="0">
                <a:sym typeface="Wingdings" panose="05000000000000000000" pitchFamily="2" charset="2"/>
              </a:rPr>
              <a:t>the</a:t>
            </a:r>
            <a:r>
              <a:rPr lang="de-DE" sz="3200" dirty="0" smtClean="0">
                <a:sym typeface="Wingdings" panose="05000000000000000000" pitchFamily="2" charset="2"/>
              </a:rPr>
              <a:t> </a:t>
            </a:r>
            <a:r>
              <a:rPr lang="de-DE" sz="3200" dirty="0" err="1" smtClean="0">
                <a:sym typeface="Wingdings" panose="05000000000000000000" pitchFamily="2" charset="2"/>
              </a:rPr>
              <a:t>data</a:t>
            </a:r>
            <a:r>
              <a:rPr lang="de-DE" sz="3200" dirty="0" smtClean="0">
                <a:sym typeface="Wingdings" panose="05000000000000000000" pitchFamily="2" charset="2"/>
              </a:rPr>
              <a:t> </a:t>
            </a:r>
            <a:r>
              <a:rPr lang="de-DE" sz="3200" dirty="0" err="1" smtClean="0">
                <a:sym typeface="Wingdings" panose="05000000000000000000" pitchFamily="2" charset="2"/>
              </a:rPr>
              <a:t>look</a:t>
            </a:r>
            <a:r>
              <a:rPr lang="de-DE" sz="3200" dirty="0" smtClean="0">
                <a:sym typeface="Wingdings" panose="05000000000000000000" pitchFamily="2" charset="2"/>
              </a:rPr>
              <a:t> </a:t>
            </a:r>
            <a:r>
              <a:rPr lang="de-DE" sz="3200" dirty="0" err="1" smtClean="0">
                <a:sym typeface="Wingdings" panose="05000000000000000000" pitchFamily="2" charset="2"/>
              </a:rPr>
              <a:t>realistic</a:t>
            </a:r>
            <a:r>
              <a:rPr lang="de-DE" sz="3200" dirty="0" smtClean="0">
                <a:sym typeface="Wingdings" panose="05000000000000000000" pitchFamily="2" charset="2"/>
              </a:rPr>
              <a:t>?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sz="3200" dirty="0" err="1" smtClean="0">
                <a:sym typeface="Wingdings" panose="05000000000000000000" pitchFamily="2" charset="2"/>
              </a:rPr>
              <a:t>How</a:t>
            </a:r>
            <a:r>
              <a:rPr lang="de-DE" sz="3200" dirty="0" smtClean="0">
                <a:sym typeface="Wingdings" panose="05000000000000000000" pitchFamily="2" charset="2"/>
              </a:rPr>
              <a:t> do </a:t>
            </a:r>
            <a:r>
              <a:rPr lang="de-DE" sz="3200" dirty="0" err="1" smtClean="0">
                <a:sym typeface="Wingdings" panose="05000000000000000000" pitchFamily="2" charset="2"/>
              </a:rPr>
              <a:t>we</a:t>
            </a:r>
            <a:r>
              <a:rPr lang="de-DE" sz="3200" dirty="0" smtClean="0">
                <a:sym typeface="Wingdings" panose="05000000000000000000" pitchFamily="2" charset="2"/>
              </a:rPr>
              <a:t> </a:t>
            </a:r>
            <a:r>
              <a:rPr lang="de-DE" sz="3200" dirty="0" err="1" smtClean="0">
                <a:sym typeface="Wingdings" panose="05000000000000000000" pitchFamily="2" charset="2"/>
              </a:rPr>
              <a:t>even</a:t>
            </a:r>
            <a:r>
              <a:rPr lang="de-DE" sz="3200" dirty="0" smtClean="0">
                <a:sym typeface="Wingdings" panose="05000000000000000000" pitchFamily="2" charset="2"/>
              </a:rPr>
              <a:t> </a:t>
            </a:r>
            <a:r>
              <a:rPr lang="de-DE" sz="3200" dirty="0" err="1" smtClean="0">
                <a:sym typeface="Wingdings" panose="05000000000000000000" pitchFamily="2" charset="2"/>
              </a:rPr>
              <a:t>evaluate</a:t>
            </a:r>
            <a:r>
              <a:rPr lang="de-DE" sz="3200" dirty="0" smtClean="0">
                <a:sym typeface="Wingdings" panose="05000000000000000000" pitchFamily="2" charset="2"/>
              </a:rPr>
              <a:t> </a:t>
            </a:r>
            <a:r>
              <a:rPr lang="de-DE" sz="3200" dirty="0" err="1" smtClean="0">
                <a:sym typeface="Wingdings" panose="05000000000000000000" pitchFamily="2" charset="2"/>
              </a:rPr>
              <a:t>results</a:t>
            </a:r>
            <a:r>
              <a:rPr lang="de-DE" sz="3200" dirty="0" smtClean="0">
                <a:sym typeface="Wingdings" panose="05000000000000000000" pitchFamily="2" charset="2"/>
              </a:rPr>
              <a:t> </a:t>
            </a:r>
            <a:r>
              <a:rPr lang="de-DE" sz="3200" dirty="0" err="1" smtClean="0">
                <a:sym typeface="Wingdings" panose="05000000000000000000" pitchFamily="2" charset="2"/>
              </a:rPr>
              <a:t>systematically</a:t>
            </a:r>
            <a:r>
              <a:rPr lang="de-DE" sz="3200" dirty="0" smtClean="0">
                <a:sym typeface="Wingdings" panose="05000000000000000000" pitchFamily="2" charset="2"/>
              </a:rPr>
              <a:t>?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sz="3200" dirty="0" smtClean="0">
                <a:sym typeface="Wingdings" panose="05000000000000000000" pitchFamily="2" charset="2"/>
              </a:rPr>
              <a:t>Are </a:t>
            </a:r>
            <a:r>
              <a:rPr lang="de-DE" sz="3200" dirty="0" err="1" smtClean="0">
                <a:sym typeface="Wingdings" panose="05000000000000000000" pitchFamily="2" charset="2"/>
              </a:rPr>
              <a:t>there</a:t>
            </a:r>
            <a:r>
              <a:rPr lang="de-DE" sz="3200" dirty="0" smtClean="0">
                <a:sym typeface="Wingdings" panose="05000000000000000000" pitchFamily="2" charset="2"/>
              </a:rPr>
              <a:t> </a:t>
            </a:r>
            <a:r>
              <a:rPr lang="de-DE" sz="3200" dirty="0" err="1" smtClean="0">
                <a:sym typeface="Wingdings" panose="05000000000000000000" pitchFamily="2" charset="2"/>
              </a:rPr>
              <a:t>any</a:t>
            </a:r>
            <a:r>
              <a:rPr lang="de-DE" sz="3200" dirty="0" smtClean="0">
                <a:sym typeface="Wingdings" panose="05000000000000000000" pitchFamily="2" charset="2"/>
              </a:rPr>
              <a:t> </a:t>
            </a:r>
            <a:r>
              <a:rPr lang="de-DE" sz="3200" dirty="0" err="1" smtClean="0">
                <a:sym typeface="Wingdings" panose="05000000000000000000" pitchFamily="2" charset="2"/>
              </a:rPr>
              <a:t>problem</a:t>
            </a:r>
            <a:r>
              <a:rPr lang="de-DE" sz="3200" dirty="0" smtClean="0">
                <a:sym typeface="Wingdings" panose="05000000000000000000" pitchFamily="2" charset="2"/>
              </a:rPr>
              <a:t>?  </a:t>
            </a:r>
            <a:r>
              <a:rPr lang="de-DE" sz="3200" dirty="0" err="1" smtClean="0">
                <a:sym typeface="Wingdings" panose="05000000000000000000" pitchFamily="2" charset="2"/>
              </a:rPr>
              <a:t>try</a:t>
            </a:r>
            <a:r>
              <a:rPr lang="de-DE" sz="3200" dirty="0" smtClean="0">
                <a:sym typeface="Wingdings" panose="05000000000000000000" pitchFamily="2" charset="2"/>
              </a:rPr>
              <a:t> </a:t>
            </a:r>
            <a:r>
              <a:rPr lang="de-DE" sz="3200" dirty="0" err="1" smtClean="0">
                <a:sym typeface="Wingdings" panose="05000000000000000000" pitchFamily="2" charset="2"/>
              </a:rPr>
              <a:t>to</a:t>
            </a:r>
            <a:r>
              <a:rPr lang="de-DE" sz="3200" dirty="0" smtClean="0">
                <a:sym typeface="Wingdings" panose="05000000000000000000" pitchFamily="2" charset="2"/>
              </a:rPr>
              <a:t> find </a:t>
            </a:r>
            <a:r>
              <a:rPr lang="de-DE" sz="3200" dirty="0" err="1" smtClean="0">
                <a:sym typeface="Wingdings" panose="05000000000000000000" pitchFamily="2" charset="2"/>
              </a:rPr>
              <a:t>and</a:t>
            </a:r>
            <a:r>
              <a:rPr lang="de-DE" sz="3200" dirty="0" smtClean="0">
                <a:sym typeface="Wingdings" panose="05000000000000000000" pitchFamily="2" charset="2"/>
              </a:rPr>
              <a:t> fix </a:t>
            </a:r>
            <a:r>
              <a:rPr lang="de-DE" sz="3200" dirty="0" err="1" smtClean="0">
                <a:sym typeface="Wingdings" panose="05000000000000000000" pitchFamily="2" charset="2"/>
              </a:rPr>
              <a:t>them</a:t>
            </a:r>
            <a:endParaRPr lang="de-DE" sz="3200" dirty="0" smtClean="0">
              <a:sym typeface="Wingdings" panose="05000000000000000000" pitchFamily="2" charset="2"/>
            </a:endParaRP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sz="3200" dirty="0" err="1" smtClean="0">
                <a:sym typeface="Wingdings" panose="05000000000000000000" pitchFamily="2" charset="2"/>
              </a:rPr>
              <a:t>When</a:t>
            </a:r>
            <a:r>
              <a:rPr lang="de-DE" sz="3200" dirty="0" smtClean="0">
                <a:sym typeface="Wingdings" panose="05000000000000000000" pitchFamily="2" charset="2"/>
              </a:rPr>
              <a:t> </a:t>
            </a:r>
            <a:r>
              <a:rPr lang="de-DE" sz="3200" dirty="0" err="1" smtClean="0">
                <a:sym typeface="Wingdings" panose="05000000000000000000" pitchFamily="2" charset="2"/>
              </a:rPr>
              <a:t>is</a:t>
            </a:r>
            <a:r>
              <a:rPr lang="de-DE" sz="3200" dirty="0" smtClean="0">
                <a:sym typeface="Wingdings" panose="05000000000000000000" pitchFamily="2" charset="2"/>
              </a:rPr>
              <a:t> </a:t>
            </a:r>
            <a:r>
              <a:rPr lang="de-DE" sz="3200" dirty="0" err="1" smtClean="0">
                <a:sym typeface="Wingdings" panose="05000000000000000000" pitchFamily="2" charset="2"/>
              </a:rPr>
              <a:t>it</a:t>
            </a:r>
            <a:r>
              <a:rPr lang="de-DE" sz="3200" dirty="0" smtClean="0">
                <a:sym typeface="Wingdings" panose="05000000000000000000" pitchFamily="2" charset="2"/>
              </a:rPr>
              <a:t> </a:t>
            </a:r>
            <a:r>
              <a:rPr lang="de-DE" sz="3200" dirty="0" err="1" smtClean="0">
                <a:sym typeface="Wingdings" panose="05000000000000000000" pitchFamily="2" charset="2"/>
              </a:rPr>
              <a:t>good</a:t>
            </a:r>
            <a:r>
              <a:rPr lang="de-DE" sz="3200" dirty="0" smtClean="0">
                <a:sym typeface="Wingdings" panose="05000000000000000000" pitchFamily="2" charset="2"/>
              </a:rPr>
              <a:t> </a:t>
            </a:r>
            <a:r>
              <a:rPr lang="de-DE" sz="3200" dirty="0" err="1" smtClean="0">
                <a:sym typeface="Wingdings" panose="05000000000000000000" pitchFamily="2" charset="2"/>
              </a:rPr>
              <a:t>enough</a:t>
            </a:r>
            <a:r>
              <a:rPr lang="de-DE" sz="3200" dirty="0" smtClean="0">
                <a:sym typeface="Wingdings" panose="05000000000000000000" pitchFamily="2" charset="2"/>
              </a:rPr>
              <a:t>?  finish </a:t>
            </a:r>
            <a:r>
              <a:rPr lang="de-DE" sz="3200" dirty="0" err="1" smtClean="0">
                <a:sym typeface="Wingdings" panose="05000000000000000000" pitchFamily="2" charset="2"/>
              </a:rPr>
              <a:t>this</a:t>
            </a:r>
            <a:r>
              <a:rPr lang="de-DE" sz="3200" dirty="0" smtClean="0">
                <a:sym typeface="Wingdings" panose="05000000000000000000" pitchFamily="2" charset="2"/>
              </a:rPr>
              <a:t> sub-project!</a:t>
            </a:r>
          </a:p>
          <a:p>
            <a:pPr lvl="1">
              <a:spcAft>
                <a:spcPts val="1200"/>
              </a:spcAft>
            </a:pPr>
            <a:endParaRPr lang="de-DE" sz="3200" dirty="0" smtClean="0">
              <a:sym typeface="Wingdings" panose="05000000000000000000" pitchFamily="2" charset="2"/>
            </a:endParaRPr>
          </a:p>
          <a:p>
            <a:pPr marL="571500" indent="-571500"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de-DE" sz="3600" b="1" dirty="0" err="1" smtClean="0"/>
              <a:t>Regarding</a:t>
            </a:r>
            <a:r>
              <a:rPr lang="de-DE" sz="3600" b="1" dirty="0" smtClean="0"/>
              <a:t> </a:t>
            </a:r>
            <a:r>
              <a:rPr lang="de-DE" sz="3600" b="1" dirty="0" err="1" smtClean="0"/>
              <a:t>the</a:t>
            </a:r>
            <a:r>
              <a:rPr lang="de-DE" sz="3600" b="1" dirty="0" smtClean="0"/>
              <a:t> </a:t>
            </a:r>
            <a:r>
              <a:rPr lang="de-DE" sz="3600" b="1" dirty="0" err="1" smtClean="0"/>
              <a:t>publication</a:t>
            </a:r>
            <a:r>
              <a:rPr lang="de-DE" sz="3600" b="1" dirty="0" smtClean="0"/>
              <a:t>: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sz="3200" dirty="0" err="1" smtClean="0"/>
              <a:t>Where</a:t>
            </a:r>
            <a:r>
              <a:rPr lang="de-DE" sz="3200" dirty="0" smtClean="0"/>
              <a:t> do </a:t>
            </a:r>
            <a:r>
              <a:rPr lang="de-DE" sz="3200" dirty="0" err="1" smtClean="0"/>
              <a:t>we</a:t>
            </a:r>
            <a:r>
              <a:rPr lang="de-DE" sz="3200" dirty="0" smtClean="0"/>
              <a:t> </a:t>
            </a:r>
            <a:r>
              <a:rPr lang="de-DE" sz="3200" dirty="0" err="1" smtClean="0"/>
              <a:t>publish</a:t>
            </a:r>
            <a:r>
              <a:rPr lang="de-DE" sz="3200" dirty="0" smtClean="0"/>
              <a:t>?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sz="3200" dirty="0" err="1" smtClean="0"/>
              <a:t>How</a:t>
            </a:r>
            <a:r>
              <a:rPr lang="de-DE" sz="3200" dirty="0" smtClean="0"/>
              <a:t> do </a:t>
            </a:r>
            <a:r>
              <a:rPr lang="de-DE" sz="3200" dirty="0" err="1" smtClean="0"/>
              <a:t>we</a:t>
            </a:r>
            <a:r>
              <a:rPr lang="de-DE" sz="3200" dirty="0" smtClean="0"/>
              <a:t> </a:t>
            </a:r>
            <a:r>
              <a:rPr lang="de-DE" sz="3200" dirty="0" err="1" smtClean="0"/>
              <a:t>want</a:t>
            </a:r>
            <a:r>
              <a:rPr lang="de-DE" sz="3200" dirty="0" smtClean="0"/>
              <a:t> </a:t>
            </a:r>
            <a:r>
              <a:rPr lang="de-DE" sz="3200" dirty="0" err="1" smtClean="0"/>
              <a:t>to</a:t>
            </a:r>
            <a:r>
              <a:rPr lang="de-DE" sz="3200" dirty="0" smtClean="0"/>
              <a:t> </a:t>
            </a:r>
            <a:r>
              <a:rPr lang="de-DE" sz="3200" dirty="0" err="1" smtClean="0"/>
              <a:t>present</a:t>
            </a:r>
            <a:r>
              <a:rPr lang="de-DE" sz="3200" dirty="0" smtClean="0"/>
              <a:t> </a:t>
            </a:r>
            <a:r>
              <a:rPr lang="de-DE" sz="3200" dirty="0" err="1" smtClean="0"/>
              <a:t>the</a:t>
            </a:r>
            <a:r>
              <a:rPr lang="de-DE" sz="3200" dirty="0" smtClean="0"/>
              <a:t> </a:t>
            </a:r>
            <a:r>
              <a:rPr lang="de-DE" sz="3200" dirty="0" err="1" smtClean="0"/>
              <a:t>models</a:t>
            </a:r>
            <a:r>
              <a:rPr lang="de-DE" sz="3200" dirty="0" smtClean="0"/>
              <a:t> in </a:t>
            </a:r>
            <a:r>
              <a:rPr lang="de-DE" sz="3200" dirty="0" err="1" smtClean="0"/>
              <a:t>the</a:t>
            </a:r>
            <a:r>
              <a:rPr lang="de-DE" sz="3200" dirty="0" smtClean="0"/>
              <a:t> </a:t>
            </a:r>
            <a:r>
              <a:rPr lang="de-DE" sz="3200" dirty="0" err="1" smtClean="0"/>
              <a:t>paper</a:t>
            </a:r>
            <a:r>
              <a:rPr lang="de-DE" sz="3200" dirty="0" smtClean="0"/>
              <a:t>?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sz="3200" dirty="0" smtClean="0"/>
              <a:t>Plots? Summary </a:t>
            </a:r>
            <a:r>
              <a:rPr lang="de-DE" sz="3200" dirty="0" err="1" smtClean="0"/>
              <a:t>statistics</a:t>
            </a:r>
            <a:r>
              <a:rPr lang="de-DE" sz="3200" dirty="0" smtClean="0"/>
              <a:t>?</a:t>
            </a:r>
          </a:p>
          <a:p>
            <a:pPr marL="914400" lvl="1" indent="-4572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de-DE" sz="3200" dirty="0" smtClean="0"/>
              <a:t>Start </a:t>
            </a:r>
            <a:r>
              <a:rPr lang="de-DE" sz="3200" dirty="0" err="1" smtClean="0"/>
              <a:t>writting</a:t>
            </a:r>
            <a:r>
              <a:rPr lang="de-DE" sz="3200" dirty="0"/>
              <a:t>!</a:t>
            </a:r>
            <a:endParaRPr lang="de-DE" sz="3200" dirty="0" smtClean="0"/>
          </a:p>
        </p:txBody>
      </p:sp>
      <p:sp>
        <p:nvSpPr>
          <p:cNvPr id="13" name="Foliennummernplatzhalt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FDFA1-13E1-47F7-AAEB-46EC02612569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1025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 txBox="1">
            <a:spLocks/>
          </p:cNvSpPr>
          <p:nvPr/>
        </p:nvSpPr>
        <p:spPr>
          <a:xfrm>
            <a:off x="295200" y="321840"/>
            <a:ext cx="20809080" cy="985320"/>
          </a:xfrm>
          <a:prstGeom prst="rect">
            <a:avLst/>
          </a:prstGeom>
          <a:noFill/>
          <a:ln w="0">
            <a:noFill/>
          </a:ln>
        </p:spPr>
        <p:txBody>
          <a:bodyPr lIns="71280" tIns="71280" rIns="71280" bIns="7128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lnSpc>
                <a:spcPct val="100000"/>
              </a:lnSpc>
              <a:spcBef>
                <a:spcPts val="1001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5000" spc="-1" dirty="0" smtClean="0">
                <a:solidFill>
                  <a:srgbClr val="000000"/>
                </a:solidFill>
                <a:latin typeface="Impact"/>
                <a:ea typeface="Microsoft YaHei"/>
              </a:rPr>
              <a:t>Takeaway: Aspects for Generating Synthetic Time-Course Data</a:t>
            </a:r>
            <a:endParaRPr lang="de-DE" sz="5000" spc="-1" dirty="0">
              <a:solidFill>
                <a:schemeClr val="dk1"/>
              </a:solidFill>
              <a:latin typeface="Helvetica Neue Medium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1043952" y="1606140"/>
            <a:ext cx="13688363" cy="1163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de-DE" sz="3200" b="1" dirty="0" smtClean="0"/>
              <a:t>At </a:t>
            </a:r>
            <a:r>
              <a:rPr lang="de-DE" sz="3200" b="1" dirty="0" err="1" smtClean="0"/>
              <a:t>which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times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should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data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be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generated</a:t>
            </a:r>
            <a:r>
              <a:rPr lang="de-DE" sz="3200" b="1" dirty="0" smtClean="0"/>
              <a:t>?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de-DE" sz="2800" dirty="0" err="1" smtClean="0"/>
              <a:t>Depends</a:t>
            </a:r>
            <a:r>
              <a:rPr lang="de-DE" sz="2800" dirty="0" smtClean="0"/>
              <a:t> on </a:t>
            </a:r>
            <a:r>
              <a:rPr lang="de-DE" sz="2800" dirty="0" err="1" smtClean="0"/>
              <a:t>the</a:t>
            </a:r>
            <a:r>
              <a:rPr lang="de-DE" sz="2800" dirty="0" smtClean="0"/>
              <a:t> </a:t>
            </a:r>
            <a:r>
              <a:rPr lang="de-DE" sz="2800" dirty="0" err="1" smtClean="0"/>
              <a:t>dynamics</a:t>
            </a:r>
            <a:r>
              <a:rPr lang="de-DE" sz="2800" dirty="0" smtClean="0"/>
              <a:t> </a:t>
            </a:r>
            <a:r>
              <a:rPr lang="de-DE" sz="2800" dirty="0" err="1" smtClean="0"/>
              <a:t>and</a:t>
            </a:r>
            <a:r>
              <a:rPr lang="de-DE" sz="2800" dirty="0" smtClean="0"/>
              <a:t> </a:t>
            </a:r>
            <a:r>
              <a:rPr lang="de-DE" sz="2800" dirty="0" err="1" smtClean="0"/>
              <a:t>your</a:t>
            </a:r>
            <a:r>
              <a:rPr lang="de-DE" sz="2800" dirty="0" smtClean="0"/>
              <a:t> </a:t>
            </a:r>
            <a:r>
              <a:rPr lang="de-DE" sz="2800" dirty="0" err="1" smtClean="0"/>
              <a:t>interest</a:t>
            </a:r>
            <a:r>
              <a:rPr lang="de-DE" sz="2800" dirty="0" smtClean="0"/>
              <a:t>.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de-DE" sz="2800" dirty="0" err="1" smtClean="0"/>
              <a:t>You</a:t>
            </a:r>
            <a:r>
              <a:rPr lang="de-DE" sz="2800" dirty="0" smtClean="0"/>
              <a:t> </a:t>
            </a:r>
            <a:r>
              <a:rPr lang="de-DE" sz="2800" dirty="0" err="1" smtClean="0"/>
              <a:t>have</a:t>
            </a:r>
            <a:r>
              <a:rPr lang="de-DE" sz="2800" dirty="0" smtClean="0"/>
              <a:t> </a:t>
            </a:r>
            <a:r>
              <a:rPr lang="de-DE" sz="2800" dirty="0" err="1" smtClean="0"/>
              <a:t>to</a:t>
            </a:r>
            <a:r>
              <a:rPr lang="de-DE" sz="2800" dirty="0" smtClean="0"/>
              <a:t> </a:t>
            </a:r>
            <a:r>
              <a:rPr lang="de-DE" sz="2800" dirty="0" err="1" smtClean="0"/>
              <a:t>know</a:t>
            </a:r>
            <a:r>
              <a:rPr lang="de-DE" sz="2800" dirty="0" smtClean="0"/>
              <a:t> </a:t>
            </a:r>
            <a:r>
              <a:rPr lang="de-DE" sz="2800" dirty="0" err="1" smtClean="0"/>
              <a:t>what</a:t>
            </a:r>
            <a:r>
              <a:rPr lang="de-DE" sz="2800" dirty="0" smtClean="0"/>
              <a:t> </a:t>
            </a:r>
            <a:r>
              <a:rPr lang="de-DE" sz="2800" dirty="0" err="1" smtClean="0"/>
              <a:t>you</a:t>
            </a:r>
            <a:r>
              <a:rPr lang="de-DE" sz="2800" dirty="0" smtClean="0"/>
              <a:t> </a:t>
            </a:r>
            <a:r>
              <a:rPr lang="de-DE" sz="2800" dirty="0" err="1" smtClean="0"/>
              <a:t>expect</a:t>
            </a:r>
            <a:r>
              <a:rPr lang="de-DE" sz="2800" dirty="0" smtClean="0"/>
              <a:t>.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de-DE" sz="2800" dirty="0" err="1" smtClean="0"/>
              <a:t>Here</a:t>
            </a:r>
            <a:r>
              <a:rPr lang="de-DE" sz="2800" dirty="0" smtClean="0"/>
              <a:t>, </a:t>
            </a:r>
            <a:r>
              <a:rPr lang="de-DE" sz="2800" dirty="0" err="1" smtClean="0"/>
              <a:t>automated</a:t>
            </a:r>
            <a:r>
              <a:rPr lang="de-DE" sz="2800" dirty="0" smtClean="0"/>
              <a:t> </a:t>
            </a:r>
            <a:r>
              <a:rPr lang="de-DE" sz="2800" dirty="0" err="1" smtClean="0"/>
              <a:t>method</a:t>
            </a:r>
            <a:r>
              <a:rPr lang="de-DE" sz="2800" dirty="0" smtClean="0"/>
              <a:t>:</a:t>
            </a:r>
            <a:br>
              <a:rPr lang="de-DE" sz="2800" dirty="0" smtClean="0"/>
            </a:br>
            <a:r>
              <a:rPr lang="de-DE" sz="2800" dirty="0" err="1" smtClean="0"/>
              <a:t>Parameterize</a:t>
            </a:r>
            <a:r>
              <a:rPr lang="de-DE" sz="2800" dirty="0" smtClean="0"/>
              <a:t> </a:t>
            </a:r>
            <a:r>
              <a:rPr lang="de-DE" sz="2800" dirty="0" err="1" smtClean="0"/>
              <a:t>the</a:t>
            </a:r>
            <a:r>
              <a:rPr lang="de-DE" sz="2800" dirty="0" smtClean="0"/>
              <a:t> </a:t>
            </a:r>
            <a:r>
              <a:rPr lang="de-DE" sz="2800" dirty="0" err="1" smtClean="0"/>
              <a:t>dynamics</a:t>
            </a:r>
            <a:r>
              <a:rPr lang="de-DE" sz="2800" dirty="0" smtClean="0"/>
              <a:t>. </a:t>
            </a:r>
            <a:r>
              <a:rPr lang="de-DE" sz="2800" dirty="0" err="1" smtClean="0"/>
              <a:t>Learn</a:t>
            </a:r>
            <a:r>
              <a:rPr lang="de-DE" sz="2800" dirty="0" smtClean="0"/>
              <a:t> </a:t>
            </a:r>
            <a:r>
              <a:rPr lang="de-DE" sz="2800" dirty="0" err="1" smtClean="0"/>
              <a:t>how</a:t>
            </a:r>
            <a:r>
              <a:rPr lang="de-DE" sz="2800" dirty="0" smtClean="0"/>
              <a:t> </a:t>
            </a:r>
            <a:r>
              <a:rPr lang="de-DE" sz="2800" dirty="0" err="1" smtClean="0"/>
              <a:t>params</a:t>
            </a:r>
            <a:r>
              <a:rPr lang="de-DE" sz="2800" dirty="0" smtClean="0"/>
              <a:t> </a:t>
            </a:r>
            <a:r>
              <a:rPr lang="de-DE" sz="2800" dirty="0" err="1" smtClean="0"/>
              <a:t>determine</a:t>
            </a:r>
            <a:r>
              <a:rPr lang="de-DE" sz="2800" dirty="0" smtClean="0"/>
              <a:t> time-points.</a:t>
            </a:r>
          </a:p>
          <a:p>
            <a:pPr lvl="1">
              <a:spcBef>
                <a:spcPts val="1200"/>
              </a:spcBef>
            </a:pPr>
            <a:endParaRPr lang="de-DE" sz="2800" dirty="0" smtClean="0"/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de-DE" sz="3200" b="1" dirty="0" err="1" smtClean="0"/>
              <a:t>How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should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the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noise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be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distributed</a:t>
            </a:r>
            <a:r>
              <a:rPr lang="de-DE" sz="3200" b="1" dirty="0" smtClean="0"/>
              <a:t>?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de-DE" sz="2800" dirty="0" err="1" smtClean="0"/>
              <a:t>Highly</a:t>
            </a:r>
            <a:r>
              <a:rPr lang="de-DE" sz="2800" dirty="0" smtClean="0"/>
              <a:t> </a:t>
            </a:r>
            <a:r>
              <a:rPr lang="de-DE" sz="2800" dirty="0" err="1" smtClean="0"/>
              <a:t>depends</a:t>
            </a:r>
            <a:r>
              <a:rPr lang="de-DE" sz="2800" dirty="0" smtClean="0"/>
              <a:t> on </a:t>
            </a:r>
            <a:r>
              <a:rPr lang="de-DE" sz="2800" dirty="0" err="1" smtClean="0"/>
              <a:t>the</a:t>
            </a:r>
            <a:r>
              <a:rPr lang="de-DE" sz="2800" dirty="0" smtClean="0"/>
              <a:t> </a:t>
            </a:r>
            <a:r>
              <a:rPr lang="de-DE" sz="2800" dirty="0" err="1" smtClean="0"/>
              <a:t>context</a:t>
            </a:r>
            <a:r>
              <a:rPr lang="de-DE" sz="2800" dirty="0"/>
              <a:t>.</a:t>
            </a:r>
            <a:endParaRPr lang="de-DE" sz="2800" dirty="0" smtClean="0"/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de-DE" sz="2800" dirty="0" err="1" smtClean="0"/>
              <a:t>Here</a:t>
            </a:r>
            <a:r>
              <a:rPr lang="de-DE" sz="2800" dirty="0" smtClean="0"/>
              <a:t>, </a:t>
            </a:r>
            <a:r>
              <a:rPr lang="de-DE" sz="2800" dirty="0" err="1" smtClean="0"/>
              <a:t>it</a:t>
            </a:r>
            <a:r>
              <a:rPr lang="de-DE" sz="2800" dirty="0" smtClean="0"/>
              <a:t> was </a:t>
            </a:r>
            <a:r>
              <a:rPr lang="de-DE" sz="2800" dirty="0" err="1" smtClean="0"/>
              <a:t>learned</a:t>
            </a:r>
            <a:r>
              <a:rPr lang="de-DE" sz="2800" dirty="0" smtClean="0"/>
              <a:t> </a:t>
            </a:r>
            <a:r>
              <a:rPr lang="de-DE" sz="2800" dirty="0" err="1" smtClean="0"/>
              <a:t>based</a:t>
            </a:r>
            <a:r>
              <a:rPr lang="de-DE" sz="2800" dirty="0" smtClean="0"/>
              <a:t> on </a:t>
            </a:r>
            <a:r>
              <a:rPr lang="de-DE" sz="2800" dirty="0" err="1" smtClean="0"/>
              <a:t>published</a:t>
            </a:r>
            <a:r>
              <a:rPr lang="de-DE" sz="2800" dirty="0" smtClean="0"/>
              <a:t> </a:t>
            </a:r>
            <a:r>
              <a:rPr lang="de-DE" sz="2800" dirty="0" err="1" smtClean="0"/>
              <a:t>benchmark</a:t>
            </a:r>
            <a:r>
              <a:rPr lang="de-DE" sz="2800" dirty="0" smtClean="0"/>
              <a:t> </a:t>
            </a:r>
            <a:r>
              <a:rPr lang="de-DE" sz="2800" dirty="0" err="1" smtClean="0"/>
              <a:t>problems</a:t>
            </a:r>
            <a:r>
              <a:rPr lang="de-DE" sz="2800" dirty="0" smtClean="0"/>
              <a:t>.</a:t>
            </a:r>
          </a:p>
          <a:p>
            <a:pPr lvl="1">
              <a:spcBef>
                <a:spcPts val="1200"/>
              </a:spcBef>
            </a:pPr>
            <a:endParaRPr lang="de-DE" sz="2800" dirty="0" smtClean="0"/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de-DE" sz="3200" b="1" dirty="0" err="1" smtClean="0"/>
              <a:t>How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is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the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data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structured</a:t>
            </a:r>
            <a:r>
              <a:rPr lang="de-DE" sz="3200" b="1" dirty="0" smtClean="0"/>
              <a:t>?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de-DE" sz="2800" dirty="0" smtClean="0"/>
              <a:t>Do all </a:t>
            </a:r>
            <a:r>
              <a:rPr lang="de-DE" sz="2800" dirty="0" err="1" smtClean="0"/>
              <a:t>data</a:t>
            </a:r>
            <a:r>
              <a:rPr lang="de-DE" sz="2800" dirty="0" smtClean="0"/>
              <a:t> </a:t>
            </a:r>
            <a:r>
              <a:rPr lang="de-DE" sz="2800" dirty="0" err="1" smtClean="0"/>
              <a:t>sets</a:t>
            </a:r>
            <a:r>
              <a:rPr lang="de-DE" sz="2800" dirty="0" smtClean="0"/>
              <a:t> </a:t>
            </a:r>
            <a:r>
              <a:rPr lang="de-DE" sz="2800" dirty="0" err="1" smtClean="0"/>
              <a:t>have</a:t>
            </a:r>
            <a:r>
              <a:rPr lang="de-DE" sz="2800" dirty="0" smtClean="0"/>
              <a:t> </a:t>
            </a:r>
            <a:r>
              <a:rPr lang="de-DE" sz="2800" dirty="0" err="1" smtClean="0"/>
              <a:t>the</a:t>
            </a:r>
            <a:r>
              <a:rPr lang="de-DE" sz="2800" dirty="0" smtClean="0"/>
              <a:t> same </a:t>
            </a:r>
            <a:r>
              <a:rPr lang="de-DE" sz="2800" dirty="0" err="1" smtClean="0"/>
              <a:t>structure</a:t>
            </a:r>
            <a:r>
              <a:rPr lang="de-DE" sz="2800" dirty="0" smtClean="0"/>
              <a:t>?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de-DE" sz="2800" dirty="0" err="1" smtClean="0"/>
              <a:t>Is</a:t>
            </a:r>
            <a:r>
              <a:rPr lang="de-DE" sz="2800" dirty="0" smtClean="0"/>
              <a:t> </a:t>
            </a:r>
            <a:r>
              <a:rPr lang="de-DE" sz="2800" dirty="0" err="1" smtClean="0"/>
              <a:t>there</a:t>
            </a:r>
            <a:r>
              <a:rPr lang="de-DE" sz="2800" dirty="0" smtClean="0"/>
              <a:t> </a:t>
            </a:r>
            <a:r>
              <a:rPr lang="de-DE" sz="2800" dirty="0" err="1" smtClean="0"/>
              <a:t>some</a:t>
            </a:r>
            <a:r>
              <a:rPr lang="de-DE" sz="2800" dirty="0" smtClean="0"/>
              <a:t> </a:t>
            </a:r>
            <a:r>
              <a:rPr lang="de-DE" sz="2800" dirty="0" err="1" smtClean="0"/>
              <a:t>variation</a:t>
            </a:r>
            <a:r>
              <a:rPr lang="de-DE" sz="2800" dirty="0" smtClean="0"/>
              <a:t>? </a:t>
            </a:r>
            <a:r>
              <a:rPr lang="de-DE" sz="2800" dirty="0" err="1" smtClean="0"/>
              <a:t>With</a:t>
            </a:r>
            <a:r>
              <a:rPr lang="de-DE" sz="2800" dirty="0" smtClean="0"/>
              <a:t> </a:t>
            </a:r>
            <a:r>
              <a:rPr lang="de-DE" sz="2800" dirty="0" err="1" smtClean="0"/>
              <a:t>which</a:t>
            </a:r>
            <a:r>
              <a:rPr lang="de-DE" sz="2800" dirty="0" smtClean="0"/>
              <a:t> </a:t>
            </a:r>
            <a:r>
              <a:rPr lang="de-DE" sz="2800" dirty="0" err="1" smtClean="0"/>
              <a:t>pattern</a:t>
            </a:r>
            <a:r>
              <a:rPr lang="de-DE" sz="2800" dirty="0" smtClean="0"/>
              <a:t>?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de-DE" sz="2800" dirty="0" err="1" smtClean="0"/>
              <a:t>Here</a:t>
            </a:r>
            <a:r>
              <a:rPr lang="de-DE" sz="2800" dirty="0" smtClean="0"/>
              <a:t>: </a:t>
            </a:r>
            <a:r>
              <a:rPr lang="de-DE" sz="2800" dirty="0" err="1" smtClean="0"/>
              <a:t>Which</a:t>
            </a:r>
            <a:r>
              <a:rPr lang="de-DE" sz="2800" dirty="0" smtClean="0"/>
              <a:t> observables </a:t>
            </a:r>
            <a:r>
              <a:rPr lang="de-DE" sz="2800" dirty="0" err="1" smtClean="0"/>
              <a:t>are</a:t>
            </a:r>
            <a:r>
              <a:rPr lang="de-DE" sz="2800" dirty="0" smtClean="0"/>
              <a:t> </a:t>
            </a:r>
            <a:r>
              <a:rPr lang="de-DE" sz="2800" dirty="0" err="1" smtClean="0"/>
              <a:t>measured</a:t>
            </a:r>
            <a:r>
              <a:rPr lang="de-DE" sz="2800" dirty="0" smtClean="0"/>
              <a:t> in </a:t>
            </a:r>
            <a:r>
              <a:rPr lang="de-DE" sz="2800" dirty="0" err="1" smtClean="0"/>
              <a:t>which</a:t>
            </a:r>
            <a:r>
              <a:rPr lang="de-DE" sz="2800" dirty="0" smtClean="0"/>
              <a:t> </a:t>
            </a:r>
            <a:r>
              <a:rPr lang="de-DE" sz="2800" dirty="0" err="1" smtClean="0"/>
              <a:t>exp</a:t>
            </a:r>
            <a:r>
              <a:rPr lang="de-DE" sz="2800" dirty="0" smtClean="0"/>
              <a:t>. </a:t>
            </a:r>
            <a:r>
              <a:rPr lang="de-DE" sz="2800" dirty="0" err="1"/>
              <a:t>c</a:t>
            </a:r>
            <a:r>
              <a:rPr lang="de-DE" sz="2800" dirty="0" err="1" smtClean="0"/>
              <a:t>ondition</a:t>
            </a:r>
            <a:r>
              <a:rPr lang="de-DE" sz="2800" dirty="0" smtClean="0"/>
              <a:t>?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de-DE" sz="2800" dirty="0"/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de-DE" sz="3200" b="1" dirty="0" err="1" smtClean="0"/>
              <a:t>For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what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purpose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is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the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data</a:t>
            </a:r>
            <a:r>
              <a:rPr lang="de-DE" sz="3200" b="1" dirty="0" smtClean="0"/>
              <a:t> </a:t>
            </a:r>
            <a:r>
              <a:rPr lang="de-DE" sz="3200" b="1" dirty="0" err="1" smtClean="0"/>
              <a:t>generated</a:t>
            </a:r>
            <a:r>
              <a:rPr lang="de-DE" sz="3200" b="1" dirty="0" smtClean="0"/>
              <a:t>?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de-DE" sz="2800" dirty="0" smtClean="0"/>
              <a:t>This </a:t>
            </a:r>
            <a:r>
              <a:rPr lang="de-DE" sz="2800" dirty="0" err="1" smtClean="0"/>
              <a:t>is</a:t>
            </a:r>
            <a:r>
              <a:rPr lang="de-DE" sz="2800" dirty="0" smtClean="0"/>
              <a:t> </a:t>
            </a:r>
            <a:r>
              <a:rPr lang="de-DE" sz="2800" dirty="0" err="1" smtClean="0"/>
              <a:t>the</a:t>
            </a:r>
            <a:r>
              <a:rPr lang="de-DE" sz="2800" dirty="0" smtClean="0"/>
              <a:t> </a:t>
            </a:r>
            <a:r>
              <a:rPr lang="de-DE" sz="2800" i="1" dirty="0" err="1" smtClean="0"/>
              <a:t>most</a:t>
            </a:r>
            <a:r>
              <a:rPr lang="de-DE" sz="2800" i="1" dirty="0" smtClean="0"/>
              <a:t> </a:t>
            </a:r>
            <a:r>
              <a:rPr lang="de-DE" sz="2800" i="1" dirty="0" err="1" smtClean="0"/>
              <a:t>important</a:t>
            </a:r>
            <a:r>
              <a:rPr lang="de-DE" sz="2800" i="1" dirty="0" smtClean="0"/>
              <a:t> </a:t>
            </a:r>
            <a:r>
              <a:rPr lang="de-DE" sz="2800" dirty="0" err="1" smtClean="0"/>
              <a:t>question</a:t>
            </a:r>
            <a:r>
              <a:rPr lang="de-DE" sz="2800" dirty="0" smtClean="0"/>
              <a:t>.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de-DE" sz="2800" dirty="0" smtClean="0"/>
              <a:t>The </a:t>
            </a:r>
            <a:r>
              <a:rPr lang="de-DE" sz="2800" dirty="0" err="1" smtClean="0"/>
              <a:t>answer</a:t>
            </a:r>
            <a:r>
              <a:rPr lang="de-DE" sz="2800" dirty="0" smtClean="0"/>
              <a:t> </a:t>
            </a:r>
            <a:r>
              <a:rPr lang="de-DE" sz="2800" dirty="0" err="1" smtClean="0"/>
              <a:t>determines</a:t>
            </a:r>
            <a:r>
              <a:rPr lang="de-DE" sz="2800" dirty="0" smtClean="0"/>
              <a:t> </a:t>
            </a:r>
            <a:r>
              <a:rPr lang="de-DE" sz="2800" dirty="0" err="1" smtClean="0"/>
              <a:t>criteria</a:t>
            </a:r>
            <a:r>
              <a:rPr lang="de-DE" sz="2800" dirty="0" smtClean="0"/>
              <a:t> </a:t>
            </a:r>
            <a:r>
              <a:rPr lang="de-DE" sz="2800" dirty="0" err="1" smtClean="0"/>
              <a:t>for</a:t>
            </a:r>
            <a:r>
              <a:rPr lang="de-DE" sz="2800" dirty="0" smtClean="0"/>
              <a:t> </a:t>
            </a:r>
            <a:r>
              <a:rPr lang="de-DE" sz="2800" dirty="0" err="1" smtClean="0"/>
              <a:t>the</a:t>
            </a:r>
            <a:r>
              <a:rPr lang="de-DE" sz="2800" dirty="0" smtClean="0"/>
              <a:t> </a:t>
            </a:r>
            <a:r>
              <a:rPr lang="de-DE" sz="2800" dirty="0" err="1" smtClean="0"/>
              <a:t>synthetic</a:t>
            </a:r>
            <a:r>
              <a:rPr lang="de-DE" sz="2800" dirty="0" smtClean="0"/>
              <a:t> </a:t>
            </a:r>
            <a:r>
              <a:rPr lang="de-DE" sz="2800" dirty="0" err="1" smtClean="0"/>
              <a:t>data</a:t>
            </a:r>
            <a:r>
              <a:rPr lang="de-DE" sz="2800" dirty="0" smtClean="0"/>
              <a:t>.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de-DE" sz="2800" dirty="0" err="1" smtClean="0"/>
              <a:t>Here</a:t>
            </a:r>
            <a:r>
              <a:rPr lang="de-DE" sz="2800" dirty="0" smtClean="0"/>
              <a:t>, </a:t>
            </a:r>
            <a:r>
              <a:rPr lang="de-DE" sz="2800" dirty="0" err="1" smtClean="0"/>
              <a:t>synthetic</a:t>
            </a:r>
            <a:r>
              <a:rPr lang="de-DE" sz="2800" dirty="0" smtClean="0"/>
              <a:t> </a:t>
            </a:r>
            <a:r>
              <a:rPr lang="de-DE" sz="2800" dirty="0" err="1" smtClean="0"/>
              <a:t>problems</a:t>
            </a:r>
            <a:r>
              <a:rPr lang="de-DE" sz="2800" dirty="0" smtClean="0"/>
              <a:t> </a:t>
            </a:r>
            <a:r>
              <a:rPr lang="de-DE" sz="2800" dirty="0" err="1" smtClean="0"/>
              <a:t>should</a:t>
            </a:r>
            <a:r>
              <a:rPr lang="de-DE" sz="2800" dirty="0" smtClean="0"/>
              <a:t> </a:t>
            </a:r>
            <a:r>
              <a:rPr lang="de-DE" sz="2800" dirty="0" err="1" smtClean="0"/>
              <a:t>resemble</a:t>
            </a:r>
            <a:r>
              <a:rPr lang="de-DE" sz="2800" dirty="0" smtClean="0"/>
              <a:t> real </a:t>
            </a:r>
            <a:r>
              <a:rPr lang="de-DE" sz="2800" dirty="0" err="1" smtClean="0"/>
              <a:t>parameter</a:t>
            </a:r>
            <a:r>
              <a:rPr lang="de-DE" sz="2800" dirty="0" smtClean="0"/>
              <a:t> </a:t>
            </a:r>
            <a:r>
              <a:rPr lang="de-DE" sz="2800" dirty="0" err="1" smtClean="0"/>
              <a:t>estimation</a:t>
            </a:r>
            <a:r>
              <a:rPr lang="de-DE" sz="2800" dirty="0" smtClean="0"/>
              <a:t> </a:t>
            </a:r>
            <a:r>
              <a:rPr lang="de-DE" sz="2800" dirty="0" err="1" smtClean="0"/>
              <a:t>problems</a:t>
            </a:r>
            <a:r>
              <a:rPr lang="de-DE" sz="2800" dirty="0" smtClean="0"/>
              <a:t>.</a:t>
            </a:r>
            <a:br>
              <a:rPr lang="de-DE" sz="2800" dirty="0" smtClean="0"/>
            </a:br>
            <a:r>
              <a:rPr lang="de-DE" sz="2800" dirty="0" smtClean="0"/>
              <a:t>This still </a:t>
            </a:r>
            <a:r>
              <a:rPr lang="de-DE" sz="2800" dirty="0" err="1" smtClean="0"/>
              <a:t>has</a:t>
            </a:r>
            <a:r>
              <a:rPr lang="de-DE" sz="2800" dirty="0" smtClean="0"/>
              <a:t> </a:t>
            </a:r>
            <a:r>
              <a:rPr lang="de-DE" sz="2800" dirty="0" err="1" smtClean="0"/>
              <a:t>to</a:t>
            </a:r>
            <a:r>
              <a:rPr lang="de-DE" sz="2800" dirty="0" smtClean="0"/>
              <a:t> </a:t>
            </a:r>
            <a:r>
              <a:rPr lang="de-DE" sz="2800" dirty="0" err="1" smtClean="0"/>
              <a:t>be</a:t>
            </a:r>
            <a:r>
              <a:rPr lang="de-DE" sz="2800" dirty="0" smtClean="0"/>
              <a:t> </a:t>
            </a:r>
            <a:r>
              <a:rPr lang="de-DE" sz="2800" dirty="0" err="1" smtClean="0"/>
              <a:t>validated</a:t>
            </a:r>
            <a:r>
              <a:rPr lang="de-DE" sz="2800" dirty="0" smtClean="0"/>
              <a:t>.</a:t>
            </a:r>
            <a:endParaRPr lang="de-DE" sz="3200" dirty="0" smtClean="0"/>
          </a:p>
        </p:txBody>
      </p:sp>
      <p:sp>
        <p:nvSpPr>
          <p:cNvPr id="13" name="Foliennummernplatzhalt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FDFA1-13E1-47F7-AAEB-46EC02612569}" type="slidenum">
              <a:rPr lang="de-DE" smtClean="0"/>
              <a:t>11</a:t>
            </a:fld>
            <a:endParaRPr lang="de-DE" dirty="0"/>
          </a:p>
        </p:txBody>
      </p:sp>
      <p:grpSp>
        <p:nvGrpSpPr>
          <p:cNvPr id="42" name="Gruppieren 41"/>
          <p:cNvGrpSpPr/>
          <p:nvPr/>
        </p:nvGrpSpPr>
        <p:grpSpPr>
          <a:xfrm>
            <a:off x="13974082" y="1307160"/>
            <a:ext cx="4320000" cy="3600000"/>
            <a:chOff x="13974082" y="1307160"/>
            <a:chExt cx="4320000" cy="3600000"/>
          </a:xfrm>
        </p:grpSpPr>
        <p:grpSp>
          <p:nvGrpSpPr>
            <p:cNvPr id="12" name="Gruppieren 11"/>
            <p:cNvGrpSpPr/>
            <p:nvPr/>
          </p:nvGrpSpPr>
          <p:grpSpPr>
            <a:xfrm>
              <a:off x="13974082" y="1307160"/>
              <a:ext cx="4320000" cy="3600000"/>
              <a:chOff x="15478726" y="5400000"/>
              <a:chExt cx="4320000" cy="3600000"/>
            </a:xfrm>
          </p:grpSpPr>
          <p:pic>
            <p:nvPicPr>
              <p:cNvPr id="14" name="Grafik 13"/>
              <p:cNvPicPr>
                <a:picLocks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478726" y="5400000"/>
                <a:ext cx="4320000" cy="3600000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</p:pic>
          <p:cxnSp>
            <p:nvCxnSpPr>
              <p:cNvPr id="15" name="Gerader Verbinder 14"/>
              <p:cNvCxnSpPr/>
              <p:nvPr/>
            </p:nvCxnSpPr>
            <p:spPr>
              <a:xfrm>
                <a:off x="16228380" y="5724000"/>
                <a:ext cx="0" cy="288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15"/>
              <p:cNvCxnSpPr/>
              <p:nvPr/>
            </p:nvCxnSpPr>
            <p:spPr>
              <a:xfrm>
                <a:off x="16429673" y="5724000"/>
                <a:ext cx="0" cy="288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16"/>
              <p:cNvCxnSpPr/>
              <p:nvPr/>
            </p:nvCxnSpPr>
            <p:spPr>
              <a:xfrm>
                <a:off x="19066193" y="6083635"/>
                <a:ext cx="0" cy="252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/>
              <p:cNvCxnSpPr/>
              <p:nvPr/>
            </p:nvCxnSpPr>
            <p:spPr>
              <a:xfrm>
                <a:off x="16665893" y="6083635"/>
                <a:ext cx="0" cy="252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Gerader Verbinder 18"/>
              <p:cNvCxnSpPr/>
              <p:nvPr/>
            </p:nvCxnSpPr>
            <p:spPr>
              <a:xfrm>
                <a:off x="16963073" y="6083635"/>
                <a:ext cx="0" cy="252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Gerader Verbinder 19"/>
              <p:cNvCxnSpPr/>
              <p:nvPr/>
            </p:nvCxnSpPr>
            <p:spPr>
              <a:xfrm>
                <a:off x="17801273" y="6083635"/>
                <a:ext cx="0" cy="252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r Verbinder 20"/>
              <p:cNvCxnSpPr/>
              <p:nvPr/>
            </p:nvCxnSpPr>
            <p:spPr>
              <a:xfrm>
                <a:off x="17283113" y="6083635"/>
                <a:ext cx="0" cy="252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Gerader Verbinder 21"/>
              <p:cNvCxnSpPr/>
              <p:nvPr/>
            </p:nvCxnSpPr>
            <p:spPr>
              <a:xfrm>
                <a:off x="18418493" y="6083635"/>
                <a:ext cx="0" cy="252000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Textfeld 22"/>
            <p:cNvSpPr txBox="1"/>
            <p:nvPr/>
          </p:nvSpPr>
          <p:spPr>
            <a:xfrm>
              <a:off x="15161249" y="1409764"/>
              <a:ext cx="30315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 err="1" smtClean="0"/>
                <a:t>dynamics</a:t>
              </a:r>
              <a:r>
                <a:rPr lang="de-DE" b="1" dirty="0" smtClean="0"/>
                <a:t> </a:t>
              </a:r>
              <a:r>
                <a:rPr lang="de-DE" b="1" dirty="0" err="1" smtClean="0"/>
                <a:t>and</a:t>
              </a:r>
              <a:r>
                <a:rPr lang="de-DE" b="1" dirty="0" smtClean="0"/>
                <a:t> time-points</a:t>
              </a:r>
              <a:endParaRPr lang="de-DE" b="1" dirty="0"/>
            </a:p>
          </p:txBody>
        </p:sp>
      </p:grpSp>
      <p:grpSp>
        <p:nvGrpSpPr>
          <p:cNvPr id="41" name="Gruppieren 40"/>
          <p:cNvGrpSpPr/>
          <p:nvPr/>
        </p:nvGrpSpPr>
        <p:grpSpPr>
          <a:xfrm>
            <a:off x="13286148" y="5206140"/>
            <a:ext cx="6751320" cy="4599739"/>
            <a:chOff x="13301388" y="5342573"/>
            <a:chExt cx="6751320" cy="4599739"/>
          </a:xfrm>
        </p:grpSpPr>
        <p:grpSp>
          <p:nvGrpSpPr>
            <p:cNvPr id="24" name="Gruppieren 23"/>
            <p:cNvGrpSpPr/>
            <p:nvPr/>
          </p:nvGrpSpPr>
          <p:grpSpPr>
            <a:xfrm>
              <a:off x="13301388" y="5342573"/>
              <a:ext cx="6751320" cy="4599739"/>
              <a:chOff x="-713140" y="1591777"/>
              <a:chExt cx="6751320" cy="4599739"/>
            </a:xfrm>
            <a:solidFill>
              <a:schemeClr val="bg1"/>
            </a:solidFill>
          </p:grpSpPr>
          <p:pic>
            <p:nvPicPr>
              <p:cNvPr id="25" name="Grafik 24"/>
              <p:cNvPicPr>
                <a:picLocks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" t="-2718" r="-2333"/>
              <a:stretch/>
            </p:blipFill>
            <p:spPr>
              <a:xfrm>
                <a:off x="1357270" y="1591777"/>
                <a:ext cx="4680910" cy="3011155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</p:pic>
          <p:sp>
            <p:nvSpPr>
              <p:cNvPr id="26" name="Textfeld 25"/>
              <p:cNvSpPr txBox="1"/>
              <p:nvPr/>
            </p:nvSpPr>
            <p:spPr>
              <a:xfrm>
                <a:off x="4540655" y="1591777"/>
                <a:ext cx="1428596" cy="369332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b="1" dirty="0" smtClean="0"/>
                  <a:t>ODE </a:t>
                </a:r>
                <a:r>
                  <a:rPr lang="de-DE" b="1" dirty="0" err="1" smtClean="0"/>
                  <a:t>model</a:t>
                </a:r>
                <a:endParaRPr lang="de-DE" b="1" dirty="0"/>
              </a:p>
            </p:txBody>
          </p:sp>
          <p:pic>
            <p:nvPicPr>
              <p:cNvPr id="27" name="Grafik 18"/>
              <p:cNvPicPr>
                <a:picLocks noChangeAspect="1"/>
              </p:cNvPicPr>
              <p:nvPr/>
            </p:nvPicPr>
            <p:blipFill rotWithShape="1">
              <a:blip r:embed="rId4"/>
              <a:srcRect l="8006" t="-12527" r="7479" b="12240"/>
              <a:stretch/>
            </p:blipFill>
            <p:spPr>
              <a:xfrm>
                <a:off x="-713140" y="3100537"/>
                <a:ext cx="3515385" cy="3090979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</p:pic>
        </p:grpSp>
        <p:sp>
          <p:nvSpPr>
            <p:cNvPr id="28" name="Rechteck 50"/>
            <p:cNvSpPr/>
            <p:nvPr/>
          </p:nvSpPr>
          <p:spPr>
            <a:xfrm>
              <a:off x="13301388" y="6851333"/>
              <a:ext cx="3515385" cy="34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b="1" spc="-1" dirty="0" smtClean="0">
                  <a:solidFill>
                    <a:srgbClr val="000000"/>
                  </a:solidFill>
                  <a:latin typeface="+mj-lt"/>
                </a:rPr>
                <a:t>observable-condition distr.</a:t>
              </a:r>
              <a:endParaRPr lang="en-US" b="1" strike="noStrike" spc="-1" dirty="0">
                <a:solidFill>
                  <a:srgbClr val="000000"/>
                </a:solidFill>
                <a:latin typeface="+mj-lt"/>
              </a:endParaRPr>
            </a:p>
          </p:txBody>
        </p:sp>
      </p:grpSp>
      <p:grpSp>
        <p:nvGrpSpPr>
          <p:cNvPr id="32" name="Gruppieren 31"/>
          <p:cNvGrpSpPr/>
          <p:nvPr/>
        </p:nvGrpSpPr>
        <p:grpSpPr>
          <a:xfrm>
            <a:off x="16062960" y="10191222"/>
            <a:ext cx="5483315" cy="2030544"/>
            <a:chOff x="12872157" y="9876660"/>
            <a:chExt cx="6793415" cy="2428127"/>
          </a:xfrm>
        </p:grpSpPr>
        <p:sp>
          <p:nvSpPr>
            <p:cNvPr id="33" name="Abgerundetes Rechteck 87"/>
            <p:cNvSpPr/>
            <p:nvPr/>
          </p:nvSpPr>
          <p:spPr>
            <a:xfrm>
              <a:off x="16665190" y="9876660"/>
              <a:ext cx="3000382" cy="2421777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horzOverflow="overflow" lIns="50760" tIns="50760" rIns="50760" bIns="50760" numCol="1" spcCol="38160" anchor="ctr">
              <a:noAutofit/>
            </a:bodyPr>
            <a:lstStyle/>
            <a:p>
              <a:pPr algn="ctr" defTabSz="584280">
                <a:lnSpc>
                  <a:spcPct val="100000"/>
                </a:lnSpc>
                <a:tabLst>
                  <a:tab pos="0" algn="l"/>
                </a:tabLst>
              </a:pPr>
              <a:endParaRPr lang="en-US" b="1" strike="noStrike" spc="-1" dirty="0" smtClean="0">
                <a:solidFill>
                  <a:srgbClr val="FFFFFF"/>
                </a:solidFill>
                <a:latin typeface="Calibri"/>
              </a:endParaRPr>
            </a:p>
            <a:p>
              <a:pPr algn="ctr" defTabSz="584280">
                <a:lnSpc>
                  <a:spcPct val="100000"/>
                </a:lnSpc>
                <a:tabLst>
                  <a:tab pos="0" algn="l"/>
                </a:tabLst>
              </a:pPr>
              <a:endParaRPr lang="en-US" b="1" strike="noStrike" spc="-1" dirty="0">
                <a:solidFill>
                  <a:srgbClr val="FFFFFF"/>
                </a:solidFill>
                <a:latin typeface="Calibri"/>
              </a:endParaRPr>
            </a:p>
            <a:p>
              <a:pPr algn="ctr" defTabSz="584280">
                <a:lnSpc>
                  <a:spcPct val="100000"/>
                </a:lnSpc>
                <a:tabLst>
                  <a:tab pos="0" algn="l"/>
                </a:tabLst>
              </a:pPr>
              <a:endParaRPr lang="de-DE" b="1" spc="-1" dirty="0" smtClean="0">
                <a:solidFill>
                  <a:srgbClr val="FFFFFF"/>
                </a:solidFill>
                <a:latin typeface="Helvetica Neue Medium"/>
                <a:ea typeface="Helvetica Neue Medium"/>
              </a:endParaRPr>
            </a:p>
            <a:p>
              <a:pPr algn="ctr" defTabSz="584280">
                <a:lnSpc>
                  <a:spcPct val="100000"/>
                </a:lnSpc>
                <a:tabLst>
                  <a:tab pos="0" algn="l"/>
                </a:tabLst>
              </a:pPr>
              <a:r>
                <a:rPr lang="de-DE" b="1" spc="-1" dirty="0">
                  <a:solidFill>
                    <a:srgbClr val="FFFFFF"/>
                  </a:solidFill>
                  <a:latin typeface="Helvetica Neue Medium"/>
                  <a:ea typeface="Helvetica Neue Medium"/>
                </a:rPr>
                <a:t>R</a:t>
              </a:r>
              <a:r>
                <a:rPr lang="de-DE" b="1" spc="-1" dirty="0" smtClean="0">
                  <a:solidFill>
                    <a:srgbClr val="FFFFFF"/>
                  </a:solidFill>
                  <a:latin typeface="Helvetica Neue Medium"/>
                  <a:ea typeface="Helvetica Neue Medium"/>
                </a:rPr>
                <a:t>einforcement</a:t>
              </a:r>
              <a:br>
                <a:rPr lang="de-DE" b="1" spc="-1" dirty="0" smtClean="0">
                  <a:solidFill>
                    <a:srgbClr val="FFFFFF"/>
                  </a:solidFill>
                  <a:latin typeface="Helvetica Neue Medium"/>
                  <a:ea typeface="Helvetica Neue Medium"/>
                </a:rPr>
              </a:br>
              <a:r>
                <a:rPr lang="de-DE" b="1" spc="-1" dirty="0">
                  <a:solidFill>
                    <a:srgbClr val="FFFFFF"/>
                  </a:solidFill>
                  <a:latin typeface="Helvetica Neue Medium"/>
                  <a:ea typeface="Helvetica Neue Medium"/>
                </a:rPr>
                <a:t>L</a:t>
              </a:r>
              <a:r>
                <a:rPr lang="de-DE" b="1" spc="-1" dirty="0" smtClean="0">
                  <a:solidFill>
                    <a:srgbClr val="FFFFFF"/>
                  </a:solidFill>
                  <a:latin typeface="Helvetica Neue Medium"/>
                  <a:ea typeface="Helvetica Neue Medium"/>
                </a:rPr>
                <a:t>earning</a:t>
              </a:r>
              <a:r>
                <a:rPr lang="de-DE" b="1" strike="noStrike" spc="-1" dirty="0" smtClean="0">
                  <a:solidFill>
                    <a:srgbClr val="FFFFFF"/>
                  </a:solidFill>
                  <a:latin typeface="Helvetica Neue Medium"/>
                  <a:ea typeface="Helvetica Neue Medium"/>
                </a:rPr>
                <a:t> Agent</a:t>
              </a:r>
              <a:endParaRPr lang="en-US" b="1" strike="noStrike" spc="-1" dirty="0">
                <a:solidFill>
                  <a:srgbClr val="FFFFFF"/>
                </a:solidFill>
                <a:latin typeface="Calibri"/>
              </a:endParaRPr>
            </a:p>
          </p:txBody>
        </p:sp>
        <p:pic>
          <p:nvPicPr>
            <p:cNvPr id="34" name="Grafik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02459" y="9897011"/>
              <a:ext cx="1325843" cy="1355615"/>
            </a:xfrm>
            <a:prstGeom prst="rect">
              <a:avLst/>
            </a:prstGeom>
          </p:spPr>
        </p:pic>
        <p:grpSp>
          <p:nvGrpSpPr>
            <p:cNvPr id="35" name="Gruppieren 34"/>
            <p:cNvGrpSpPr/>
            <p:nvPr/>
          </p:nvGrpSpPr>
          <p:grpSpPr>
            <a:xfrm>
              <a:off x="12872157" y="9876661"/>
              <a:ext cx="2624178" cy="2421776"/>
              <a:chOff x="17264591" y="8794918"/>
              <a:chExt cx="3637980" cy="4127135"/>
            </a:xfrm>
          </p:grpSpPr>
          <p:sp>
            <p:nvSpPr>
              <p:cNvPr id="38" name="Rechteck 97"/>
              <p:cNvSpPr/>
              <p:nvPr/>
            </p:nvSpPr>
            <p:spPr>
              <a:xfrm>
                <a:off x="17264591" y="8794918"/>
                <a:ext cx="3637980" cy="4127135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horzOverflow="overflow" lIns="180000" tIns="72000" rIns="180000" bIns="72000" numCol="1" spcCol="38160" anchor="t">
                <a:noAutofit/>
              </a:bodyPr>
              <a:lstStyle/>
              <a:p>
                <a:pPr algn="ctr" defTabSz="584280">
                  <a:lnSpc>
                    <a:spcPct val="100000"/>
                  </a:lnSpc>
                  <a:tabLst>
                    <a:tab pos="0" algn="l"/>
                  </a:tabLst>
                </a:pPr>
                <a:r>
                  <a:rPr lang="en-US" b="1" spc="-1" dirty="0" smtClean="0">
                    <a:solidFill>
                      <a:srgbClr val="000000"/>
                    </a:solidFill>
                    <a:latin typeface="+mj-lt"/>
                  </a:rPr>
                  <a:t>Parameter</a:t>
                </a:r>
                <a:br>
                  <a:rPr lang="en-US" b="1" spc="-1" dirty="0" smtClean="0">
                    <a:solidFill>
                      <a:srgbClr val="000000"/>
                    </a:solidFill>
                    <a:latin typeface="+mj-lt"/>
                  </a:rPr>
                </a:br>
                <a:r>
                  <a:rPr lang="en-US" b="1" spc="-1" dirty="0" smtClean="0">
                    <a:solidFill>
                      <a:srgbClr val="000000"/>
                    </a:solidFill>
                    <a:latin typeface="+mj-lt"/>
                  </a:rPr>
                  <a:t>Estimation</a:t>
                </a:r>
                <a:endParaRPr lang="en-US" b="1" spc="-1" dirty="0">
                  <a:solidFill>
                    <a:srgbClr val="000000"/>
                  </a:solidFill>
                  <a:latin typeface="+mj-lt"/>
                </a:endParaRPr>
              </a:p>
            </p:txBody>
          </p:sp>
          <p:pic>
            <p:nvPicPr>
              <p:cNvPr id="39" name="Grafik 93"/>
              <p:cNvPicPr/>
              <p:nvPr/>
            </p:nvPicPr>
            <p:blipFill rotWithShape="1">
              <a:blip r:embed="rId6"/>
              <a:srcRect l="16006" t="3059" r="2664" b="2991"/>
              <a:stretch/>
            </p:blipFill>
            <p:spPr>
              <a:xfrm rot="10800000">
                <a:off x="17487333" y="10290497"/>
                <a:ext cx="3157688" cy="2454015"/>
              </a:xfrm>
              <a:prstGeom prst="rect">
                <a:avLst/>
              </a:prstGeom>
              <a:ln w="0">
                <a:solidFill>
                  <a:schemeClr val="tx1"/>
                </a:solidFill>
              </a:ln>
            </p:spPr>
          </p:pic>
        </p:grpSp>
        <p:cxnSp>
          <p:nvCxnSpPr>
            <p:cNvPr id="36" name="Gewinkelter Verbinder 35"/>
            <p:cNvCxnSpPr>
              <a:stCxn id="34" idx="0"/>
              <a:endCxn id="38" idx="0"/>
            </p:cNvCxnSpPr>
            <p:nvPr/>
          </p:nvCxnSpPr>
          <p:spPr>
            <a:xfrm rot="16200000" flipV="1">
              <a:off x="16164639" y="7896268"/>
              <a:ext cx="20350" cy="3981135"/>
            </a:xfrm>
            <a:prstGeom prst="bentConnector3">
              <a:avLst>
                <a:gd name="adj1" fmla="val 2544309"/>
              </a:avLst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winkelter Verbinder 36"/>
            <p:cNvCxnSpPr>
              <a:stCxn id="38" idx="2"/>
              <a:endCxn id="33" idx="2"/>
            </p:cNvCxnSpPr>
            <p:nvPr/>
          </p:nvCxnSpPr>
          <p:spPr>
            <a:xfrm rot="16200000" flipH="1">
              <a:off x="16174813" y="10307869"/>
              <a:ext cx="12700" cy="3981135"/>
            </a:xfrm>
            <a:prstGeom prst="bentConnector3">
              <a:avLst>
                <a:gd name="adj1" fmla="val 4757348"/>
              </a:avLst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6009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hteck 117"/>
          <p:cNvSpPr/>
          <p:nvPr/>
        </p:nvSpPr>
        <p:spPr>
          <a:xfrm>
            <a:off x="13264812" y="5871659"/>
            <a:ext cx="1910373" cy="10757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de-DE" sz="3200" b="1" strike="noStrike" spc="-1" dirty="0" err="1" smtClean="0">
                <a:solidFill>
                  <a:schemeClr val="dk1"/>
                </a:solidFill>
                <a:latin typeface="Helvetica Neue Medium"/>
                <a:ea typeface="Helvetica Neue Medium"/>
              </a:rPr>
              <a:t>Meta</a:t>
            </a:r>
            <a:r>
              <a:rPr lang="de-DE" sz="3200" b="1" spc="-1" dirty="0">
                <a:solidFill>
                  <a:schemeClr val="dk1"/>
                </a:solidFill>
                <a:latin typeface="Helvetica Neue Medium"/>
                <a:ea typeface="Helvetica Neue Medium"/>
              </a:rPr>
              <a:t/>
            </a:r>
            <a:br>
              <a:rPr lang="de-DE" sz="3200" b="1" spc="-1" dirty="0">
                <a:solidFill>
                  <a:schemeClr val="dk1"/>
                </a:solidFill>
                <a:latin typeface="Helvetica Neue Medium"/>
                <a:ea typeface="Helvetica Neue Medium"/>
              </a:rPr>
            </a:br>
            <a:r>
              <a:rPr lang="de-DE" sz="3200" b="1" spc="-1" dirty="0">
                <a:solidFill>
                  <a:schemeClr val="dk1"/>
                </a:solidFill>
                <a:latin typeface="Helvetica Neue Medium"/>
                <a:ea typeface="Helvetica Neue Medium"/>
              </a:rPr>
              <a:t>L</a:t>
            </a:r>
            <a:r>
              <a:rPr lang="de-DE" sz="3200" b="1" strike="noStrike" spc="-1" dirty="0" smtClean="0">
                <a:solidFill>
                  <a:schemeClr val="dk1"/>
                </a:solidFill>
                <a:latin typeface="Helvetica Neue Medium"/>
                <a:ea typeface="Helvetica Neue Medium"/>
              </a:rPr>
              <a:t>earning</a:t>
            </a:r>
            <a:endParaRPr lang="en-US" sz="3200" b="1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Rechteck 119"/>
          <p:cNvSpPr/>
          <p:nvPr/>
        </p:nvSpPr>
        <p:spPr>
          <a:xfrm>
            <a:off x="7248992" y="10534937"/>
            <a:ext cx="1698776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2800" b="1" spc="-1" dirty="0" smtClean="0">
                <a:solidFill>
                  <a:schemeClr val="dk1"/>
                </a:solidFill>
                <a:latin typeface="Helvetica Neue Medium"/>
              </a:rPr>
              <a:t>Learning</a:t>
            </a:r>
            <a:endParaRPr lang="en-US" sz="2800" b="1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Rechteck 134"/>
          <p:cNvSpPr/>
          <p:nvPr/>
        </p:nvSpPr>
        <p:spPr>
          <a:xfrm>
            <a:off x="4711172" y="2683138"/>
            <a:ext cx="6031949" cy="13835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de-DE" sz="2800" b="1" spc="-1" dirty="0" smtClean="0">
                <a:solidFill>
                  <a:schemeClr val="dk1"/>
                </a:solidFill>
                <a:latin typeface="Helvetica Neue Medium"/>
                <a:ea typeface="Helvetica Neue Medium"/>
              </a:rPr>
              <a:t>D</a:t>
            </a:r>
            <a:r>
              <a:rPr lang="de-DE" sz="2800" b="1" strike="noStrike" spc="-1" dirty="0" smtClean="0">
                <a:solidFill>
                  <a:schemeClr val="dk1"/>
                </a:solidFill>
                <a:latin typeface="Helvetica Neue Medium"/>
                <a:ea typeface="Helvetica Neue Medium"/>
              </a:rPr>
              <a:t>ynamic Hyperparameter </a:t>
            </a:r>
            <a:r>
              <a:rPr lang="de-DE" sz="2800" b="1" spc="-1" dirty="0">
                <a:solidFill>
                  <a:schemeClr val="dk1"/>
                </a:solidFill>
                <a:latin typeface="Helvetica Neue Medium"/>
                <a:ea typeface="Helvetica Neue Medium"/>
              </a:rPr>
              <a:t>C</a:t>
            </a:r>
            <a:r>
              <a:rPr lang="de-DE" sz="2800" b="1" strike="noStrike" spc="-1" dirty="0" smtClean="0">
                <a:solidFill>
                  <a:schemeClr val="dk1"/>
                </a:solidFill>
                <a:latin typeface="Helvetica Neue Medium"/>
                <a:ea typeface="Helvetica Neue Medium"/>
              </a:rPr>
              <a:t>ontrol:</a:t>
            </a: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2800" spc="-1" dirty="0" err="1" smtClean="0">
                <a:solidFill>
                  <a:schemeClr val="dk1"/>
                </a:solidFill>
                <a:latin typeface="Helvetica Neue Medium"/>
              </a:rPr>
              <a:t>optimization</a:t>
            </a:r>
            <a:r>
              <a:rPr lang="de-DE" sz="2800" spc="-1" dirty="0" smtClean="0">
                <a:solidFill>
                  <a:schemeClr val="dk1"/>
                </a:solidFill>
                <a:latin typeface="Helvetica Neue Medium"/>
              </a:rPr>
              <a:t> </a:t>
            </a:r>
            <a:r>
              <a:rPr lang="de-DE" sz="2800" spc="-1" dirty="0" err="1" smtClean="0">
                <a:solidFill>
                  <a:schemeClr val="dk1"/>
                </a:solidFill>
                <a:latin typeface="Helvetica Neue Medium"/>
              </a:rPr>
              <a:t>algorithm</a:t>
            </a:r>
            <a:endParaRPr lang="de-DE" sz="2800" spc="-1" dirty="0" smtClean="0">
              <a:solidFill>
                <a:schemeClr val="dk1"/>
              </a:solidFill>
              <a:latin typeface="Helvetica Neue Medium"/>
            </a:endParaRPr>
          </a:p>
          <a:p>
            <a:pPr marL="342900" indent="-342900" defTabSz="9144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de-DE" sz="2800" b="0" strike="noStrike" spc="-1" dirty="0" smtClean="0">
                <a:solidFill>
                  <a:schemeClr val="dk1"/>
                </a:solidFill>
                <a:latin typeface="Helvetica Neue Medium"/>
              </a:rPr>
              <a:t>ODE </a:t>
            </a:r>
            <a:r>
              <a:rPr lang="de-DE" sz="2800" b="0" strike="noStrike" spc="-1" dirty="0" err="1" smtClean="0">
                <a:solidFill>
                  <a:schemeClr val="dk1"/>
                </a:solidFill>
                <a:latin typeface="Helvetica Neue Medium"/>
              </a:rPr>
              <a:t>integration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5" name="Gruppieren 14"/>
          <p:cNvGrpSpPr/>
          <p:nvPr/>
        </p:nvGrpSpPr>
        <p:grpSpPr>
          <a:xfrm>
            <a:off x="9000000" y="4866094"/>
            <a:ext cx="3600000" cy="5040000"/>
            <a:chOff x="9372575" y="3807815"/>
            <a:chExt cx="3489340" cy="4777793"/>
          </a:xfrm>
        </p:grpSpPr>
        <p:sp>
          <p:nvSpPr>
            <p:cNvPr id="83" name="Abgerundetes Rechteck 87"/>
            <p:cNvSpPr/>
            <p:nvPr/>
          </p:nvSpPr>
          <p:spPr>
            <a:xfrm>
              <a:off x="9372575" y="3807815"/>
              <a:ext cx="3489340" cy="4777793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horzOverflow="overflow" lIns="50760" tIns="50760" rIns="50760" bIns="50760" numCol="1" spcCol="38160" anchor="ctr">
              <a:noAutofit/>
            </a:bodyPr>
            <a:lstStyle/>
            <a:p>
              <a:pPr algn="ctr" defTabSz="584280">
                <a:lnSpc>
                  <a:spcPct val="100000"/>
                </a:lnSpc>
                <a:tabLst>
                  <a:tab pos="0" algn="l"/>
                </a:tabLst>
              </a:pPr>
              <a:endParaRPr lang="en-US" sz="2800" b="1" strike="noStrike" spc="-1" dirty="0" smtClean="0">
                <a:solidFill>
                  <a:srgbClr val="FFFFFF"/>
                </a:solidFill>
                <a:latin typeface="Calibri"/>
              </a:endParaRPr>
            </a:p>
            <a:p>
              <a:pPr algn="ctr" defTabSz="584280">
                <a:lnSpc>
                  <a:spcPct val="100000"/>
                </a:lnSpc>
                <a:tabLst>
                  <a:tab pos="0" algn="l"/>
                </a:tabLst>
              </a:pPr>
              <a:endParaRPr lang="en-US" sz="2800" b="1" strike="noStrike" spc="-1" dirty="0">
                <a:solidFill>
                  <a:srgbClr val="FFFFFF"/>
                </a:solidFill>
                <a:latin typeface="Calibri"/>
              </a:endParaRPr>
            </a:p>
            <a:p>
              <a:pPr algn="ctr" defTabSz="584280">
                <a:lnSpc>
                  <a:spcPct val="100000"/>
                </a:lnSpc>
                <a:tabLst>
                  <a:tab pos="0" algn="l"/>
                </a:tabLst>
              </a:pPr>
              <a:endParaRPr lang="de-DE" sz="2800" b="1" spc="-1" dirty="0" smtClean="0">
                <a:solidFill>
                  <a:srgbClr val="FFFFFF"/>
                </a:solidFill>
                <a:latin typeface="Helvetica Neue Medium"/>
                <a:ea typeface="Helvetica Neue Medium"/>
              </a:endParaRPr>
            </a:p>
            <a:p>
              <a:pPr algn="ctr" defTabSz="584280">
                <a:lnSpc>
                  <a:spcPct val="100000"/>
                </a:lnSpc>
                <a:tabLst>
                  <a:tab pos="0" algn="l"/>
                </a:tabLst>
              </a:pPr>
              <a:r>
                <a:rPr lang="de-DE" sz="2800" b="1" spc="-1" dirty="0">
                  <a:solidFill>
                    <a:srgbClr val="FFFFFF"/>
                  </a:solidFill>
                  <a:latin typeface="Helvetica Neue Medium"/>
                  <a:ea typeface="Helvetica Neue Medium"/>
                </a:rPr>
                <a:t>R</a:t>
              </a:r>
              <a:r>
                <a:rPr lang="de-DE" sz="2800" b="1" spc="-1" dirty="0" smtClean="0">
                  <a:solidFill>
                    <a:srgbClr val="FFFFFF"/>
                  </a:solidFill>
                  <a:latin typeface="Helvetica Neue Medium"/>
                  <a:ea typeface="Helvetica Neue Medium"/>
                </a:rPr>
                <a:t>einforcement</a:t>
              </a:r>
              <a:br>
                <a:rPr lang="de-DE" sz="2800" b="1" spc="-1" dirty="0" smtClean="0">
                  <a:solidFill>
                    <a:srgbClr val="FFFFFF"/>
                  </a:solidFill>
                  <a:latin typeface="Helvetica Neue Medium"/>
                  <a:ea typeface="Helvetica Neue Medium"/>
                </a:rPr>
              </a:br>
              <a:r>
                <a:rPr lang="de-DE" sz="2800" b="1" spc="-1" dirty="0">
                  <a:solidFill>
                    <a:srgbClr val="FFFFFF"/>
                  </a:solidFill>
                  <a:latin typeface="Helvetica Neue Medium"/>
                  <a:ea typeface="Helvetica Neue Medium"/>
                </a:rPr>
                <a:t>L</a:t>
              </a:r>
              <a:r>
                <a:rPr lang="de-DE" sz="2800" b="1" spc="-1" dirty="0" smtClean="0">
                  <a:solidFill>
                    <a:srgbClr val="FFFFFF"/>
                  </a:solidFill>
                  <a:latin typeface="Helvetica Neue Medium"/>
                  <a:ea typeface="Helvetica Neue Medium"/>
                </a:rPr>
                <a:t>earning</a:t>
              </a:r>
              <a:r>
                <a:rPr lang="de-DE" sz="2800" b="1" strike="noStrike" spc="-1" dirty="0" smtClean="0">
                  <a:solidFill>
                    <a:srgbClr val="FFFFFF"/>
                  </a:solidFill>
                  <a:latin typeface="Helvetica Neue Medium"/>
                  <a:ea typeface="Helvetica Neue Medium"/>
                </a:rPr>
                <a:t> Agent</a:t>
              </a:r>
              <a:endParaRPr lang="en-US" sz="2800" b="1" strike="noStrike" spc="-1" dirty="0">
                <a:solidFill>
                  <a:srgbClr val="FFFFFF"/>
                </a:solidFill>
                <a:latin typeface="Calibri"/>
              </a:endParaRPr>
            </a:p>
          </p:txBody>
        </p:sp>
        <p:pic>
          <p:nvPicPr>
            <p:cNvPr id="10" name="Grafik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64067" y="4583472"/>
              <a:ext cx="1706354" cy="1706355"/>
            </a:xfrm>
            <a:prstGeom prst="rect">
              <a:avLst/>
            </a:prstGeom>
          </p:spPr>
        </p:pic>
      </p:grpSp>
      <p:sp>
        <p:nvSpPr>
          <p:cNvPr id="69" name="PlaceHolder 1"/>
          <p:cNvSpPr>
            <a:spLocks noGrp="1"/>
          </p:cNvSpPr>
          <p:nvPr>
            <p:ph/>
          </p:nvPr>
        </p:nvSpPr>
        <p:spPr>
          <a:xfrm>
            <a:off x="295200" y="321840"/>
            <a:ext cx="15606360" cy="986760"/>
          </a:xfrm>
          <a:prstGeom prst="rect">
            <a:avLst/>
          </a:prstGeom>
          <a:noFill/>
          <a:ln w="12600">
            <a:noFill/>
          </a:ln>
        </p:spPr>
        <p:txBody>
          <a:bodyPr lIns="71280" tIns="71280" rIns="71280" bIns="71280" anchor="t">
            <a:noAutofit/>
          </a:bodyPr>
          <a:lstStyle/>
          <a:p>
            <a:pPr indent="0" defTabSz="82152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spc="-1" dirty="0" smtClean="0">
                <a:solidFill>
                  <a:srgbClr val="000000"/>
                </a:solidFill>
                <a:latin typeface="Impact"/>
              </a:rPr>
              <a:t>Why we need synthetic data?</a:t>
            </a:r>
            <a:endParaRPr lang="de-DE" sz="5000" b="0" strike="noStrike" spc="-1" dirty="0">
              <a:solidFill>
                <a:schemeClr val="dk1"/>
              </a:solidFill>
              <a:latin typeface="Helvetica Neue Medium"/>
            </a:endParaRPr>
          </a:p>
        </p:txBody>
      </p:sp>
      <p:grpSp>
        <p:nvGrpSpPr>
          <p:cNvPr id="18" name="Gruppieren 17"/>
          <p:cNvGrpSpPr/>
          <p:nvPr/>
        </p:nvGrpSpPr>
        <p:grpSpPr>
          <a:xfrm>
            <a:off x="2160000" y="4866094"/>
            <a:ext cx="5040000" cy="5040000"/>
            <a:chOff x="2481942" y="3723863"/>
            <a:chExt cx="5040000" cy="5040000"/>
          </a:xfrm>
        </p:grpSpPr>
        <p:sp>
          <p:nvSpPr>
            <p:cNvPr id="93" name="Rechteck 97"/>
            <p:cNvSpPr/>
            <p:nvPr/>
          </p:nvSpPr>
          <p:spPr>
            <a:xfrm>
              <a:off x="2481942" y="3723863"/>
              <a:ext cx="5040000" cy="5040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horzOverflow="overflow" lIns="50760" tIns="50760" rIns="50760" bIns="50760" numCol="1" spcCol="38160" anchor="t">
              <a:noAutofit/>
            </a:bodyPr>
            <a:lstStyle/>
            <a:p>
              <a:pPr algn="ctr" defTabSz="584280">
                <a:lnSpc>
                  <a:spcPct val="100000"/>
                </a:lnSpc>
                <a:tabLst>
                  <a:tab pos="0" algn="l"/>
                </a:tabLst>
              </a:pPr>
              <a:r>
                <a:rPr lang="de-DE" sz="2800" b="1" spc="-1" dirty="0">
                  <a:solidFill>
                    <a:srgbClr val="000000"/>
                  </a:solidFill>
                </a:rPr>
                <a:t>Parameter </a:t>
              </a:r>
              <a:r>
                <a:rPr lang="de-DE" sz="2800" b="1" spc="-1" dirty="0" err="1" smtClean="0">
                  <a:solidFill>
                    <a:srgbClr val="000000"/>
                  </a:solidFill>
                </a:rPr>
                <a:t>Estimation</a:t>
              </a:r>
              <a:r>
                <a:rPr lang="de-DE" sz="2800" b="1" spc="-1" dirty="0">
                  <a:solidFill>
                    <a:srgbClr val="000000"/>
                  </a:solidFill>
                </a:rPr>
                <a:t/>
              </a:r>
              <a:br>
                <a:rPr lang="de-DE" sz="2800" b="1" spc="-1" dirty="0">
                  <a:solidFill>
                    <a:srgbClr val="000000"/>
                  </a:solidFill>
                </a:rPr>
              </a:br>
              <a:r>
                <a:rPr lang="de-DE" sz="2800" b="1" spc="-1" dirty="0">
                  <a:solidFill>
                    <a:srgbClr val="000000"/>
                  </a:solidFill>
                </a:rPr>
                <a:t>in ODE </a:t>
              </a:r>
              <a:r>
                <a:rPr lang="de-DE" sz="2800" b="1" spc="-1" dirty="0" smtClean="0">
                  <a:solidFill>
                    <a:srgbClr val="000000"/>
                  </a:solidFill>
                </a:rPr>
                <a:t>Models</a:t>
              </a:r>
              <a:endParaRPr lang="en-US" sz="2800" b="1" spc="-1" dirty="0">
                <a:solidFill>
                  <a:srgbClr val="000000"/>
                </a:solidFill>
                <a:latin typeface="Calibri"/>
              </a:endParaRPr>
            </a:p>
          </p:txBody>
        </p:sp>
        <p:grpSp>
          <p:nvGrpSpPr>
            <p:cNvPr id="14" name="Gruppieren 13"/>
            <p:cNvGrpSpPr/>
            <p:nvPr/>
          </p:nvGrpSpPr>
          <p:grpSpPr>
            <a:xfrm>
              <a:off x="2939575" y="4762256"/>
              <a:ext cx="3878704" cy="3510536"/>
              <a:chOff x="2913896" y="4877148"/>
              <a:chExt cx="3878704" cy="351053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Textfeld 109"/>
                  <p:cNvSpPr/>
                  <p:nvPr/>
                </p:nvSpPr>
                <p:spPr>
                  <a:xfrm>
                    <a:off x="4263635" y="7989029"/>
                    <a:ext cx="1635810" cy="398655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 defTabSz="914400">
                      <a:lnSpc>
                        <a:spcPct val="100000"/>
                      </a:lnSpc>
                    </a:pPr>
                    <a:r>
                      <a:rPr lang="de-DE" sz="2000" b="0" strike="noStrike" spc="-1" dirty="0" smtClean="0">
                        <a:solidFill>
                          <a:schemeClr val="dk1"/>
                        </a:solidFill>
                        <a:latin typeface="Helvetica Neue Medium"/>
                        <a:ea typeface="Helvetica Neue Medium"/>
                      </a:rPr>
                      <a:t>parameter</a:t>
                    </a:r>
                    <a:r>
                      <a:rPr lang="de-DE" sz="2000" b="0" strike="noStrike" spc="-1" dirty="0">
                        <a:solidFill>
                          <a:schemeClr val="dk1"/>
                        </a:solidFill>
                        <a:latin typeface="Helvetica Neue Medium"/>
                        <a:ea typeface="Helvetica Neue Medium"/>
                      </a:rPr>
                      <a:t>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de-DE" sz="2000" b="0" i="1" strike="noStrike" spc="-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Helvetica Neue Medium"/>
                              </a:rPr>
                            </m:ctrlPr>
                          </m:sSubPr>
                          <m:e>
                            <m:r>
                              <a:rPr lang="de-DE" sz="2000" b="0" i="1" strike="noStrike" spc="-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Helvetica Neue Medium"/>
                              </a:rPr>
                              <m:t>𝜃</m:t>
                            </m:r>
                          </m:e>
                          <m:sub>
                            <m:r>
                              <a:rPr lang="de-DE" sz="2000" b="0" i="1" strike="noStrike" spc="-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Helvetica Neue Medium"/>
                              </a:rPr>
                              <m:t>𝑖</m:t>
                            </m:r>
                          </m:sub>
                        </m:sSub>
                      </m:oMath>
                    </a14:m>
                    <a:endParaRPr lang="en-US" sz="2000" b="0" strike="noStrike" spc="-1" dirty="0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mc:Choice>
            <mc:Fallback xmlns="">
              <p:sp>
                <p:nvSpPr>
                  <p:cNvPr id="105" name="Textfeld 10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63635" y="7989029"/>
                    <a:ext cx="1635810" cy="39865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4104" t="-10769" b="-26154"/>
                    </a:stretch>
                  </a:blipFill>
                  <a:ln w="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Textfeld 111"/>
                  <p:cNvSpPr/>
                  <p:nvPr/>
                </p:nvSpPr>
                <p:spPr>
                  <a:xfrm rot="16200000">
                    <a:off x="2272652" y="6225598"/>
                    <a:ext cx="1705829" cy="423342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90000" tIns="45000" rIns="90000" bIns="45000" anchor="t">
                    <a:spAutoFit/>
                  </a:bodyPr>
                  <a:lstStyle/>
                  <a:p>
                    <a:pPr defTabSz="914400">
                      <a:lnSpc>
                        <a:spcPct val="100000"/>
                      </a:lnSpc>
                    </a:pPr>
                    <a:r>
                      <a:rPr lang="de-DE" sz="2000" b="0" strike="noStrike" spc="-1" dirty="0" smtClean="0">
                        <a:solidFill>
                          <a:schemeClr val="dk1"/>
                        </a:solidFill>
                        <a:latin typeface="Helvetica Neue Medium"/>
                        <a:ea typeface="Helvetica Neue Medium"/>
                      </a:rPr>
                      <a:t>parameter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de-DE" sz="2000" b="0" i="1" strike="noStrike" spc="-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Helvetica Neue Medium"/>
                              </a:rPr>
                            </m:ctrlPr>
                          </m:sSubPr>
                          <m:e>
                            <m:r>
                              <a:rPr lang="de-DE" sz="2000" b="0" i="1" strike="noStrike" spc="-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Helvetica Neue Medium"/>
                              </a:rPr>
                              <m:t>𝜃</m:t>
                            </m:r>
                          </m:e>
                          <m:sub>
                            <m:r>
                              <a:rPr lang="de-DE" sz="2000" b="0" i="1" strike="noStrike" spc="-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ea typeface="Helvetica Neue Medium"/>
                              </a:rPr>
                              <m:t>𝑗</m:t>
                            </m:r>
                          </m:sub>
                        </m:sSub>
                      </m:oMath>
                    </a14:m>
                    <a:r>
                      <a:rPr lang="de-DE" sz="2000" b="0" strike="noStrike" spc="-1" dirty="0" smtClean="0">
                        <a:solidFill>
                          <a:schemeClr val="dk1"/>
                        </a:solidFill>
                        <a:latin typeface="Helvetica Neue Medium"/>
                        <a:ea typeface="Helvetica Neue Medium"/>
                      </a:rPr>
                      <a:t> </a:t>
                    </a:r>
                    <a:endParaRPr lang="en-US" sz="2000" b="0" strike="noStrike" spc="-1" dirty="0">
                      <a:solidFill>
                        <a:srgbClr val="000000"/>
                      </a:solidFill>
                      <a:latin typeface="Calibri"/>
                    </a:endParaRPr>
                  </a:p>
                </p:txBody>
              </p:sp>
            </mc:Choice>
            <mc:Fallback xmlns="">
              <p:sp>
                <p:nvSpPr>
                  <p:cNvPr id="107" name="Textfeld 11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2272652" y="6225598"/>
                    <a:ext cx="1705829" cy="42334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143" r="-18571" b="-3943"/>
                    </a:stretch>
                  </a:blipFill>
                  <a:ln w="0">
                    <a:noFill/>
                  </a:ln>
                </p:spPr>
                <p:txBody>
                  <a:bodyPr/>
                  <a:lstStyle/>
                  <a:p>
                    <a:r>
                      <a:rPr lang="de-DE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3" name="Gruppieren 12"/>
              <p:cNvGrpSpPr/>
              <p:nvPr/>
            </p:nvGrpSpPr>
            <p:grpSpPr>
              <a:xfrm>
                <a:off x="3338162" y="4877148"/>
                <a:ext cx="3454438" cy="3111880"/>
                <a:chOff x="3338162" y="4877148"/>
                <a:chExt cx="3454438" cy="3111880"/>
              </a:xfrm>
            </p:grpSpPr>
            <p:pic>
              <p:nvPicPr>
                <p:cNvPr id="64" name="Grafik 93"/>
                <p:cNvPicPr/>
                <p:nvPr/>
              </p:nvPicPr>
              <p:blipFill rotWithShape="1">
                <a:blip r:embed="rId5"/>
                <a:srcRect l="16006" t="3059" r="2664" b="2991"/>
                <a:stretch/>
              </p:blipFill>
              <p:spPr>
                <a:xfrm rot="10800000">
                  <a:off x="3338162" y="4877148"/>
                  <a:ext cx="3454438" cy="3111880"/>
                </a:xfrm>
                <a:prstGeom prst="rect">
                  <a:avLst/>
                </a:prstGeom>
                <a:ln w="0">
                  <a:solidFill>
                    <a:schemeClr val="tx1"/>
                  </a:solidFill>
                </a:ln>
              </p:spPr>
            </p:pic>
            <p:sp>
              <p:nvSpPr>
                <p:cNvPr id="95" name="Textfeld 99"/>
                <p:cNvSpPr/>
                <p:nvPr/>
              </p:nvSpPr>
              <p:spPr>
                <a:xfrm>
                  <a:off x="3875557" y="7314558"/>
                  <a:ext cx="382005" cy="52176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000" tIns="45000" rIns="90000" bIns="45000" anchor="t">
                  <a:spAutoFit/>
                </a:bodyPr>
                <a:lstStyle/>
                <a:p>
                  <a:pPr defTabSz="914400">
                    <a:lnSpc>
                      <a:spcPct val="100000"/>
                    </a:lnSpc>
                  </a:pPr>
                  <a:r>
                    <a:rPr lang="de-DE" sz="2800" b="1" strike="noStrike" spc="-1" dirty="0">
                      <a:solidFill>
                        <a:schemeClr val="dk1"/>
                      </a:solidFill>
                      <a:latin typeface="Helvetica Neue Medium"/>
                      <a:ea typeface="Helvetica Neue Medium"/>
                    </a:rPr>
                    <a:t>x</a:t>
                  </a:r>
                  <a:endParaRPr lang="en-US" sz="2800" b="1" strike="noStrike" spc="-1" dirty="0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sp>
              <p:nvSpPr>
                <p:cNvPr id="104" name="Textfeld 108"/>
                <p:cNvSpPr/>
                <p:nvPr/>
              </p:nvSpPr>
              <p:spPr>
                <a:xfrm>
                  <a:off x="6123131" y="5277660"/>
                  <a:ext cx="270265" cy="521766"/>
                </a:xfrm>
                <a:prstGeom prst="rect">
                  <a:avLst/>
                </a:prstGeom>
                <a:noFill/>
                <a:ln w="3810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defTabSz="914400">
                    <a:lnSpc>
                      <a:spcPct val="100000"/>
                    </a:lnSpc>
                  </a:pPr>
                  <a:r>
                    <a:rPr lang="de-DE" sz="2800" b="1" strike="noStrike" spc="-1" dirty="0">
                      <a:solidFill>
                        <a:srgbClr val="FF0000"/>
                      </a:solidFill>
                      <a:latin typeface="Helvetica Neue Medium"/>
                      <a:ea typeface="Helvetica Neue Medium"/>
                    </a:rPr>
                    <a:t>x</a:t>
                  </a:r>
                  <a:endParaRPr lang="en-US" sz="2800" b="1" strike="noStrike" spc="-1" dirty="0">
                    <a:solidFill>
                      <a:srgbClr val="000000"/>
                    </a:solidFill>
                    <a:latin typeface="Calibri"/>
                  </a:endParaRPr>
                </a:p>
              </p:txBody>
            </p:sp>
            <p:grpSp>
              <p:nvGrpSpPr>
                <p:cNvPr id="12" name="Gruppieren 11"/>
                <p:cNvGrpSpPr/>
                <p:nvPr/>
              </p:nvGrpSpPr>
              <p:grpSpPr>
                <a:xfrm>
                  <a:off x="3679442" y="5593550"/>
                  <a:ext cx="2829464" cy="1847761"/>
                  <a:chOff x="3679442" y="5593550"/>
                  <a:chExt cx="2829464" cy="1847761"/>
                </a:xfrm>
              </p:grpSpPr>
              <p:cxnSp>
                <p:nvCxnSpPr>
                  <p:cNvPr id="96" name="Gerade Verbindung mit Pfeil 100"/>
                  <p:cNvCxnSpPr/>
                  <p:nvPr/>
                </p:nvCxnSpPr>
                <p:spPr>
                  <a:xfrm>
                    <a:off x="4059892" y="5604684"/>
                    <a:ext cx="328475" cy="113478"/>
                  </a:xfrm>
                  <a:prstGeom prst="straightConnector1">
                    <a:avLst/>
                  </a:prstGeom>
                  <a:ln w="38100">
                    <a:solidFill>
                      <a:srgbClr val="000000"/>
                    </a:solidFill>
                    <a:round/>
                    <a:tailEnd type="triangle" w="med" len="med"/>
                  </a:ln>
                </p:spPr>
              </p:cxnSp>
              <p:cxnSp>
                <p:nvCxnSpPr>
                  <p:cNvPr id="97" name="Gerade Verbindung mit Pfeil 101"/>
                  <p:cNvCxnSpPr/>
                  <p:nvPr/>
                </p:nvCxnSpPr>
                <p:spPr>
                  <a:xfrm>
                    <a:off x="4393564" y="5724585"/>
                    <a:ext cx="176711" cy="146879"/>
                  </a:xfrm>
                  <a:prstGeom prst="straightConnector1">
                    <a:avLst/>
                  </a:prstGeom>
                  <a:ln w="38100">
                    <a:solidFill>
                      <a:srgbClr val="000000"/>
                    </a:solidFill>
                    <a:round/>
                    <a:tailEnd type="triangle" w="med" len="med"/>
                  </a:ln>
                </p:spPr>
              </p:cxnSp>
              <p:cxnSp>
                <p:nvCxnSpPr>
                  <p:cNvPr id="98" name="Gerade Verbindung mit Pfeil 102"/>
                  <p:cNvCxnSpPr/>
                  <p:nvPr/>
                </p:nvCxnSpPr>
                <p:spPr>
                  <a:xfrm>
                    <a:off x="4569929" y="5877887"/>
                    <a:ext cx="176711" cy="147307"/>
                  </a:xfrm>
                  <a:prstGeom prst="straightConnector1">
                    <a:avLst/>
                  </a:prstGeom>
                  <a:ln w="38100">
                    <a:solidFill>
                      <a:srgbClr val="000000"/>
                    </a:solidFill>
                    <a:round/>
                    <a:tailEnd type="triangle" w="med" len="med"/>
                  </a:ln>
                </p:spPr>
              </p:cxnSp>
              <p:cxnSp>
                <p:nvCxnSpPr>
                  <p:cNvPr id="99" name="Gerade Verbindung mit Pfeil 103"/>
                  <p:cNvCxnSpPr/>
                  <p:nvPr/>
                </p:nvCxnSpPr>
                <p:spPr>
                  <a:xfrm>
                    <a:off x="5124665" y="6112122"/>
                    <a:ext cx="657298" cy="428"/>
                  </a:xfrm>
                  <a:prstGeom prst="straightConnector1">
                    <a:avLst/>
                  </a:prstGeom>
                  <a:ln w="38100">
                    <a:solidFill>
                      <a:srgbClr val="000000"/>
                    </a:solidFill>
                    <a:round/>
                    <a:tailEnd type="triangle" w="med" len="med"/>
                  </a:ln>
                </p:spPr>
              </p:cxnSp>
              <p:cxnSp>
                <p:nvCxnSpPr>
                  <p:cNvPr id="100" name="Gerade Verbindung mit Pfeil 104"/>
                  <p:cNvCxnSpPr/>
                  <p:nvPr/>
                </p:nvCxnSpPr>
                <p:spPr>
                  <a:xfrm flipV="1">
                    <a:off x="5783696" y="6028620"/>
                    <a:ext cx="603591" cy="83931"/>
                  </a:xfrm>
                  <a:prstGeom prst="straightConnector1">
                    <a:avLst/>
                  </a:prstGeom>
                  <a:ln w="38100">
                    <a:solidFill>
                      <a:srgbClr val="000000"/>
                    </a:solidFill>
                    <a:round/>
                    <a:tailEnd type="triangle" w="med" len="med"/>
                  </a:ln>
                </p:spPr>
              </p:cxnSp>
              <p:cxnSp>
                <p:nvCxnSpPr>
                  <p:cNvPr id="101" name="Gerade Verbindung mit Pfeil 105"/>
                  <p:cNvCxnSpPr/>
                  <p:nvPr/>
                </p:nvCxnSpPr>
                <p:spPr>
                  <a:xfrm flipV="1">
                    <a:off x="6397335" y="5722444"/>
                    <a:ext cx="111571" cy="295042"/>
                  </a:xfrm>
                  <a:prstGeom prst="straightConnector1">
                    <a:avLst/>
                  </a:prstGeom>
                  <a:ln w="38100">
                    <a:solidFill>
                      <a:srgbClr val="000000"/>
                    </a:solidFill>
                    <a:round/>
                    <a:tailEnd type="triangle" w="med" len="med"/>
                  </a:ln>
                </p:spPr>
              </p:cxnSp>
              <p:cxnSp>
                <p:nvCxnSpPr>
                  <p:cNvPr id="102" name="Gerade Verbindung mit Pfeil 106"/>
                  <p:cNvCxnSpPr/>
                  <p:nvPr/>
                </p:nvCxnSpPr>
                <p:spPr>
                  <a:xfrm flipH="1" flipV="1">
                    <a:off x="6442032" y="5593550"/>
                    <a:ext cx="50934" cy="128465"/>
                  </a:xfrm>
                  <a:prstGeom prst="straightConnector1">
                    <a:avLst/>
                  </a:prstGeom>
                  <a:ln w="38100">
                    <a:solidFill>
                      <a:srgbClr val="000000"/>
                    </a:solidFill>
                    <a:round/>
                    <a:tailEnd type="triangle" w="med" len="med"/>
                  </a:ln>
                </p:spPr>
              </p:cxnSp>
              <p:cxnSp>
                <p:nvCxnSpPr>
                  <p:cNvPr id="103" name="Gerade Verbindung mit Pfeil 107"/>
                  <p:cNvCxnSpPr/>
                  <p:nvPr/>
                </p:nvCxnSpPr>
                <p:spPr>
                  <a:xfrm>
                    <a:off x="4768123" y="6009778"/>
                    <a:ext cx="322931" cy="129750"/>
                  </a:xfrm>
                  <a:prstGeom prst="straightConnector1">
                    <a:avLst/>
                  </a:prstGeom>
                  <a:ln w="38100">
                    <a:solidFill>
                      <a:srgbClr val="000000"/>
                    </a:solidFill>
                    <a:round/>
                    <a:tailEnd type="triangle" w="med" len="med"/>
                  </a:ln>
                </p:spPr>
              </p:cxnSp>
              <p:cxnSp>
                <p:nvCxnSpPr>
                  <p:cNvPr id="109" name="Gerade Verbindung mit Pfeil 113"/>
                  <p:cNvCxnSpPr/>
                  <p:nvPr/>
                </p:nvCxnSpPr>
                <p:spPr>
                  <a:xfrm flipH="1" flipV="1">
                    <a:off x="3679442" y="6405452"/>
                    <a:ext cx="342335" cy="1035859"/>
                  </a:xfrm>
                  <a:prstGeom prst="straightConnector1">
                    <a:avLst/>
                  </a:prstGeom>
                  <a:ln w="38100">
                    <a:solidFill>
                      <a:srgbClr val="000000"/>
                    </a:solidFill>
                    <a:round/>
                    <a:tailEnd type="triangle" w="med" len="med"/>
                  </a:ln>
                </p:spPr>
              </p:cxnSp>
              <p:cxnSp>
                <p:nvCxnSpPr>
                  <p:cNvPr id="110" name="Gerade Verbindung mit Pfeil 114"/>
                  <p:cNvCxnSpPr/>
                  <p:nvPr/>
                </p:nvCxnSpPr>
                <p:spPr>
                  <a:xfrm flipV="1">
                    <a:off x="3685678" y="5835065"/>
                    <a:ext cx="13167" cy="568673"/>
                  </a:xfrm>
                  <a:prstGeom prst="straightConnector1">
                    <a:avLst/>
                  </a:prstGeom>
                  <a:ln w="38100">
                    <a:solidFill>
                      <a:srgbClr val="000000"/>
                    </a:solidFill>
                    <a:round/>
                    <a:tailEnd type="triangle" w="med" len="med"/>
                  </a:ln>
                </p:spPr>
              </p:cxnSp>
              <p:cxnSp>
                <p:nvCxnSpPr>
                  <p:cNvPr id="111" name="Gerade Verbindung mit Pfeil 115"/>
                  <p:cNvCxnSpPr/>
                  <p:nvPr/>
                </p:nvCxnSpPr>
                <p:spPr>
                  <a:xfrm flipV="1">
                    <a:off x="3698499" y="5594407"/>
                    <a:ext cx="315655" cy="231666"/>
                  </a:xfrm>
                  <a:prstGeom prst="straightConnector1">
                    <a:avLst/>
                  </a:prstGeom>
                  <a:ln w="38100">
                    <a:solidFill>
                      <a:srgbClr val="000000"/>
                    </a:solidFill>
                    <a:round/>
                    <a:tailEnd type="triangle" w="med" len="med"/>
                  </a:ln>
                </p:spPr>
              </p:cxnSp>
            </p:grpSp>
          </p:grpSp>
        </p:grpSp>
      </p:grpSp>
      <p:sp>
        <p:nvSpPr>
          <p:cNvPr id="43" name="Foliennummernplatzhalter 3"/>
          <p:cNvSpPr>
            <a:spLocks noGrp="1"/>
          </p:cNvSpPr>
          <p:nvPr>
            <p:ph type="sldNum" idx="2"/>
          </p:nvPr>
        </p:nvSpPr>
        <p:spPr>
          <a:prstGeom prst="rect">
            <a:avLst/>
          </a:prstGeom>
        </p:spPr>
        <p:txBody>
          <a:bodyPr/>
          <a:lstStyle/>
          <a:p>
            <a:fld id="{41BFDFA1-13E1-47F7-AAEB-46EC02612569}" type="slidenum">
              <a:rPr lang="de-DE" smtClean="0"/>
              <a:t>12</a:t>
            </a:fld>
            <a:endParaRPr lang="de-DE" dirty="0"/>
          </a:p>
        </p:txBody>
      </p:sp>
      <p:grpSp>
        <p:nvGrpSpPr>
          <p:cNvPr id="19" name="Gruppieren 18"/>
          <p:cNvGrpSpPr/>
          <p:nvPr/>
        </p:nvGrpSpPr>
        <p:grpSpPr>
          <a:xfrm>
            <a:off x="15840000" y="4866094"/>
            <a:ext cx="5040000" cy="5040000"/>
            <a:chOff x="14238514" y="3807814"/>
            <a:chExt cx="5040000" cy="5040000"/>
          </a:xfrm>
        </p:grpSpPr>
        <p:grpSp>
          <p:nvGrpSpPr>
            <p:cNvPr id="16" name="Gruppieren 15"/>
            <p:cNvGrpSpPr/>
            <p:nvPr/>
          </p:nvGrpSpPr>
          <p:grpSpPr>
            <a:xfrm>
              <a:off x="14805364" y="5189760"/>
              <a:ext cx="3846972" cy="3159713"/>
              <a:chOff x="14405090" y="3723863"/>
              <a:chExt cx="3846972" cy="3159713"/>
            </a:xfrm>
          </p:grpSpPr>
          <p:pic>
            <p:nvPicPr>
              <p:cNvPr id="84" name="Grafik 88"/>
              <p:cNvPicPr/>
              <p:nvPr/>
            </p:nvPicPr>
            <p:blipFill>
              <a:blip r:embed="rId5"/>
              <a:stretch/>
            </p:blipFill>
            <p:spPr>
              <a:xfrm>
                <a:off x="14405090" y="3723863"/>
                <a:ext cx="2806416" cy="2319718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85" name="Grafik 89"/>
              <p:cNvPicPr/>
              <p:nvPr/>
            </p:nvPicPr>
            <p:blipFill>
              <a:blip r:embed="rId5"/>
              <a:stretch/>
            </p:blipFill>
            <p:spPr>
              <a:xfrm>
                <a:off x="14613275" y="3891768"/>
                <a:ext cx="2806416" cy="2319718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86" name="Grafik 90"/>
              <p:cNvPicPr/>
              <p:nvPr/>
            </p:nvPicPr>
            <p:blipFill>
              <a:blip r:embed="rId5"/>
              <a:stretch/>
            </p:blipFill>
            <p:spPr>
              <a:xfrm>
                <a:off x="14821461" y="4060142"/>
                <a:ext cx="2806416" cy="2319718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87" name="Grafik 91"/>
              <p:cNvPicPr/>
              <p:nvPr/>
            </p:nvPicPr>
            <p:blipFill>
              <a:blip r:embed="rId5"/>
              <a:stretch/>
            </p:blipFill>
            <p:spPr>
              <a:xfrm>
                <a:off x="15029274" y="4228047"/>
                <a:ext cx="2806416" cy="2319718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88" name="Grafik 92"/>
              <p:cNvPicPr/>
              <p:nvPr/>
            </p:nvPicPr>
            <p:blipFill>
              <a:blip r:embed="rId5"/>
              <a:stretch/>
            </p:blipFill>
            <p:spPr>
              <a:xfrm>
                <a:off x="15237461" y="4395952"/>
                <a:ext cx="2806416" cy="2319718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89" name="Grafik 93"/>
              <p:cNvPicPr/>
              <p:nvPr/>
            </p:nvPicPr>
            <p:blipFill>
              <a:blip r:embed="rId5"/>
              <a:stretch/>
            </p:blipFill>
            <p:spPr>
              <a:xfrm>
                <a:off x="15445646" y="4563858"/>
                <a:ext cx="2806416" cy="2319718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7" name="Rechteck 16"/>
            <p:cNvSpPr/>
            <p:nvPr/>
          </p:nvSpPr>
          <p:spPr>
            <a:xfrm>
              <a:off x="14238514" y="3807814"/>
              <a:ext cx="5040000" cy="5040000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de-DE" sz="3200" b="1" dirty="0" err="1" smtClean="0">
                  <a:solidFill>
                    <a:schemeClr val="tx1"/>
                  </a:solidFill>
                </a:rPr>
                <a:t>Similar</a:t>
              </a:r>
              <a:r>
                <a:rPr lang="de-DE" sz="3200" b="1" dirty="0" smtClean="0">
                  <a:solidFill>
                    <a:schemeClr val="tx1"/>
                  </a:solidFill>
                </a:rPr>
                <a:t> Parameter</a:t>
              </a:r>
              <a:br>
                <a:rPr lang="de-DE" sz="3200" b="1" dirty="0" smtClean="0">
                  <a:solidFill>
                    <a:schemeClr val="tx1"/>
                  </a:solidFill>
                </a:rPr>
              </a:br>
              <a:r>
                <a:rPr lang="de-DE" sz="3200" b="1" dirty="0" err="1" smtClean="0">
                  <a:solidFill>
                    <a:schemeClr val="tx1"/>
                  </a:solidFill>
                </a:rPr>
                <a:t>Estimation</a:t>
              </a:r>
              <a:r>
                <a:rPr lang="de-DE" sz="3200" b="1" dirty="0" smtClean="0">
                  <a:solidFill>
                    <a:schemeClr val="tx1"/>
                  </a:solidFill>
                </a:rPr>
                <a:t> Problems</a:t>
              </a:r>
              <a:endParaRPr lang="de-DE" sz="32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22" name="Gewinkelter Verbinder 21"/>
          <p:cNvCxnSpPr>
            <a:stCxn id="83" idx="0"/>
            <a:endCxn id="93" idx="0"/>
          </p:cNvCxnSpPr>
          <p:nvPr/>
        </p:nvCxnSpPr>
        <p:spPr>
          <a:xfrm rot="16200000" flipV="1">
            <a:off x="7739150" y="1805244"/>
            <a:ext cx="14400" cy="6120000"/>
          </a:xfrm>
          <a:prstGeom prst="bentConnector3">
            <a:avLst>
              <a:gd name="adj1" fmla="val 4384622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Gewinkelter Verbinder 105"/>
          <p:cNvCxnSpPr>
            <a:stCxn id="93" idx="2"/>
            <a:endCxn id="83" idx="2"/>
          </p:cNvCxnSpPr>
          <p:nvPr/>
        </p:nvCxnSpPr>
        <p:spPr>
          <a:xfrm rot="16200000" flipH="1">
            <a:off x="7740000" y="6846094"/>
            <a:ext cx="12700" cy="6120000"/>
          </a:xfrm>
          <a:prstGeom prst="bentConnector3">
            <a:avLst>
              <a:gd name="adj1" fmla="val 3646157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/>
          <p:cNvCxnSpPr>
            <a:stCxn id="17" idx="1"/>
            <a:endCxn id="83" idx="3"/>
          </p:cNvCxnSpPr>
          <p:nvPr/>
        </p:nvCxnSpPr>
        <p:spPr>
          <a:xfrm flipH="1">
            <a:off x="12600000" y="7386094"/>
            <a:ext cx="3240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881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FDFA1-13E1-47F7-AAEB-46EC02612569}" type="slidenum">
              <a:rPr lang="de-DE" smtClean="0"/>
              <a:t>13</a:t>
            </a:fld>
            <a:endParaRPr lang="de-DE" dirty="0"/>
          </a:p>
        </p:txBody>
      </p:sp>
      <p:sp>
        <p:nvSpPr>
          <p:cNvPr id="146" name="PlaceHolder 1"/>
          <p:cNvSpPr>
            <a:spLocks noGrp="1"/>
          </p:cNvSpPr>
          <p:nvPr>
            <p:ph idx="4294967295"/>
          </p:nvPr>
        </p:nvSpPr>
        <p:spPr>
          <a:xfrm>
            <a:off x="0" y="322263"/>
            <a:ext cx="20808950" cy="984250"/>
          </a:xfrm>
          <a:prstGeom prst="rect">
            <a:avLst/>
          </a:prstGeom>
          <a:noFill/>
          <a:ln w="0">
            <a:noFill/>
          </a:ln>
        </p:spPr>
        <p:txBody>
          <a:bodyPr lIns="71280" tIns="71280" rIns="71280" bIns="7128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5000" spc="-1" dirty="0" smtClean="0">
                <a:solidFill>
                  <a:srgbClr val="000000"/>
                </a:solidFill>
                <a:latin typeface="Impact"/>
                <a:ea typeface="Microsoft YaHei"/>
              </a:rPr>
              <a:t>Existing Benchmark Problems </a:t>
            </a:r>
            <a:r>
              <a:rPr lang="en-US" sz="5000" spc="-1" dirty="0">
                <a:solidFill>
                  <a:srgbClr val="000000"/>
                </a:solidFill>
                <a:latin typeface="Impact"/>
                <a:ea typeface="Microsoft YaHei"/>
              </a:rPr>
              <a:t>for </a:t>
            </a:r>
            <a:r>
              <a:rPr lang="en-US" sz="5000" spc="-1" dirty="0" smtClean="0">
                <a:solidFill>
                  <a:srgbClr val="000000"/>
                </a:solidFill>
                <a:latin typeface="Impact"/>
                <a:ea typeface="Microsoft YaHei"/>
              </a:rPr>
              <a:t>Dynamic </a:t>
            </a:r>
            <a:r>
              <a:rPr lang="en-US" sz="5000" spc="-1" dirty="0">
                <a:solidFill>
                  <a:srgbClr val="000000"/>
                </a:solidFill>
                <a:latin typeface="Impact"/>
                <a:ea typeface="Microsoft YaHei"/>
              </a:rPr>
              <a:t>M</a:t>
            </a:r>
            <a:r>
              <a:rPr lang="en-US" sz="5000" spc="-1" dirty="0" smtClean="0">
                <a:solidFill>
                  <a:srgbClr val="000000"/>
                </a:solidFill>
                <a:latin typeface="Impact"/>
                <a:ea typeface="Microsoft YaHei"/>
              </a:rPr>
              <a:t>odeling</a:t>
            </a:r>
            <a:endParaRPr lang="de-DE" sz="5000" b="0" strike="noStrike" spc="-1" dirty="0">
              <a:solidFill>
                <a:schemeClr val="dk1"/>
              </a:solidFill>
              <a:latin typeface="Helvetica Neue Medium"/>
            </a:endParaRPr>
          </a:p>
        </p:txBody>
      </p:sp>
      <p:grpSp>
        <p:nvGrpSpPr>
          <p:cNvPr id="147" name="Gruppieren 1"/>
          <p:cNvGrpSpPr/>
          <p:nvPr/>
        </p:nvGrpSpPr>
        <p:grpSpPr>
          <a:xfrm>
            <a:off x="687600" y="1811520"/>
            <a:ext cx="6142320" cy="9368640"/>
            <a:chOff x="687600" y="1811520"/>
            <a:chExt cx="6142320" cy="9368640"/>
          </a:xfrm>
        </p:grpSpPr>
        <p:pic>
          <p:nvPicPr>
            <p:cNvPr id="148" name="Grafik 124"/>
            <p:cNvPicPr/>
            <p:nvPr/>
          </p:nvPicPr>
          <p:blipFill>
            <a:blip r:embed="rId3"/>
            <a:stretch/>
          </p:blipFill>
          <p:spPr>
            <a:xfrm>
              <a:off x="925560" y="2865240"/>
              <a:ext cx="5904360" cy="8314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9" name="Rechteck 126"/>
            <p:cNvSpPr/>
            <p:nvPr/>
          </p:nvSpPr>
          <p:spPr>
            <a:xfrm>
              <a:off x="687600" y="1811520"/>
              <a:ext cx="4827240" cy="54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2800" b="1" strike="noStrike" spc="-1">
                  <a:solidFill>
                    <a:srgbClr val="000000"/>
                  </a:solidFill>
                  <a:latin typeface="Calibri"/>
                  <a:ea typeface="Helvetica Neue Medium"/>
                </a:rPr>
                <a:t>20 published exp. benchmark problems (Hass 2019)</a:t>
              </a:r>
              <a:endParaRPr lang="en-US" sz="2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151" name="Rechteck 125"/>
          <p:cNvSpPr/>
          <p:nvPr/>
        </p:nvSpPr>
        <p:spPr>
          <a:xfrm>
            <a:off x="10194120" y="5553360"/>
            <a:ext cx="2876760" cy="45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Calibri"/>
              <a:ea typeface="Helvetica Neue Medium"/>
            </a:endParaRPr>
          </a:p>
        </p:txBody>
      </p:sp>
      <p:sp>
        <p:nvSpPr>
          <p:cNvPr id="152" name="Rechteck 17"/>
          <p:cNvSpPr/>
          <p:nvPr/>
        </p:nvSpPr>
        <p:spPr>
          <a:xfrm>
            <a:off x="12024000" y="1811520"/>
            <a:ext cx="439416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  <a:ea typeface="Helvetica Neue Medium"/>
              </a:rPr>
              <a:t>Example: Bachmann model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3" name="Grafik 3"/>
          <p:cNvPicPr/>
          <p:nvPr/>
        </p:nvPicPr>
        <p:blipFill>
          <a:blip r:embed="rId4"/>
          <a:stretch/>
        </p:blipFill>
        <p:spPr>
          <a:xfrm>
            <a:off x="7514279" y="2356920"/>
            <a:ext cx="7955875" cy="4203360"/>
          </a:xfrm>
          <a:prstGeom prst="rect">
            <a:avLst/>
          </a:prstGeom>
          <a:ln w="28575">
            <a:noFill/>
          </a:ln>
        </p:spPr>
      </p:pic>
      <p:grpSp>
        <p:nvGrpSpPr>
          <p:cNvPr id="154" name="Gruppieren 10"/>
          <p:cNvGrpSpPr/>
          <p:nvPr/>
        </p:nvGrpSpPr>
        <p:grpSpPr>
          <a:xfrm>
            <a:off x="7659360" y="6840720"/>
            <a:ext cx="13133520" cy="5658120"/>
            <a:chOff x="7659360" y="6840720"/>
            <a:chExt cx="13133520" cy="5658120"/>
          </a:xfrm>
        </p:grpSpPr>
        <p:pic>
          <p:nvPicPr>
            <p:cNvPr id="155" name="Grafik 6"/>
            <p:cNvPicPr/>
            <p:nvPr/>
          </p:nvPicPr>
          <p:blipFill>
            <a:blip r:embed="rId5"/>
            <a:stretch/>
          </p:blipFill>
          <p:spPr>
            <a:xfrm>
              <a:off x="7659360" y="6928560"/>
              <a:ext cx="6477840" cy="55702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6" name="Grafik 28"/>
            <p:cNvPicPr/>
            <p:nvPr/>
          </p:nvPicPr>
          <p:blipFill>
            <a:blip r:embed="rId6"/>
            <a:stretch/>
          </p:blipFill>
          <p:spPr>
            <a:xfrm>
              <a:off x="14315040" y="6840720"/>
              <a:ext cx="6477840" cy="38440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57" name="Rechteck 12"/>
          <p:cNvSpPr/>
          <p:nvPr/>
        </p:nvSpPr>
        <p:spPr>
          <a:xfrm>
            <a:off x="7471800" y="6799320"/>
            <a:ext cx="6665400" cy="5631840"/>
          </a:xfrm>
          <a:prstGeom prst="rect">
            <a:avLst/>
          </a:prstGeom>
          <a:noFill/>
          <a:ln w="28575">
            <a:solidFill>
              <a:srgbClr val="5B9B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accent1"/>
              </a:solidFill>
              <a:latin typeface="Calibri"/>
              <a:ea typeface="Helvetica Neue Medium"/>
            </a:endParaRPr>
          </a:p>
        </p:txBody>
      </p:sp>
      <p:sp>
        <p:nvSpPr>
          <p:cNvPr id="158" name="Rechteck 30"/>
          <p:cNvSpPr/>
          <p:nvPr/>
        </p:nvSpPr>
        <p:spPr>
          <a:xfrm>
            <a:off x="14249520" y="6799320"/>
            <a:ext cx="3291480" cy="5631840"/>
          </a:xfrm>
          <a:prstGeom prst="rect">
            <a:avLst/>
          </a:prstGeom>
          <a:noFill/>
          <a:ln w="28575">
            <a:solidFill>
              <a:srgbClr val="ED7D3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accent1"/>
              </a:solidFill>
              <a:latin typeface="Calibri"/>
              <a:ea typeface="Helvetica Neue Medium"/>
            </a:endParaRPr>
          </a:p>
        </p:txBody>
      </p:sp>
      <p:sp>
        <p:nvSpPr>
          <p:cNvPr id="159" name="Rechteck 31"/>
          <p:cNvSpPr/>
          <p:nvPr/>
        </p:nvSpPr>
        <p:spPr>
          <a:xfrm>
            <a:off x="17678880" y="6799320"/>
            <a:ext cx="3283920" cy="5631840"/>
          </a:xfrm>
          <a:prstGeom prst="rect">
            <a:avLst/>
          </a:prstGeom>
          <a:noFill/>
          <a:ln w="28575">
            <a:solidFill>
              <a:srgbClr val="70AD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accent1"/>
              </a:solidFill>
              <a:latin typeface="Calibri"/>
              <a:ea typeface="Helvetica Neue Medium"/>
            </a:endParaRPr>
          </a:p>
        </p:txBody>
      </p:sp>
      <p:sp>
        <p:nvSpPr>
          <p:cNvPr id="160" name="Rechteck 32"/>
          <p:cNvSpPr/>
          <p:nvPr/>
        </p:nvSpPr>
        <p:spPr>
          <a:xfrm>
            <a:off x="7337520" y="1813680"/>
            <a:ext cx="13766760" cy="1076976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accent1"/>
              </a:solidFill>
              <a:latin typeface="Calibri"/>
              <a:ea typeface="Helvetica Neue Medium"/>
            </a:endParaRPr>
          </a:p>
        </p:txBody>
      </p:sp>
      <p:grpSp>
        <p:nvGrpSpPr>
          <p:cNvPr id="3" name="Gruppieren 2"/>
          <p:cNvGrpSpPr/>
          <p:nvPr/>
        </p:nvGrpSpPr>
        <p:grpSpPr>
          <a:xfrm>
            <a:off x="16874937" y="2598480"/>
            <a:ext cx="2824560" cy="3374640"/>
            <a:chOff x="14153040" y="2823960"/>
            <a:chExt cx="2824560" cy="3374640"/>
          </a:xfrm>
        </p:grpSpPr>
        <p:sp>
          <p:nvSpPr>
            <p:cNvPr id="168" name="Rechteck 40"/>
            <p:cNvSpPr/>
            <p:nvPr/>
          </p:nvSpPr>
          <p:spPr>
            <a:xfrm>
              <a:off x="14153040" y="2823960"/>
              <a:ext cx="251424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1" strike="noStrike" spc="-1" dirty="0">
                  <a:solidFill>
                    <a:srgbClr val="000000"/>
                  </a:solidFill>
                  <a:latin typeface="Calibri"/>
                  <a:ea typeface="Helvetica Neue Medium"/>
                </a:rPr>
                <a:t>42 </a:t>
              </a:r>
              <a:r>
                <a:rPr lang="en-US" sz="2000" b="1" strike="noStrike" spc="-1" dirty="0" smtClean="0">
                  <a:solidFill>
                    <a:srgbClr val="000000"/>
                  </a:solidFill>
                  <a:latin typeface="Calibri"/>
                  <a:ea typeface="Helvetica Neue Medium"/>
                </a:rPr>
                <a:t>datasets,</a:t>
              </a:r>
            </a:p>
            <a:p>
              <a:pPr algn="ctr" defTabSz="914400">
                <a:lnSpc>
                  <a:spcPct val="100000"/>
                </a:lnSpc>
              </a:pPr>
              <a:r>
                <a:rPr lang="en-US" sz="2000" b="1" strike="noStrike" spc="-1" dirty="0" smtClean="0">
                  <a:solidFill>
                    <a:srgbClr val="000000"/>
                  </a:solidFill>
                  <a:latin typeface="Calibri"/>
                  <a:ea typeface="Helvetica Neue Medium"/>
                </a:rPr>
                <a:t>23 exp. </a:t>
              </a:r>
              <a:r>
                <a:rPr lang="en-US" sz="2000" b="1" strike="noStrike" spc="-1" dirty="0">
                  <a:solidFill>
                    <a:srgbClr val="000000"/>
                  </a:solidFill>
                  <a:latin typeface="Calibri"/>
                  <a:ea typeface="Helvetica Neue Medium"/>
                </a:rPr>
                <a:t>conditions</a:t>
              </a:r>
              <a:endParaRPr lang="en-US" sz="2000" b="0" strike="noStrike" spc="-1" dirty="0">
                <a:solidFill>
                  <a:srgbClr val="000000"/>
                </a:solidFill>
                <a:latin typeface="Calibri"/>
              </a:endParaRPr>
            </a:p>
          </p:txBody>
        </p:sp>
        <p:grpSp>
          <p:nvGrpSpPr>
            <p:cNvPr id="2" name="Gruppieren 1"/>
            <p:cNvGrpSpPr/>
            <p:nvPr/>
          </p:nvGrpSpPr>
          <p:grpSpPr>
            <a:xfrm>
              <a:off x="14159880" y="3589680"/>
              <a:ext cx="2817720" cy="2608920"/>
              <a:chOff x="14159880" y="3589680"/>
              <a:chExt cx="2817720" cy="2608920"/>
            </a:xfrm>
          </p:grpSpPr>
          <p:sp>
            <p:nvSpPr>
              <p:cNvPr id="164" name="Rechteck 34"/>
              <p:cNvSpPr/>
              <p:nvPr/>
            </p:nvSpPr>
            <p:spPr>
              <a:xfrm>
                <a:off x="14464080" y="3975960"/>
                <a:ext cx="2513520" cy="222264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de-DE" sz="1800" b="0" strike="noStrike" spc="-1">
                  <a:solidFill>
                    <a:schemeClr val="lt1"/>
                  </a:solidFill>
                  <a:latin typeface="Calibri"/>
                  <a:ea typeface="Helvetica Neue Medium"/>
                </a:endParaRPr>
              </a:p>
            </p:txBody>
          </p:sp>
          <p:sp>
            <p:nvSpPr>
              <p:cNvPr id="165" name="Rechteck 35"/>
              <p:cNvSpPr/>
              <p:nvPr/>
            </p:nvSpPr>
            <p:spPr>
              <a:xfrm>
                <a:off x="14388120" y="3881640"/>
                <a:ext cx="2513520" cy="222264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de-DE" sz="1800" b="0" strike="noStrike" spc="-1">
                  <a:solidFill>
                    <a:schemeClr val="lt1"/>
                  </a:solidFill>
                  <a:latin typeface="Calibri"/>
                  <a:ea typeface="Helvetica Neue Medium"/>
                </a:endParaRPr>
              </a:p>
            </p:txBody>
          </p:sp>
          <p:sp>
            <p:nvSpPr>
              <p:cNvPr id="166" name="Rechteck 36"/>
              <p:cNvSpPr/>
              <p:nvPr/>
            </p:nvSpPr>
            <p:spPr>
              <a:xfrm>
                <a:off x="14312160" y="3787680"/>
                <a:ext cx="2513520" cy="222264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de-DE" sz="1800" b="0" strike="noStrike" spc="-1">
                  <a:solidFill>
                    <a:schemeClr val="lt1"/>
                  </a:solidFill>
                  <a:latin typeface="Calibri"/>
                  <a:ea typeface="Helvetica Neue Medium"/>
                </a:endParaRPr>
              </a:p>
            </p:txBody>
          </p:sp>
          <p:sp>
            <p:nvSpPr>
              <p:cNvPr id="167" name="Rechteck 37"/>
              <p:cNvSpPr/>
              <p:nvPr/>
            </p:nvSpPr>
            <p:spPr>
              <a:xfrm>
                <a:off x="14235840" y="3693360"/>
                <a:ext cx="2513520" cy="222264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de-DE" sz="1800" b="0" strike="noStrike" spc="-1">
                  <a:solidFill>
                    <a:schemeClr val="lt1"/>
                  </a:solidFill>
                  <a:latin typeface="Calibri"/>
                  <a:ea typeface="Helvetica Neue Medium"/>
                </a:endParaRPr>
              </a:p>
            </p:txBody>
          </p:sp>
          <p:pic>
            <p:nvPicPr>
              <p:cNvPr id="169" name="Grafik 42"/>
              <p:cNvPicPr/>
              <p:nvPr/>
            </p:nvPicPr>
            <p:blipFill>
              <a:blip r:embed="rId7"/>
              <a:stretch/>
            </p:blipFill>
            <p:spPr>
              <a:xfrm>
                <a:off x="14159880" y="3589680"/>
                <a:ext cx="2507040" cy="2224440"/>
              </a:xfrm>
              <a:prstGeom prst="rect">
                <a:avLst/>
              </a:prstGeom>
              <a:ln w="0">
                <a:solidFill>
                  <a:srgbClr val="000000"/>
                </a:solidFill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99927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oliennummernplatzhalt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FDFA1-13E1-47F7-AAEB-46EC02612569}" type="slidenum">
              <a:rPr lang="de-DE" smtClean="0"/>
              <a:t>14</a:t>
            </a:fld>
            <a:endParaRPr lang="de-DE" dirty="0"/>
          </a:p>
        </p:txBody>
      </p:sp>
      <p:sp>
        <p:nvSpPr>
          <p:cNvPr id="146" name="PlaceHolder 1"/>
          <p:cNvSpPr>
            <a:spLocks noGrp="1"/>
          </p:cNvSpPr>
          <p:nvPr>
            <p:ph idx="4294967295"/>
          </p:nvPr>
        </p:nvSpPr>
        <p:spPr>
          <a:xfrm>
            <a:off x="0" y="322263"/>
            <a:ext cx="20808950" cy="984250"/>
          </a:xfrm>
          <a:prstGeom prst="rect">
            <a:avLst/>
          </a:prstGeom>
          <a:noFill/>
          <a:ln w="0">
            <a:noFill/>
          </a:ln>
        </p:spPr>
        <p:txBody>
          <a:bodyPr lIns="71280" tIns="71280" rIns="71280" bIns="71280" anchor="t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5000" b="0" strike="noStrike" spc="-1" dirty="0" smtClean="0">
                <a:solidFill>
                  <a:srgbClr val="000000"/>
                </a:solidFill>
                <a:latin typeface="Impact"/>
                <a:ea typeface="Microsoft YaHei"/>
              </a:rPr>
              <a:t>Realistic Simulations of Time-Course Data</a:t>
            </a:r>
            <a:endParaRPr lang="de-DE" sz="5000" b="0" strike="noStrike" spc="-1" dirty="0">
              <a:solidFill>
                <a:schemeClr val="dk1"/>
              </a:solidFill>
              <a:latin typeface="Helvetica Neue Medium"/>
            </a:endParaRPr>
          </a:p>
        </p:txBody>
      </p:sp>
      <p:grpSp>
        <p:nvGrpSpPr>
          <p:cNvPr id="147" name="Gruppieren 1"/>
          <p:cNvGrpSpPr/>
          <p:nvPr/>
        </p:nvGrpSpPr>
        <p:grpSpPr>
          <a:xfrm>
            <a:off x="687599" y="1811519"/>
            <a:ext cx="6623219" cy="10286695"/>
            <a:chOff x="687599" y="1811519"/>
            <a:chExt cx="6623219" cy="10286695"/>
          </a:xfrm>
        </p:grpSpPr>
        <p:pic>
          <p:nvPicPr>
            <p:cNvPr id="148" name="Grafik 124"/>
            <p:cNvPicPr/>
            <p:nvPr/>
          </p:nvPicPr>
          <p:blipFill>
            <a:blip r:embed="rId3"/>
            <a:stretch/>
          </p:blipFill>
          <p:spPr>
            <a:xfrm>
              <a:off x="925559" y="3376246"/>
              <a:ext cx="6144337" cy="8500458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9" name="Rechteck 126"/>
            <p:cNvSpPr/>
            <p:nvPr/>
          </p:nvSpPr>
          <p:spPr>
            <a:xfrm>
              <a:off x="687599" y="1811519"/>
              <a:ext cx="6623219" cy="10286695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r>
                <a:rPr lang="en-US" sz="2800" b="1" spc="-1" dirty="0">
                  <a:solidFill>
                    <a:srgbClr val="000000"/>
                  </a:solidFill>
                  <a:latin typeface="+mj-lt"/>
                </a:rPr>
                <a:t>Benchmark problems for dynamic </a:t>
              </a:r>
              <a:r>
                <a:rPr lang="en-US" sz="2800" b="1" spc="-1" dirty="0" smtClean="0">
                  <a:solidFill>
                    <a:srgbClr val="000000"/>
                  </a:solidFill>
                  <a:latin typeface="+mj-lt"/>
                </a:rPr>
                <a:t>modeling of </a:t>
              </a:r>
              <a:r>
                <a:rPr lang="en-US" sz="2800" b="1" spc="-1" dirty="0">
                  <a:solidFill>
                    <a:srgbClr val="000000"/>
                  </a:solidFill>
                  <a:latin typeface="+mj-lt"/>
                </a:rPr>
                <a:t>intracellular processes (Hass 2019)</a:t>
              </a:r>
              <a:endParaRPr lang="en-US" sz="2800" b="0" strike="noStrike" spc="-1" dirty="0">
                <a:solidFill>
                  <a:srgbClr val="000000"/>
                </a:solidFill>
                <a:latin typeface="+mj-lt"/>
              </a:endParaRPr>
            </a:p>
          </p:txBody>
        </p:sp>
      </p:grpSp>
      <p:grpSp>
        <p:nvGrpSpPr>
          <p:cNvPr id="12" name="Gruppieren 11"/>
          <p:cNvGrpSpPr/>
          <p:nvPr/>
        </p:nvGrpSpPr>
        <p:grpSpPr>
          <a:xfrm>
            <a:off x="12859545" y="1811520"/>
            <a:ext cx="9015709" cy="10286694"/>
            <a:chOff x="10772845" y="1811520"/>
            <a:chExt cx="9015709" cy="10286694"/>
          </a:xfrm>
        </p:grpSpPr>
        <p:sp>
          <p:nvSpPr>
            <p:cNvPr id="6" name="Textfeld 5"/>
            <p:cNvSpPr txBox="1"/>
            <p:nvPr/>
          </p:nvSpPr>
          <p:spPr>
            <a:xfrm>
              <a:off x="10772845" y="1811520"/>
              <a:ext cx="9015709" cy="102866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US" sz="2800" b="1" dirty="0" smtClean="0"/>
                <a:t>Realistic </a:t>
              </a:r>
              <a:r>
                <a:rPr lang="en-US" sz="2800" b="1" dirty="0"/>
                <a:t>simulation of time-course measurements in systems </a:t>
              </a:r>
              <a:r>
                <a:rPr lang="en-US" sz="2800" b="1" dirty="0" smtClean="0"/>
                <a:t>biology (</a:t>
              </a:r>
              <a:r>
                <a:rPr lang="de-DE" sz="2800" b="1" dirty="0" err="1" smtClean="0"/>
                <a:t>Egert</a:t>
              </a:r>
              <a:r>
                <a:rPr lang="de-DE" sz="2800" b="1" dirty="0" smtClean="0"/>
                <a:t> 2023)</a:t>
              </a:r>
              <a:endParaRPr lang="de-DE" sz="2800" dirty="0"/>
            </a:p>
          </p:txBody>
        </p:sp>
        <p:pic>
          <p:nvPicPr>
            <p:cNvPr id="9" name="Grafik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40793" y="2865240"/>
              <a:ext cx="8640000" cy="9011465"/>
            </a:xfrm>
            <a:prstGeom prst="rect">
              <a:avLst/>
            </a:prstGeom>
          </p:spPr>
        </p:pic>
      </p:grpSp>
      <p:grpSp>
        <p:nvGrpSpPr>
          <p:cNvPr id="14" name="Gruppieren 13"/>
          <p:cNvGrpSpPr/>
          <p:nvPr/>
        </p:nvGrpSpPr>
        <p:grpSpPr>
          <a:xfrm>
            <a:off x="7307856" y="4235116"/>
            <a:ext cx="5511876" cy="5443460"/>
            <a:chOff x="7307856" y="5172958"/>
            <a:chExt cx="5511876" cy="5443460"/>
          </a:xfrm>
        </p:grpSpPr>
        <p:sp>
          <p:nvSpPr>
            <p:cNvPr id="11" name="Textfeld 10"/>
            <p:cNvSpPr txBox="1"/>
            <p:nvPr/>
          </p:nvSpPr>
          <p:spPr>
            <a:xfrm>
              <a:off x="7307856" y="5904771"/>
              <a:ext cx="5511876" cy="4711647"/>
            </a:xfrm>
            <a:prstGeom prst="rect">
              <a:avLst/>
            </a:prstGeom>
            <a:noFill/>
          </p:spPr>
          <p:txBody>
            <a:bodyPr wrap="square" lIns="180000" tIns="108000" rIns="180000" bIns="108000" rtlCol="0">
              <a:spAutoFit/>
            </a:bodyPr>
            <a:lstStyle/>
            <a:p>
              <a:pPr algn="ctr"/>
              <a:r>
                <a:rPr lang="de-DE" sz="3200" b="1" dirty="0" err="1" smtClean="0"/>
                <a:t>Characteristics</a:t>
              </a:r>
              <a:r>
                <a:rPr lang="de-DE" sz="3200" b="1" dirty="0" smtClean="0"/>
                <a:t> </a:t>
              </a:r>
              <a:r>
                <a:rPr lang="de-DE" sz="3200" b="1" dirty="0" err="1" smtClean="0"/>
                <a:t>of</a:t>
              </a:r>
              <a:r>
                <a:rPr lang="de-DE" sz="3200" b="1" dirty="0" smtClean="0"/>
                <a:t> </a:t>
              </a:r>
              <a:r>
                <a:rPr lang="de-DE" sz="3200" b="1" dirty="0" err="1" smtClean="0"/>
                <a:t>the</a:t>
              </a:r>
              <a:r>
                <a:rPr lang="de-DE" sz="3200" b="1" dirty="0" smtClean="0"/>
                <a:t/>
              </a:r>
              <a:br>
                <a:rPr lang="de-DE" sz="3200" b="1" dirty="0" smtClean="0"/>
              </a:br>
              <a:r>
                <a:rPr lang="de-DE" sz="3200" b="1" dirty="0" err="1" smtClean="0"/>
                <a:t>benchmark</a:t>
              </a:r>
              <a:r>
                <a:rPr lang="de-DE" sz="3200" b="1" dirty="0" smtClean="0"/>
                <a:t> </a:t>
              </a:r>
              <a:r>
                <a:rPr lang="de-DE" sz="3200" b="1" dirty="0" err="1" smtClean="0"/>
                <a:t>models</a:t>
              </a:r>
              <a:endParaRPr lang="de-DE" sz="3200" b="1" dirty="0" smtClean="0"/>
            </a:p>
            <a:p>
              <a:pPr algn="ctr"/>
              <a:endParaRPr lang="de-DE" sz="3200" b="1" dirty="0" smtClean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de-DE" sz="2800" dirty="0"/>
                <a:t>#</a:t>
              </a:r>
              <a:r>
                <a:rPr lang="de-DE" sz="2800" dirty="0" smtClean="0"/>
                <a:t> observables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de-DE" sz="2800" dirty="0" smtClean="0"/>
                <a:t># </a:t>
              </a:r>
              <a:r>
                <a:rPr lang="de-DE" sz="2800" dirty="0" err="1" smtClean="0"/>
                <a:t>compounds</a:t>
              </a:r>
              <a:endParaRPr lang="de-DE" sz="2800" dirty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de-DE" sz="2800" dirty="0" smtClean="0"/>
                <a:t># </a:t>
              </a:r>
              <a:r>
                <a:rPr lang="de-DE" sz="2800" dirty="0" err="1" smtClean="0"/>
                <a:t>states</a:t>
              </a:r>
              <a:r>
                <a:rPr lang="de-DE" sz="2800" dirty="0" smtClean="0"/>
                <a:t> in </a:t>
              </a:r>
              <a:r>
                <a:rPr lang="de-DE" sz="2800" dirty="0" err="1" smtClean="0"/>
                <a:t>compounds</a:t>
              </a:r>
              <a:endParaRPr lang="de-DE" sz="2800" dirty="0" smtClean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de-DE" sz="2800" dirty="0" smtClean="0"/>
                <a:t># </a:t>
              </a:r>
              <a:r>
                <a:rPr lang="de-DE" sz="2800" dirty="0" err="1" smtClean="0"/>
                <a:t>scale</a:t>
              </a:r>
              <a:r>
                <a:rPr lang="de-DE" sz="2800" dirty="0" smtClean="0"/>
                <a:t> </a:t>
              </a:r>
              <a:r>
                <a:rPr lang="de-DE" sz="2800" dirty="0" err="1" smtClean="0"/>
                <a:t>and</a:t>
              </a:r>
              <a:r>
                <a:rPr lang="de-DE" sz="2800" dirty="0" smtClean="0"/>
                <a:t> </a:t>
              </a:r>
              <a:r>
                <a:rPr lang="de-DE" sz="2800" dirty="0" err="1" smtClean="0"/>
                <a:t>offset</a:t>
              </a:r>
              <a:r>
                <a:rPr lang="de-DE" sz="2800" dirty="0" smtClean="0"/>
                <a:t> </a:t>
              </a:r>
              <a:r>
                <a:rPr lang="de-DE" sz="2800" dirty="0" err="1" smtClean="0"/>
                <a:t>parameters</a:t>
              </a:r>
              <a:endParaRPr lang="de-DE" sz="2800" dirty="0" smtClean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de-DE" sz="2800" dirty="0" smtClean="0"/>
                <a:t># log </a:t>
              </a:r>
              <a:r>
                <a:rPr lang="de-DE" sz="2800" dirty="0" err="1" smtClean="0"/>
                <a:t>transformation</a:t>
              </a:r>
              <a:endParaRPr lang="de-DE" sz="2800" dirty="0" smtClean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de-DE" sz="2800" dirty="0" smtClean="0"/>
                <a:t># </a:t>
              </a:r>
              <a:r>
                <a:rPr lang="de-DE" sz="2800" dirty="0" err="1" smtClean="0"/>
                <a:t>data</a:t>
              </a:r>
              <a:r>
                <a:rPr lang="de-DE" sz="2800" dirty="0" smtClean="0"/>
                <a:t> </a:t>
              </a:r>
              <a:r>
                <a:rPr lang="de-DE" sz="2800" dirty="0" err="1" smtClean="0"/>
                <a:t>points</a:t>
              </a:r>
              <a:endParaRPr lang="de-DE" sz="2800" dirty="0" smtClean="0"/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de-DE" sz="2800" dirty="0" smtClean="0"/>
                <a:t> etc.</a:t>
              </a:r>
            </a:p>
          </p:txBody>
        </p:sp>
        <p:sp>
          <p:nvSpPr>
            <p:cNvPr id="13" name="Pfeil nach rechts 12"/>
            <p:cNvSpPr/>
            <p:nvPr/>
          </p:nvSpPr>
          <p:spPr>
            <a:xfrm>
              <a:off x="7478767" y="5172958"/>
              <a:ext cx="5173018" cy="805811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66621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FDFA1-13E1-47F7-AAEB-46EC02612569}" type="slidenum">
              <a:rPr lang="de-DE" smtClean="0"/>
              <a:t>15</a:t>
            </a:fld>
            <a:endParaRPr lang="de-DE"/>
          </a:p>
        </p:txBody>
      </p:sp>
      <p:sp>
        <p:nvSpPr>
          <p:cNvPr id="146" name="PlaceHolder 1"/>
          <p:cNvSpPr>
            <a:spLocks noGrp="1"/>
          </p:cNvSpPr>
          <p:nvPr>
            <p:ph idx="4294967295"/>
          </p:nvPr>
        </p:nvSpPr>
        <p:spPr>
          <a:xfrm>
            <a:off x="0" y="322263"/>
            <a:ext cx="20808950" cy="984250"/>
          </a:xfrm>
          <a:prstGeom prst="rect">
            <a:avLst/>
          </a:prstGeom>
          <a:noFill/>
          <a:ln w="0">
            <a:noFill/>
          </a:ln>
        </p:spPr>
        <p:txBody>
          <a:bodyPr lIns="71280" tIns="71280" rIns="71280" bIns="7128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5000" spc="-1" dirty="0" smtClean="0">
                <a:solidFill>
                  <a:srgbClr val="000000"/>
                </a:solidFill>
                <a:latin typeface="Impact"/>
                <a:ea typeface="Microsoft YaHei"/>
              </a:rPr>
              <a:t>Existing Benchmark Problems </a:t>
            </a:r>
            <a:r>
              <a:rPr lang="en-US" sz="5000" spc="-1" dirty="0">
                <a:solidFill>
                  <a:srgbClr val="000000"/>
                </a:solidFill>
                <a:latin typeface="Impact"/>
                <a:ea typeface="Microsoft YaHei"/>
              </a:rPr>
              <a:t>for </a:t>
            </a:r>
            <a:r>
              <a:rPr lang="en-US" sz="5000" spc="-1" dirty="0" smtClean="0">
                <a:solidFill>
                  <a:srgbClr val="000000"/>
                </a:solidFill>
                <a:latin typeface="Impact"/>
                <a:ea typeface="Microsoft YaHei"/>
              </a:rPr>
              <a:t>Dynamic </a:t>
            </a:r>
            <a:r>
              <a:rPr lang="en-US" sz="5000" spc="-1" dirty="0">
                <a:solidFill>
                  <a:srgbClr val="000000"/>
                </a:solidFill>
                <a:latin typeface="Impact"/>
                <a:ea typeface="Microsoft YaHei"/>
              </a:rPr>
              <a:t>M</a:t>
            </a:r>
            <a:r>
              <a:rPr lang="en-US" sz="5000" spc="-1" dirty="0" smtClean="0">
                <a:solidFill>
                  <a:srgbClr val="000000"/>
                </a:solidFill>
                <a:latin typeface="Impact"/>
                <a:ea typeface="Microsoft YaHei"/>
              </a:rPr>
              <a:t>odeling</a:t>
            </a:r>
            <a:endParaRPr lang="de-DE" sz="5000" b="0" strike="noStrike" spc="-1" dirty="0">
              <a:solidFill>
                <a:schemeClr val="dk1"/>
              </a:solidFill>
              <a:latin typeface="Helvetica Neue Medium"/>
            </a:endParaRPr>
          </a:p>
        </p:txBody>
      </p:sp>
      <p:grpSp>
        <p:nvGrpSpPr>
          <p:cNvPr id="147" name="Gruppieren 1"/>
          <p:cNvGrpSpPr/>
          <p:nvPr/>
        </p:nvGrpSpPr>
        <p:grpSpPr>
          <a:xfrm>
            <a:off x="687600" y="1811520"/>
            <a:ext cx="6142320" cy="9368640"/>
            <a:chOff x="687600" y="1811520"/>
            <a:chExt cx="6142320" cy="9368640"/>
          </a:xfrm>
        </p:grpSpPr>
        <p:pic>
          <p:nvPicPr>
            <p:cNvPr id="148" name="Grafik 124"/>
            <p:cNvPicPr/>
            <p:nvPr/>
          </p:nvPicPr>
          <p:blipFill>
            <a:blip r:embed="rId3"/>
            <a:stretch/>
          </p:blipFill>
          <p:spPr>
            <a:xfrm>
              <a:off x="925560" y="2865240"/>
              <a:ext cx="5904360" cy="83149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49" name="Rechteck 126"/>
            <p:cNvSpPr/>
            <p:nvPr/>
          </p:nvSpPr>
          <p:spPr>
            <a:xfrm>
              <a:off x="687600" y="1811520"/>
              <a:ext cx="4827240" cy="547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2800" b="1" strike="noStrike" spc="-1">
                  <a:solidFill>
                    <a:srgbClr val="000000"/>
                  </a:solidFill>
                  <a:latin typeface="Calibri"/>
                  <a:ea typeface="Helvetica Neue Medium"/>
                </a:rPr>
                <a:t>20 published exp. benchmark problems (Hass 2019)</a:t>
              </a:r>
              <a:endParaRPr lang="en-US" sz="28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151" name="Rechteck 125"/>
          <p:cNvSpPr/>
          <p:nvPr/>
        </p:nvSpPr>
        <p:spPr>
          <a:xfrm>
            <a:off x="10194120" y="5553360"/>
            <a:ext cx="2876760" cy="45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Calibri"/>
              <a:ea typeface="Helvetica Neue Medium"/>
            </a:endParaRPr>
          </a:p>
        </p:txBody>
      </p:sp>
      <p:sp>
        <p:nvSpPr>
          <p:cNvPr id="152" name="Rechteck 17"/>
          <p:cNvSpPr/>
          <p:nvPr/>
        </p:nvSpPr>
        <p:spPr>
          <a:xfrm>
            <a:off x="12024000" y="1811520"/>
            <a:ext cx="4394160" cy="54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2800" b="1" strike="noStrike" spc="-1">
                <a:solidFill>
                  <a:srgbClr val="000000"/>
                </a:solidFill>
                <a:latin typeface="Calibri"/>
                <a:ea typeface="Helvetica Neue Medium"/>
              </a:rPr>
              <a:t>Example: Bachmann model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3" name="Grafik 3"/>
          <p:cNvPicPr/>
          <p:nvPr/>
        </p:nvPicPr>
        <p:blipFill>
          <a:blip r:embed="rId4"/>
          <a:stretch/>
        </p:blipFill>
        <p:spPr>
          <a:xfrm>
            <a:off x="7514280" y="2356920"/>
            <a:ext cx="6130800" cy="4203360"/>
          </a:xfrm>
          <a:prstGeom prst="rect">
            <a:avLst/>
          </a:prstGeom>
          <a:ln w="28575">
            <a:noFill/>
          </a:ln>
        </p:spPr>
      </p:pic>
      <p:grpSp>
        <p:nvGrpSpPr>
          <p:cNvPr id="154" name="Gruppieren 10"/>
          <p:cNvGrpSpPr/>
          <p:nvPr/>
        </p:nvGrpSpPr>
        <p:grpSpPr>
          <a:xfrm>
            <a:off x="7659360" y="6840720"/>
            <a:ext cx="13133520" cy="5658120"/>
            <a:chOff x="7659360" y="6840720"/>
            <a:chExt cx="13133520" cy="5658120"/>
          </a:xfrm>
        </p:grpSpPr>
        <p:pic>
          <p:nvPicPr>
            <p:cNvPr id="155" name="Grafik 6"/>
            <p:cNvPicPr/>
            <p:nvPr/>
          </p:nvPicPr>
          <p:blipFill>
            <a:blip r:embed="rId5"/>
            <a:stretch/>
          </p:blipFill>
          <p:spPr>
            <a:xfrm>
              <a:off x="7659360" y="6928560"/>
              <a:ext cx="6477840" cy="55702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6" name="Grafik 28"/>
            <p:cNvPicPr/>
            <p:nvPr/>
          </p:nvPicPr>
          <p:blipFill>
            <a:blip r:embed="rId6"/>
            <a:stretch/>
          </p:blipFill>
          <p:spPr>
            <a:xfrm>
              <a:off x="14315040" y="6840720"/>
              <a:ext cx="6477840" cy="384408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57" name="Rechteck 12"/>
          <p:cNvSpPr/>
          <p:nvPr/>
        </p:nvSpPr>
        <p:spPr>
          <a:xfrm>
            <a:off x="7471800" y="6799320"/>
            <a:ext cx="6665400" cy="5631840"/>
          </a:xfrm>
          <a:prstGeom prst="rect">
            <a:avLst/>
          </a:prstGeom>
          <a:noFill/>
          <a:ln w="28575">
            <a:solidFill>
              <a:srgbClr val="5B9BD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accent1"/>
              </a:solidFill>
              <a:latin typeface="Calibri"/>
              <a:ea typeface="Helvetica Neue Medium"/>
            </a:endParaRPr>
          </a:p>
        </p:txBody>
      </p:sp>
      <p:sp>
        <p:nvSpPr>
          <p:cNvPr id="158" name="Rechteck 30"/>
          <p:cNvSpPr/>
          <p:nvPr/>
        </p:nvSpPr>
        <p:spPr>
          <a:xfrm>
            <a:off x="14249520" y="6799320"/>
            <a:ext cx="3291480" cy="5631840"/>
          </a:xfrm>
          <a:prstGeom prst="rect">
            <a:avLst/>
          </a:prstGeom>
          <a:noFill/>
          <a:ln w="28575">
            <a:solidFill>
              <a:srgbClr val="ED7D3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accent1"/>
              </a:solidFill>
              <a:latin typeface="Calibri"/>
              <a:ea typeface="Helvetica Neue Medium"/>
            </a:endParaRPr>
          </a:p>
        </p:txBody>
      </p:sp>
      <p:sp>
        <p:nvSpPr>
          <p:cNvPr id="159" name="Rechteck 31"/>
          <p:cNvSpPr/>
          <p:nvPr/>
        </p:nvSpPr>
        <p:spPr>
          <a:xfrm>
            <a:off x="17678880" y="6799320"/>
            <a:ext cx="3283920" cy="5631840"/>
          </a:xfrm>
          <a:prstGeom prst="rect">
            <a:avLst/>
          </a:prstGeom>
          <a:noFill/>
          <a:ln w="28575">
            <a:solidFill>
              <a:srgbClr val="70AD4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accent1"/>
              </a:solidFill>
              <a:latin typeface="Calibri"/>
              <a:ea typeface="Helvetica Neue Medium"/>
            </a:endParaRPr>
          </a:p>
        </p:txBody>
      </p:sp>
      <p:sp>
        <p:nvSpPr>
          <p:cNvPr id="160" name="Rechteck 32"/>
          <p:cNvSpPr/>
          <p:nvPr/>
        </p:nvSpPr>
        <p:spPr>
          <a:xfrm>
            <a:off x="7337520" y="1813680"/>
            <a:ext cx="13766760" cy="10769760"/>
          </a:xfrm>
          <a:prstGeom prst="rect">
            <a:avLst/>
          </a:prstGeom>
          <a:noFill/>
          <a:ln w="285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de-DE" sz="1800" b="0" strike="noStrike" spc="-1">
              <a:solidFill>
                <a:schemeClr val="accent1"/>
              </a:solidFill>
              <a:latin typeface="Calibri"/>
              <a:ea typeface="Helvetica Neue Medium"/>
            </a:endParaRPr>
          </a:p>
        </p:txBody>
      </p:sp>
      <p:grpSp>
        <p:nvGrpSpPr>
          <p:cNvPr id="3" name="Gruppieren 2"/>
          <p:cNvGrpSpPr/>
          <p:nvPr/>
        </p:nvGrpSpPr>
        <p:grpSpPr>
          <a:xfrm>
            <a:off x="14153040" y="2823960"/>
            <a:ext cx="2824560" cy="3374640"/>
            <a:chOff x="14153040" y="2823960"/>
            <a:chExt cx="2824560" cy="3374640"/>
          </a:xfrm>
        </p:grpSpPr>
        <p:sp>
          <p:nvSpPr>
            <p:cNvPr id="168" name="Rechteck 40"/>
            <p:cNvSpPr/>
            <p:nvPr/>
          </p:nvSpPr>
          <p:spPr>
            <a:xfrm>
              <a:off x="14153040" y="2823960"/>
              <a:ext cx="251424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1" strike="noStrike" spc="-1" dirty="0">
                  <a:solidFill>
                    <a:srgbClr val="000000"/>
                  </a:solidFill>
                  <a:latin typeface="Calibri"/>
                  <a:ea typeface="Helvetica Neue Medium"/>
                </a:rPr>
                <a:t>42 </a:t>
              </a:r>
              <a:r>
                <a:rPr lang="en-US" sz="2000" b="1" strike="noStrike" spc="-1" dirty="0" smtClean="0">
                  <a:solidFill>
                    <a:srgbClr val="000000"/>
                  </a:solidFill>
                  <a:latin typeface="Calibri"/>
                  <a:ea typeface="Helvetica Neue Medium"/>
                </a:rPr>
                <a:t>datasets,</a:t>
              </a:r>
            </a:p>
            <a:p>
              <a:pPr algn="ctr" defTabSz="914400">
                <a:lnSpc>
                  <a:spcPct val="100000"/>
                </a:lnSpc>
              </a:pPr>
              <a:r>
                <a:rPr lang="en-US" sz="2000" b="1" strike="noStrike" spc="-1" dirty="0" smtClean="0">
                  <a:solidFill>
                    <a:srgbClr val="000000"/>
                  </a:solidFill>
                  <a:latin typeface="Calibri"/>
                  <a:ea typeface="Helvetica Neue Medium"/>
                </a:rPr>
                <a:t>23 exp. </a:t>
              </a:r>
              <a:r>
                <a:rPr lang="en-US" sz="2000" b="1" strike="noStrike" spc="-1" dirty="0">
                  <a:solidFill>
                    <a:srgbClr val="000000"/>
                  </a:solidFill>
                  <a:latin typeface="Calibri"/>
                  <a:ea typeface="Helvetica Neue Medium"/>
                </a:rPr>
                <a:t>conditions</a:t>
              </a:r>
              <a:endParaRPr lang="en-US" sz="2000" b="0" strike="noStrike" spc="-1" dirty="0">
                <a:solidFill>
                  <a:srgbClr val="000000"/>
                </a:solidFill>
                <a:latin typeface="Calibri"/>
              </a:endParaRPr>
            </a:p>
          </p:txBody>
        </p:sp>
        <p:grpSp>
          <p:nvGrpSpPr>
            <p:cNvPr id="2" name="Gruppieren 1"/>
            <p:cNvGrpSpPr/>
            <p:nvPr/>
          </p:nvGrpSpPr>
          <p:grpSpPr>
            <a:xfrm>
              <a:off x="14159880" y="3589680"/>
              <a:ext cx="2817720" cy="2608920"/>
              <a:chOff x="14159880" y="3589680"/>
              <a:chExt cx="2817720" cy="2608920"/>
            </a:xfrm>
          </p:grpSpPr>
          <p:sp>
            <p:nvSpPr>
              <p:cNvPr id="164" name="Rechteck 34"/>
              <p:cNvSpPr/>
              <p:nvPr/>
            </p:nvSpPr>
            <p:spPr>
              <a:xfrm>
                <a:off x="14464080" y="3975960"/>
                <a:ext cx="2513520" cy="222264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de-DE" sz="1800" b="0" strike="noStrike" spc="-1">
                  <a:solidFill>
                    <a:schemeClr val="lt1"/>
                  </a:solidFill>
                  <a:latin typeface="Calibri"/>
                  <a:ea typeface="Helvetica Neue Medium"/>
                </a:endParaRPr>
              </a:p>
            </p:txBody>
          </p:sp>
          <p:sp>
            <p:nvSpPr>
              <p:cNvPr id="165" name="Rechteck 35"/>
              <p:cNvSpPr/>
              <p:nvPr/>
            </p:nvSpPr>
            <p:spPr>
              <a:xfrm>
                <a:off x="14388120" y="3881640"/>
                <a:ext cx="2513520" cy="222264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de-DE" sz="1800" b="0" strike="noStrike" spc="-1">
                  <a:solidFill>
                    <a:schemeClr val="lt1"/>
                  </a:solidFill>
                  <a:latin typeface="Calibri"/>
                  <a:ea typeface="Helvetica Neue Medium"/>
                </a:endParaRPr>
              </a:p>
            </p:txBody>
          </p:sp>
          <p:sp>
            <p:nvSpPr>
              <p:cNvPr id="166" name="Rechteck 36"/>
              <p:cNvSpPr/>
              <p:nvPr/>
            </p:nvSpPr>
            <p:spPr>
              <a:xfrm>
                <a:off x="14312160" y="3787680"/>
                <a:ext cx="2513520" cy="222264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de-DE" sz="1800" b="0" strike="noStrike" spc="-1">
                  <a:solidFill>
                    <a:schemeClr val="lt1"/>
                  </a:solidFill>
                  <a:latin typeface="Calibri"/>
                  <a:ea typeface="Helvetica Neue Medium"/>
                </a:endParaRPr>
              </a:p>
            </p:txBody>
          </p:sp>
          <p:sp>
            <p:nvSpPr>
              <p:cNvPr id="167" name="Rechteck 37"/>
              <p:cNvSpPr/>
              <p:nvPr/>
            </p:nvSpPr>
            <p:spPr>
              <a:xfrm>
                <a:off x="14235840" y="3693360"/>
                <a:ext cx="2513520" cy="2222640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00000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de-DE" sz="1800" b="0" strike="noStrike" spc="-1">
                  <a:solidFill>
                    <a:schemeClr val="lt1"/>
                  </a:solidFill>
                  <a:latin typeface="Calibri"/>
                  <a:ea typeface="Helvetica Neue Medium"/>
                </a:endParaRPr>
              </a:p>
            </p:txBody>
          </p:sp>
          <p:pic>
            <p:nvPicPr>
              <p:cNvPr id="169" name="Grafik 42"/>
              <p:cNvPicPr/>
              <p:nvPr/>
            </p:nvPicPr>
            <p:blipFill>
              <a:blip r:embed="rId7"/>
              <a:stretch/>
            </p:blipFill>
            <p:spPr>
              <a:xfrm>
                <a:off x="14159880" y="3589680"/>
                <a:ext cx="2507040" cy="2224440"/>
              </a:xfrm>
              <a:prstGeom prst="rect">
                <a:avLst/>
              </a:prstGeom>
              <a:ln w="0">
                <a:solidFill>
                  <a:srgbClr val="000000"/>
                </a:solidFill>
              </a:ln>
            </p:spPr>
          </p:pic>
        </p:grpSp>
      </p:grpSp>
      <p:grpSp>
        <p:nvGrpSpPr>
          <p:cNvPr id="170" name="Gruppieren 2"/>
          <p:cNvGrpSpPr/>
          <p:nvPr/>
        </p:nvGrpSpPr>
        <p:grpSpPr>
          <a:xfrm>
            <a:off x="17261640" y="2534400"/>
            <a:ext cx="3680639" cy="3269241"/>
            <a:chOff x="17261640" y="2534400"/>
            <a:chExt cx="3680639" cy="3269241"/>
          </a:xfrm>
        </p:grpSpPr>
        <p:pic>
          <p:nvPicPr>
            <p:cNvPr id="171" name="Grafik 18"/>
            <p:cNvPicPr/>
            <p:nvPr/>
          </p:nvPicPr>
          <p:blipFill rotWithShape="1">
            <a:blip r:embed="rId8"/>
            <a:srcRect l="10829" b="14021"/>
            <a:stretch/>
          </p:blipFill>
          <p:spPr>
            <a:xfrm>
              <a:off x="17485566" y="2934360"/>
              <a:ext cx="3456713" cy="2869281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72" name="Rechteck 26"/>
            <p:cNvSpPr/>
            <p:nvPr/>
          </p:nvSpPr>
          <p:spPr>
            <a:xfrm>
              <a:off x="17261640" y="2534400"/>
              <a:ext cx="3485160" cy="65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b="1" strike="noStrike" spc="-1">
                  <a:solidFill>
                    <a:srgbClr val="000000"/>
                  </a:solidFill>
                  <a:latin typeface="Calibri"/>
                  <a:ea typeface="Helvetica Neue Medium"/>
                </a:rPr>
                <a:t>observable-condition structure</a:t>
              </a:r>
              <a:endParaRPr lang="en-US" sz="2000" b="0" strike="noStrike" spc="-1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173" name="Rechteck 26"/>
          <p:cNvSpPr/>
          <p:nvPr/>
        </p:nvSpPr>
        <p:spPr>
          <a:xfrm>
            <a:off x="17413920" y="5777386"/>
            <a:ext cx="3485160" cy="3672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1" spc="-1" dirty="0">
                <a:solidFill>
                  <a:srgbClr val="000000"/>
                </a:solidFill>
                <a:latin typeface="Calibri"/>
                <a:ea typeface="Helvetica Neue Medium"/>
              </a:rPr>
              <a:t>o</a:t>
            </a:r>
            <a:r>
              <a:rPr lang="en-US" sz="2000" b="1" spc="-1" dirty="0" smtClean="0">
                <a:solidFill>
                  <a:srgbClr val="000000"/>
                </a:solidFill>
                <a:latin typeface="Calibri"/>
                <a:ea typeface="Helvetica Neue Medium"/>
              </a:rPr>
              <a:t>bservable functions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4" name="Rechteck 26"/>
          <p:cNvSpPr/>
          <p:nvPr/>
        </p:nvSpPr>
        <p:spPr>
          <a:xfrm rot="16200000">
            <a:off x="15868440" y="4226040"/>
            <a:ext cx="2880360" cy="3337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1" strike="noStrike" spc="-1" dirty="0" smtClean="0">
                <a:solidFill>
                  <a:srgbClr val="000000"/>
                </a:solidFill>
                <a:latin typeface="Calibri"/>
                <a:ea typeface="Helvetica Neue Medium"/>
              </a:rPr>
              <a:t>exp</a:t>
            </a:r>
            <a:r>
              <a:rPr lang="en-US" sz="2000" b="1" strike="noStrike" spc="-1" dirty="0">
                <a:solidFill>
                  <a:srgbClr val="000000"/>
                </a:solidFill>
                <a:latin typeface="Calibri"/>
                <a:ea typeface="Helvetica Neue Medium"/>
              </a:rPr>
              <a:t>. </a:t>
            </a:r>
            <a:r>
              <a:rPr lang="en-US" sz="2000" b="1" strike="noStrike" spc="-1" dirty="0" smtClean="0">
                <a:solidFill>
                  <a:srgbClr val="000000"/>
                </a:solidFill>
                <a:latin typeface="Calibri"/>
                <a:ea typeface="Helvetica Neue Medium"/>
              </a:rPr>
              <a:t>conditions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6203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/>
          <p:cNvSpPr txBox="1"/>
          <p:nvPr/>
        </p:nvSpPr>
        <p:spPr>
          <a:xfrm>
            <a:off x="12048305" y="1621346"/>
            <a:ext cx="10578473" cy="110184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de-DE" sz="2800" b="1" dirty="0" err="1" smtClean="0"/>
              <a:t>Typical</a:t>
            </a:r>
            <a:r>
              <a:rPr lang="de-DE" sz="2800" b="1" dirty="0" smtClean="0"/>
              <a:t> </a:t>
            </a:r>
            <a:r>
              <a:rPr lang="de-DE" sz="2800" b="1" dirty="0" err="1" smtClean="0"/>
              <a:t>properties</a:t>
            </a:r>
            <a:r>
              <a:rPr lang="de-DE" sz="2800" b="1" dirty="0" smtClean="0"/>
              <a:t> </a:t>
            </a:r>
            <a:r>
              <a:rPr lang="de-DE" sz="2800" b="1" dirty="0" err="1" smtClean="0"/>
              <a:t>of</a:t>
            </a:r>
            <a:r>
              <a:rPr lang="de-DE" sz="2800" b="1" dirty="0" smtClean="0"/>
              <a:t> </a:t>
            </a:r>
            <a:r>
              <a:rPr lang="de-DE" sz="2800" b="1" dirty="0" err="1" smtClean="0"/>
              <a:t>the</a:t>
            </a:r>
            <a:r>
              <a:rPr lang="de-DE" sz="2800" b="1" dirty="0" smtClean="0"/>
              <a:t> </a:t>
            </a:r>
            <a:r>
              <a:rPr lang="de-DE" sz="2800" b="1" dirty="0" err="1" smtClean="0"/>
              <a:t>parameter</a:t>
            </a:r>
            <a:r>
              <a:rPr lang="de-DE" sz="2800" b="1" dirty="0" smtClean="0"/>
              <a:t> </a:t>
            </a:r>
            <a:r>
              <a:rPr lang="de-DE" sz="2800" b="1" dirty="0" err="1" smtClean="0"/>
              <a:t>estimation</a:t>
            </a:r>
            <a:r>
              <a:rPr lang="de-DE" sz="2800" b="1" dirty="0" smtClean="0"/>
              <a:t> </a:t>
            </a:r>
            <a:r>
              <a:rPr lang="de-DE" sz="2800" b="1" dirty="0" err="1" smtClean="0"/>
              <a:t>problems</a:t>
            </a:r>
            <a:r>
              <a:rPr lang="de-DE" sz="2800" b="1" dirty="0" smtClean="0"/>
              <a:t>: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800" dirty="0" smtClean="0"/>
              <a:t>Time-</a:t>
            </a:r>
            <a:r>
              <a:rPr lang="de-DE" sz="2800" dirty="0" err="1" smtClean="0"/>
              <a:t>course</a:t>
            </a:r>
            <a:r>
              <a:rPr lang="de-DE" sz="2800" dirty="0" smtClean="0"/>
              <a:t> </a:t>
            </a:r>
            <a:r>
              <a:rPr lang="de-DE" sz="2800" dirty="0" err="1" smtClean="0"/>
              <a:t>data</a:t>
            </a:r>
            <a:endParaRPr lang="de-DE" sz="2800" dirty="0"/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800" dirty="0"/>
              <a:t>M</a:t>
            </a:r>
            <a:r>
              <a:rPr lang="de-DE" sz="2800" dirty="0" smtClean="0"/>
              <a:t>ultiple observables</a:t>
            </a:r>
            <a:br>
              <a:rPr lang="de-DE" sz="2800" dirty="0" smtClean="0"/>
            </a:br>
            <a:r>
              <a:rPr lang="de-DE" sz="2800" dirty="0" smtClean="0"/>
              <a:t>(e.g. pJAK2, tSTAT5, pSTAT5+npSTAT5, </a:t>
            </a:r>
            <a:r>
              <a:rPr lang="de-DE" sz="2800" dirty="0" err="1" smtClean="0"/>
              <a:t>combinations</a:t>
            </a:r>
            <a:r>
              <a:rPr lang="de-DE" sz="2800" dirty="0" smtClean="0"/>
              <a:t> …)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800" dirty="0" smtClean="0"/>
              <a:t>Multiple </a:t>
            </a:r>
            <a:r>
              <a:rPr lang="de-DE" sz="2800" dirty="0" err="1" smtClean="0"/>
              <a:t>measurement</a:t>
            </a:r>
            <a:r>
              <a:rPr lang="de-DE" sz="2800" dirty="0" smtClean="0"/>
              <a:t> </a:t>
            </a:r>
            <a:r>
              <a:rPr lang="de-DE" sz="2800" dirty="0" err="1" smtClean="0"/>
              <a:t>techniques</a:t>
            </a:r>
            <a:r>
              <a:rPr lang="de-DE" sz="2800" dirty="0"/>
              <a:t/>
            </a:r>
            <a:br>
              <a:rPr lang="de-DE" sz="2800" dirty="0"/>
            </a:br>
            <a:r>
              <a:rPr lang="de-DE" sz="2800" dirty="0" smtClean="0"/>
              <a:t>(e.g. </a:t>
            </a:r>
            <a:r>
              <a:rPr lang="de-DE" sz="2800" dirty="0" err="1" smtClean="0"/>
              <a:t>immunoblotting</a:t>
            </a:r>
            <a:r>
              <a:rPr lang="de-DE" sz="2800" dirty="0" smtClean="0"/>
              <a:t>, </a:t>
            </a:r>
            <a:r>
              <a:rPr lang="de-DE" sz="2800" dirty="0" err="1" smtClean="0"/>
              <a:t>mass</a:t>
            </a:r>
            <a:r>
              <a:rPr lang="de-DE" sz="2800" dirty="0" smtClean="0"/>
              <a:t> </a:t>
            </a:r>
            <a:r>
              <a:rPr lang="de-DE" sz="2800" dirty="0" err="1" smtClean="0"/>
              <a:t>spectronomy</a:t>
            </a:r>
            <a:r>
              <a:rPr lang="de-DE" sz="2800" dirty="0" smtClean="0"/>
              <a:t>, </a:t>
            </a:r>
            <a:r>
              <a:rPr lang="de-DE" sz="2800" dirty="0" err="1" smtClean="0"/>
              <a:t>flouresence</a:t>
            </a:r>
            <a:r>
              <a:rPr lang="de-DE" sz="2800" dirty="0"/>
              <a:t> </a:t>
            </a:r>
            <a:r>
              <a:rPr lang="de-DE" sz="2800" dirty="0" smtClean="0"/>
              <a:t>…)</a:t>
            </a: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2800" dirty="0" smtClean="0"/>
              <a:t>Multiple experimental </a:t>
            </a:r>
            <a:r>
              <a:rPr lang="de-DE" sz="2800" dirty="0" err="1" smtClean="0"/>
              <a:t>conditions</a:t>
            </a:r>
            <a:r>
              <a:rPr lang="de-DE" sz="2800" dirty="0"/>
              <a:t/>
            </a:r>
            <a:br>
              <a:rPr lang="de-DE" sz="2800" dirty="0"/>
            </a:br>
            <a:r>
              <a:rPr lang="de-DE" sz="2800" dirty="0" smtClean="0"/>
              <a:t>(e.g. </a:t>
            </a:r>
            <a:r>
              <a:rPr lang="de-DE" sz="2800" dirty="0" err="1" smtClean="0"/>
              <a:t>wildtype</a:t>
            </a:r>
            <a:r>
              <a:rPr lang="de-DE" sz="2800" dirty="0" smtClean="0"/>
              <a:t> </a:t>
            </a:r>
            <a:r>
              <a:rPr lang="de-DE" sz="2800" dirty="0" err="1" smtClean="0"/>
              <a:t>vs</a:t>
            </a:r>
            <a:r>
              <a:rPr lang="de-DE" sz="2800" dirty="0" smtClean="0"/>
              <a:t> knock-out, </a:t>
            </a:r>
            <a:r>
              <a:rPr lang="de-DE" sz="2800" dirty="0" err="1" smtClean="0"/>
              <a:t>stimuli</a:t>
            </a:r>
            <a:r>
              <a:rPr lang="de-DE" sz="2800" dirty="0" smtClean="0"/>
              <a:t> </a:t>
            </a:r>
            <a:r>
              <a:rPr lang="de-DE" sz="2800" dirty="0" err="1" smtClean="0"/>
              <a:t>of</a:t>
            </a:r>
            <a:r>
              <a:rPr lang="de-DE" sz="2800" dirty="0" smtClean="0"/>
              <a:t> different </a:t>
            </a:r>
            <a:r>
              <a:rPr lang="de-DE" sz="2800" dirty="0" err="1" smtClean="0"/>
              <a:t>dosis</a:t>
            </a:r>
            <a:r>
              <a:rPr lang="de-DE" sz="2800" dirty="0" smtClean="0"/>
              <a:t>/type, …)</a:t>
            </a:r>
          </a:p>
          <a:p>
            <a:pPr>
              <a:spcBef>
                <a:spcPts val="1200"/>
              </a:spcBef>
            </a:pPr>
            <a:endParaRPr lang="de-DE" sz="2800" b="1" dirty="0" smtClean="0">
              <a:sym typeface="Wingdings" panose="05000000000000000000" pitchFamily="2" charset="2"/>
            </a:endParaRPr>
          </a:p>
          <a:p>
            <a:pPr>
              <a:spcBef>
                <a:spcPts val="1200"/>
              </a:spcBef>
            </a:pPr>
            <a:r>
              <a:rPr lang="de-DE" sz="2800" b="1" dirty="0" smtClean="0">
                <a:sym typeface="Wingdings" panose="05000000000000000000" pitchFamily="2" charset="2"/>
              </a:rPr>
              <a:t></a:t>
            </a:r>
            <a:r>
              <a:rPr lang="de-DE" sz="2800" b="1" dirty="0" smtClean="0"/>
              <a:t> </a:t>
            </a:r>
            <a:r>
              <a:rPr lang="de-DE" sz="2800" b="1" dirty="0" err="1"/>
              <a:t>There</a:t>
            </a:r>
            <a:r>
              <a:rPr lang="de-DE" sz="2800" b="1" dirty="0"/>
              <a:t> </a:t>
            </a:r>
            <a:r>
              <a:rPr lang="de-DE" sz="2800" b="1" dirty="0" err="1"/>
              <a:t>is</a:t>
            </a:r>
            <a:r>
              <a:rPr lang="de-DE" sz="2800" b="1" dirty="0"/>
              <a:t> a </a:t>
            </a:r>
            <a:r>
              <a:rPr lang="de-DE" sz="2800" b="1" dirty="0" err="1"/>
              <a:t>typical</a:t>
            </a:r>
            <a:r>
              <a:rPr lang="de-DE" sz="2800" b="1" dirty="0"/>
              <a:t> </a:t>
            </a:r>
            <a:r>
              <a:rPr lang="de-DE" sz="2800" b="1" dirty="0" err="1"/>
              <a:t>structure</a:t>
            </a:r>
            <a:r>
              <a:rPr lang="de-DE" sz="2800" b="1" dirty="0"/>
              <a:t> in </a:t>
            </a:r>
            <a:r>
              <a:rPr lang="de-DE" sz="2800" b="1" dirty="0" err="1"/>
              <a:t>the</a:t>
            </a:r>
            <a:r>
              <a:rPr lang="de-DE" sz="2800" b="1" dirty="0"/>
              <a:t> </a:t>
            </a:r>
            <a:r>
              <a:rPr lang="de-DE" sz="2800" b="1" dirty="0" err="1"/>
              <a:t>data</a:t>
            </a:r>
            <a:r>
              <a:rPr lang="de-DE" sz="2800" b="1" dirty="0"/>
              <a:t>.</a:t>
            </a:r>
            <a:endParaRPr lang="de-DE" sz="2800" dirty="0" smtClean="0"/>
          </a:p>
          <a:p>
            <a:pPr>
              <a:spcBef>
                <a:spcPts val="1200"/>
              </a:spcBef>
            </a:pPr>
            <a:endParaRPr lang="de-DE" sz="2800" dirty="0" smtClean="0"/>
          </a:p>
          <a:p>
            <a:pPr>
              <a:spcBef>
                <a:spcPts val="1200"/>
              </a:spcBef>
            </a:pPr>
            <a:endParaRPr lang="de-DE" sz="2800" dirty="0"/>
          </a:p>
          <a:p>
            <a:pPr>
              <a:spcBef>
                <a:spcPts val="1200"/>
              </a:spcBef>
            </a:pPr>
            <a:endParaRPr lang="de-DE" sz="2800" dirty="0" smtClean="0"/>
          </a:p>
          <a:p>
            <a:pPr>
              <a:spcBef>
                <a:spcPts val="1200"/>
              </a:spcBef>
            </a:pPr>
            <a:endParaRPr lang="de-DE" sz="2800" dirty="0"/>
          </a:p>
          <a:p>
            <a:pPr>
              <a:spcBef>
                <a:spcPts val="1200"/>
              </a:spcBef>
            </a:pPr>
            <a:endParaRPr lang="de-DE" sz="2800" dirty="0" smtClean="0"/>
          </a:p>
          <a:p>
            <a:pPr>
              <a:spcBef>
                <a:spcPts val="1200"/>
              </a:spcBef>
            </a:pPr>
            <a:endParaRPr lang="de-DE" sz="2800" dirty="0"/>
          </a:p>
          <a:p>
            <a:pPr>
              <a:spcBef>
                <a:spcPts val="1200"/>
              </a:spcBef>
            </a:pPr>
            <a:endParaRPr lang="de-DE" sz="2800" dirty="0" smtClean="0"/>
          </a:p>
          <a:p>
            <a:pPr>
              <a:spcBef>
                <a:spcPts val="1200"/>
              </a:spcBef>
            </a:pPr>
            <a:endParaRPr lang="de-DE" sz="2800" dirty="0"/>
          </a:p>
          <a:p>
            <a:pPr>
              <a:spcBef>
                <a:spcPts val="1200"/>
              </a:spcBef>
            </a:pPr>
            <a:r>
              <a:rPr lang="de-DE" sz="2800" b="1" dirty="0" smtClean="0"/>
              <a:t/>
            </a:r>
            <a:br>
              <a:rPr lang="de-DE" sz="2800" b="1" dirty="0" smtClean="0"/>
            </a:br>
            <a:r>
              <a:rPr lang="de-DE" sz="2800" b="1" dirty="0" smtClean="0">
                <a:sym typeface="Wingdings" panose="05000000000000000000" pitchFamily="2" charset="2"/>
              </a:rPr>
              <a:t> </a:t>
            </a:r>
            <a:r>
              <a:rPr lang="de-DE" sz="2800" b="1" dirty="0" err="1" smtClean="0"/>
              <a:t>We</a:t>
            </a:r>
            <a:r>
              <a:rPr lang="de-DE" sz="2800" b="1" dirty="0" smtClean="0"/>
              <a:t> </a:t>
            </a:r>
            <a:r>
              <a:rPr lang="de-DE" sz="2800" b="1" dirty="0" err="1" smtClean="0"/>
              <a:t>have</a:t>
            </a:r>
            <a:r>
              <a:rPr lang="de-DE" sz="2800" b="1" dirty="0" smtClean="0"/>
              <a:t> </a:t>
            </a:r>
            <a:r>
              <a:rPr lang="de-DE" sz="2800" b="1" dirty="0" err="1" smtClean="0"/>
              <a:t>to</a:t>
            </a:r>
            <a:r>
              <a:rPr lang="de-DE" sz="2800" b="1" dirty="0" smtClean="0"/>
              <a:t> </a:t>
            </a:r>
            <a:r>
              <a:rPr lang="de-DE" sz="2800" b="1" dirty="0" err="1" smtClean="0"/>
              <a:t>mimic</a:t>
            </a:r>
            <a:r>
              <a:rPr lang="de-DE" sz="2800" b="1" dirty="0" smtClean="0"/>
              <a:t> </a:t>
            </a:r>
            <a:r>
              <a:rPr lang="de-DE" sz="2800" b="1" dirty="0" err="1" smtClean="0"/>
              <a:t>this</a:t>
            </a:r>
            <a:r>
              <a:rPr lang="de-DE" sz="2800" b="1" dirty="0" smtClean="0"/>
              <a:t> </a:t>
            </a:r>
            <a:r>
              <a:rPr lang="de-DE" sz="2800" b="1" dirty="0" err="1" smtClean="0"/>
              <a:t>structure</a:t>
            </a:r>
            <a:r>
              <a:rPr lang="de-DE" sz="2800" b="1" dirty="0" smtClean="0"/>
              <a:t> in a </a:t>
            </a:r>
            <a:r>
              <a:rPr lang="de-DE" sz="2800" b="1" dirty="0" err="1" smtClean="0"/>
              <a:t>realistic</a:t>
            </a:r>
            <a:r>
              <a:rPr lang="de-DE" sz="2800" b="1" dirty="0" smtClean="0"/>
              <a:t> </a:t>
            </a:r>
            <a:r>
              <a:rPr lang="de-DE" sz="2800" b="1" dirty="0" err="1" smtClean="0"/>
              <a:t>way</a:t>
            </a:r>
            <a:r>
              <a:rPr lang="de-DE" sz="2800" b="1" dirty="0" smtClean="0"/>
              <a:t>.</a:t>
            </a:r>
          </a:p>
        </p:txBody>
      </p:sp>
      <p:sp>
        <p:nvSpPr>
          <p:cNvPr id="20" name="Foliennummernplatzhalt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1BFDFA1-13E1-47F7-AAEB-46EC02612569}" type="slidenum">
              <a:rPr lang="de-DE" smtClean="0"/>
              <a:t>16</a:t>
            </a:fld>
            <a:endParaRPr lang="de-DE" dirty="0"/>
          </a:p>
        </p:txBody>
      </p:sp>
      <p:sp>
        <p:nvSpPr>
          <p:cNvPr id="146" name="PlaceHolder 1"/>
          <p:cNvSpPr>
            <a:spLocks noGrp="1"/>
          </p:cNvSpPr>
          <p:nvPr>
            <p:ph idx="4294967295"/>
          </p:nvPr>
        </p:nvSpPr>
        <p:spPr>
          <a:xfrm>
            <a:off x="0" y="322263"/>
            <a:ext cx="20808950" cy="984250"/>
          </a:xfrm>
          <a:prstGeom prst="rect">
            <a:avLst/>
          </a:prstGeom>
          <a:noFill/>
          <a:ln w="0">
            <a:noFill/>
          </a:ln>
        </p:spPr>
        <p:txBody>
          <a:bodyPr lIns="71280" tIns="71280" rIns="71280" bIns="71280" anchor="t">
            <a:noAutofit/>
          </a:bodyPr>
          <a:lstStyle/>
          <a:p>
            <a:pPr marL="228600"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5000" b="0" strike="noStrike" spc="-1" dirty="0" smtClean="0">
                <a:solidFill>
                  <a:srgbClr val="000000"/>
                </a:solidFill>
                <a:latin typeface="Impact"/>
                <a:ea typeface="Microsoft YaHei"/>
              </a:rPr>
              <a:t>Example Problem: Bachmann Model</a:t>
            </a:r>
            <a:endParaRPr lang="de-DE" sz="5000" b="0" strike="noStrike" spc="-1" dirty="0">
              <a:solidFill>
                <a:schemeClr val="dk1"/>
              </a:solidFill>
              <a:latin typeface="Helvetica Neue Medium"/>
            </a:endParaRPr>
          </a:p>
        </p:txBody>
      </p:sp>
      <p:sp>
        <p:nvSpPr>
          <p:cNvPr id="151" name="Rechteck 125"/>
          <p:cNvSpPr/>
          <p:nvPr/>
        </p:nvSpPr>
        <p:spPr>
          <a:xfrm>
            <a:off x="10194120" y="5553360"/>
            <a:ext cx="2876760" cy="45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latin typeface="Calibri"/>
              <a:ea typeface="Helvetica Neue Medium"/>
            </a:endParaRPr>
          </a:p>
        </p:txBody>
      </p:sp>
      <p:pic>
        <p:nvPicPr>
          <p:cNvPr id="153" name="Grafik 3"/>
          <p:cNvPicPr/>
          <p:nvPr/>
        </p:nvPicPr>
        <p:blipFill>
          <a:blip r:embed="rId3"/>
          <a:stretch/>
        </p:blipFill>
        <p:spPr>
          <a:xfrm>
            <a:off x="1247465" y="1621346"/>
            <a:ext cx="10445237" cy="560163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pSp>
        <p:nvGrpSpPr>
          <p:cNvPr id="6" name="Gruppieren 5"/>
          <p:cNvGrpSpPr/>
          <p:nvPr/>
        </p:nvGrpSpPr>
        <p:grpSpPr>
          <a:xfrm>
            <a:off x="1247466" y="7330958"/>
            <a:ext cx="10445237" cy="5699520"/>
            <a:chOff x="12604128" y="1884863"/>
            <a:chExt cx="10445237" cy="5699520"/>
          </a:xfrm>
        </p:grpSpPr>
        <p:grpSp>
          <p:nvGrpSpPr>
            <p:cNvPr id="154" name="Gruppieren 10"/>
            <p:cNvGrpSpPr/>
            <p:nvPr/>
          </p:nvGrpSpPr>
          <p:grpSpPr>
            <a:xfrm>
              <a:off x="12713226" y="1926263"/>
              <a:ext cx="10161278" cy="5658120"/>
              <a:chOff x="10917739" y="6840720"/>
              <a:chExt cx="9875141" cy="5658120"/>
            </a:xfrm>
          </p:grpSpPr>
          <p:pic>
            <p:nvPicPr>
              <p:cNvPr id="155" name="Grafik 6"/>
              <p:cNvPicPr/>
              <p:nvPr/>
            </p:nvPicPr>
            <p:blipFill rotWithShape="1">
              <a:blip r:embed="rId4"/>
              <a:srcRect r="50203"/>
              <a:stretch/>
            </p:blipFill>
            <p:spPr>
              <a:xfrm>
                <a:off x="10917739" y="6928560"/>
                <a:ext cx="3225768" cy="5570280"/>
              </a:xfrm>
              <a:prstGeom prst="rect">
                <a:avLst/>
              </a:prstGeom>
              <a:ln w="0">
                <a:noFill/>
              </a:ln>
            </p:spPr>
          </p:pic>
          <p:pic>
            <p:nvPicPr>
              <p:cNvPr id="156" name="Grafik 28"/>
              <p:cNvPicPr/>
              <p:nvPr/>
            </p:nvPicPr>
            <p:blipFill>
              <a:blip r:embed="rId5"/>
              <a:stretch/>
            </p:blipFill>
            <p:spPr>
              <a:xfrm>
                <a:off x="14315040" y="6840720"/>
                <a:ext cx="6477840" cy="3844080"/>
              </a:xfrm>
              <a:prstGeom prst="rect">
                <a:avLst/>
              </a:prstGeom>
              <a:ln w="0">
                <a:noFill/>
              </a:ln>
            </p:spPr>
          </p:pic>
        </p:grpSp>
        <p:sp>
          <p:nvSpPr>
            <p:cNvPr id="157" name="Rechteck 12"/>
            <p:cNvSpPr/>
            <p:nvPr/>
          </p:nvSpPr>
          <p:spPr>
            <a:xfrm>
              <a:off x="12604128" y="1884863"/>
              <a:ext cx="3421855" cy="5631840"/>
            </a:xfrm>
            <a:prstGeom prst="rect">
              <a:avLst/>
            </a:prstGeom>
            <a:noFill/>
            <a:ln w="28575">
              <a:solidFill>
                <a:srgbClr val="5B9BD5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de-DE" sz="1800" b="0" strike="noStrike" spc="-1">
                <a:solidFill>
                  <a:schemeClr val="accent1"/>
                </a:solidFill>
                <a:latin typeface="Calibri"/>
                <a:ea typeface="Helvetica Neue Medium"/>
              </a:endParaRPr>
            </a:p>
          </p:txBody>
        </p:sp>
        <p:sp>
          <p:nvSpPr>
            <p:cNvPr id="158" name="Rechteck 30"/>
            <p:cNvSpPr/>
            <p:nvPr/>
          </p:nvSpPr>
          <p:spPr>
            <a:xfrm>
              <a:off x="16141559" y="1884863"/>
              <a:ext cx="3386855" cy="5631840"/>
            </a:xfrm>
            <a:prstGeom prst="rect">
              <a:avLst/>
            </a:prstGeom>
            <a:noFill/>
            <a:ln w="28575">
              <a:solidFill>
                <a:srgbClr val="ED7D3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de-DE" sz="1800" b="0" strike="noStrike" spc="-1">
                <a:solidFill>
                  <a:schemeClr val="accent1"/>
                </a:solidFill>
                <a:latin typeface="Calibri"/>
                <a:ea typeface="Helvetica Neue Medium"/>
              </a:endParaRPr>
            </a:p>
          </p:txBody>
        </p:sp>
        <p:sp>
          <p:nvSpPr>
            <p:cNvPr id="159" name="Rechteck 31"/>
            <p:cNvSpPr/>
            <p:nvPr/>
          </p:nvSpPr>
          <p:spPr>
            <a:xfrm>
              <a:off x="19670289" y="1884863"/>
              <a:ext cx="3379076" cy="5631840"/>
            </a:xfrm>
            <a:prstGeom prst="rect">
              <a:avLst/>
            </a:prstGeom>
            <a:noFill/>
            <a:ln w="28575">
              <a:solidFill>
                <a:srgbClr val="70AD4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de-DE" sz="1800" b="0" strike="noStrike" spc="-1">
                <a:solidFill>
                  <a:schemeClr val="accent1"/>
                </a:solidFill>
                <a:latin typeface="Calibri"/>
                <a:ea typeface="Helvetica Neue Medium"/>
              </a:endParaRPr>
            </a:p>
          </p:txBody>
        </p:sp>
      </p:grpSp>
      <p:grpSp>
        <p:nvGrpSpPr>
          <p:cNvPr id="8" name="Gruppieren 7"/>
          <p:cNvGrpSpPr/>
          <p:nvPr/>
        </p:nvGrpSpPr>
        <p:grpSpPr>
          <a:xfrm>
            <a:off x="13008608" y="7061343"/>
            <a:ext cx="5254513" cy="4805112"/>
            <a:chOff x="19133869" y="9688249"/>
            <a:chExt cx="5254513" cy="4805112"/>
          </a:xfrm>
        </p:grpSpPr>
        <p:grpSp>
          <p:nvGrpSpPr>
            <p:cNvPr id="170" name="Gruppieren 2"/>
            <p:cNvGrpSpPr/>
            <p:nvPr/>
          </p:nvGrpSpPr>
          <p:grpSpPr>
            <a:xfrm>
              <a:off x="19261192" y="9688249"/>
              <a:ext cx="5127190" cy="4437905"/>
              <a:chOff x="17261640" y="2603616"/>
              <a:chExt cx="3680639" cy="3071327"/>
            </a:xfrm>
          </p:grpSpPr>
          <p:pic>
            <p:nvPicPr>
              <p:cNvPr id="171" name="Grafik 18"/>
              <p:cNvPicPr/>
              <p:nvPr/>
            </p:nvPicPr>
            <p:blipFill rotWithShape="1">
              <a:blip r:embed="rId6"/>
              <a:srcRect l="11431" b="13952"/>
              <a:stretch/>
            </p:blipFill>
            <p:spPr>
              <a:xfrm>
                <a:off x="17508926" y="2934360"/>
                <a:ext cx="3433353" cy="2740583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72" name="Rechteck 26"/>
              <p:cNvSpPr/>
              <p:nvPr/>
            </p:nvSpPr>
            <p:spPr>
              <a:xfrm>
                <a:off x="17261640" y="2603616"/>
                <a:ext cx="3485160" cy="650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2400" b="1" strike="noStrike" spc="-1" dirty="0">
                    <a:solidFill>
                      <a:srgbClr val="000000"/>
                    </a:solidFill>
                    <a:latin typeface="Calibri"/>
                    <a:ea typeface="Helvetica Neue Medium"/>
                  </a:rPr>
                  <a:t>observable-condition structure</a:t>
                </a:r>
                <a:endParaRPr lang="en-US" sz="2400" b="0" strike="noStrike" spc="-1" dirty="0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sp>
          <p:nvSpPr>
            <p:cNvPr id="173" name="Rechteck 26"/>
            <p:cNvSpPr/>
            <p:nvPr/>
          </p:nvSpPr>
          <p:spPr>
            <a:xfrm>
              <a:off x="20045990" y="14126161"/>
              <a:ext cx="3485160" cy="36720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spc="-1" dirty="0">
                  <a:solidFill>
                    <a:srgbClr val="000000"/>
                  </a:solidFill>
                  <a:latin typeface="Calibri"/>
                  <a:ea typeface="Helvetica Neue Medium"/>
                </a:rPr>
                <a:t>g</a:t>
              </a:r>
              <a:r>
                <a:rPr lang="en-US" sz="2000" strike="noStrike" spc="-1" dirty="0" smtClean="0">
                  <a:solidFill>
                    <a:srgbClr val="000000"/>
                  </a:solidFill>
                  <a:latin typeface="Calibri"/>
                  <a:ea typeface="Helvetica Neue Medium"/>
                </a:rPr>
                <a:t>rouped observables</a:t>
              </a:r>
              <a:endParaRPr lang="en-US" sz="2000" strike="noStrike" spc="-1" dirty="0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4" name="Rechteck 26"/>
            <p:cNvSpPr/>
            <p:nvPr/>
          </p:nvSpPr>
          <p:spPr>
            <a:xfrm rot="16200000">
              <a:off x="17860549" y="11995384"/>
              <a:ext cx="2880360" cy="333720"/>
            </a:xfrm>
            <a:prstGeom prst="rect">
              <a:avLst/>
            </a:prstGeom>
            <a:solidFill>
              <a:schemeClr val="bg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2000" strike="noStrike" spc="-1" dirty="0" smtClean="0">
                  <a:solidFill>
                    <a:srgbClr val="000000"/>
                  </a:solidFill>
                  <a:latin typeface="Calibri"/>
                  <a:ea typeface="Helvetica Neue Medium"/>
                </a:rPr>
                <a:t>exp</a:t>
              </a:r>
              <a:r>
                <a:rPr lang="en-US" sz="2000" strike="noStrike" spc="-1" dirty="0">
                  <a:solidFill>
                    <a:srgbClr val="000000"/>
                  </a:solidFill>
                  <a:latin typeface="Calibri"/>
                  <a:ea typeface="Helvetica Neue Medium"/>
                </a:rPr>
                <a:t>. condition</a:t>
              </a:r>
              <a:endParaRPr lang="en-US" sz="2000" strike="noStrike" spc="-1" dirty="0">
                <a:solidFill>
                  <a:srgbClr val="000000"/>
                </a:solidFill>
                <a:latin typeface="Calibri"/>
              </a:endParaRPr>
            </a:p>
          </p:txBody>
        </p:sp>
      </p:grpSp>
      <p:sp>
        <p:nvSpPr>
          <p:cNvPr id="9" name="Textfeld 8"/>
          <p:cNvSpPr txBox="1"/>
          <p:nvPr/>
        </p:nvSpPr>
        <p:spPr>
          <a:xfrm>
            <a:off x="17992458" y="7545193"/>
            <a:ext cx="36487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i="1" dirty="0" smtClean="0"/>
              <a:t>„</a:t>
            </a:r>
            <a:r>
              <a:rPr lang="de-DE" sz="2000" i="1" dirty="0" err="1" smtClean="0"/>
              <a:t>Which</a:t>
            </a:r>
            <a:r>
              <a:rPr lang="de-DE" sz="2000" i="1" dirty="0" smtClean="0"/>
              <a:t> observables </a:t>
            </a:r>
            <a:r>
              <a:rPr lang="de-DE" sz="2000" i="1" dirty="0" err="1" smtClean="0"/>
              <a:t>are</a:t>
            </a:r>
            <a:r>
              <a:rPr lang="de-DE" sz="2000" i="1" dirty="0"/>
              <a:t/>
            </a:r>
            <a:br>
              <a:rPr lang="de-DE" sz="2000" i="1" dirty="0"/>
            </a:br>
            <a:r>
              <a:rPr lang="de-DE" sz="2000" i="1" dirty="0" err="1" smtClean="0"/>
              <a:t>measured</a:t>
            </a:r>
            <a:r>
              <a:rPr lang="de-DE" sz="2000" i="1" dirty="0" smtClean="0"/>
              <a:t> in </a:t>
            </a:r>
            <a:r>
              <a:rPr lang="de-DE" sz="2000" i="1" dirty="0" err="1" smtClean="0"/>
              <a:t>which</a:t>
            </a:r>
            <a:r>
              <a:rPr lang="de-DE" sz="2000" i="1" dirty="0" smtClean="0"/>
              <a:t> </a:t>
            </a:r>
            <a:r>
              <a:rPr lang="de-DE" sz="2000" i="1" dirty="0" err="1" smtClean="0"/>
              <a:t>condition</a:t>
            </a:r>
            <a:r>
              <a:rPr lang="de-DE" sz="2000" i="1" dirty="0" smtClean="0"/>
              <a:t>?“</a:t>
            </a:r>
            <a:endParaRPr lang="de-DE" sz="2000" i="1" dirty="0"/>
          </a:p>
        </p:txBody>
      </p:sp>
    </p:spTree>
    <p:extLst>
      <p:ext uri="{BB962C8B-B14F-4D97-AF65-F5344CB8AC3E}">
        <p14:creationId xmlns:p14="http://schemas.microsoft.com/office/powerpoint/2010/main" val="2323260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1462</Words>
  <Application>Microsoft Office PowerPoint</Application>
  <PresentationFormat>Benutzerdefiniert</PresentationFormat>
  <Paragraphs>255</Paragraphs>
  <Slides>16</Slides>
  <Notes>7</Notes>
  <HiddenSlides>5</HiddenSlides>
  <MMClips>0</MMClips>
  <ScaleCrop>false</ScaleCrop>
  <HeadingPairs>
    <vt:vector size="6" baseType="variant">
      <vt:variant>
        <vt:lpstr>Verwendete Schriftarten</vt:lpstr>
      </vt:variant>
      <vt:variant>
        <vt:i4>13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30" baseType="lpstr">
      <vt:lpstr>Microsoft YaHei</vt:lpstr>
      <vt:lpstr>Agency FB</vt:lpstr>
      <vt:lpstr>Arial</vt:lpstr>
      <vt:lpstr>Calibri</vt:lpstr>
      <vt:lpstr>Cambria</vt:lpstr>
      <vt:lpstr>Cambria Math</vt:lpstr>
      <vt:lpstr>DejaVu Sans</vt:lpstr>
      <vt:lpstr>Helvetica Neue Medium</vt:lpstr>
      <vt:lpstr>Impact</vt:lpstr>
      <vt:lpstr>Segoe UI</vt:lpstr>
      <vt:lpstr>Symbol</vt:lpstr>
      <vt:lpstr>Times New Roman</vt:lpstr>
      <vt:lpstr>Wingdings</vt:lpstr>
      <vt:lpstr>White</vt:lpstr>
      <vt:lpstr>Generating Realistic Synthetic Data for ODE Models of Signaling Pathways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C03: Reducing parameter optimization uncertainties of dynamic models by meta learning</dc:title>
  <dc:subject/>
  <dc:creator/>
  <dc:description/>
  <cp:lastModifiedBy>Niklas Neubrand</cp:lastModifiedBy>
  <cp:revision>412</cp:revision>
  <dcterms:modified xsi:type="dcterms:W3CDTF">2024-06-18T16:16:37Z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Benutzerdefiniert</vt:lpwstr>
  </property>
  <property fmtid="{D5CDD505-2E9C-101B-9397-08002B2CF9AE}" pid="4" name="Slides">
    <vt:i4>19</vt:i4>
  </property>
</Properties>
</file>